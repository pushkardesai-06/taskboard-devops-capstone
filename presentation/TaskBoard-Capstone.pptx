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4d88514-3934-5b69-533e-26ab67eb8d86}">
          <p14:sldIdLst>
            <p14:sldId id="256"/>
            <p14:sldId id="257"/>
          </p14:sldIdLst>
        </p14:section>
        <p14:section name="The application" id="{f2d18558-1539-9ad9-1d8a-c2d17ced791e}">
          <p14:sldIdLst>
            <p14:sldId id="258"/>
            <p14:sldId id="259"/>
            <p14:sldId id="260"/>
          </p14:sldIdLst>
        </p14:section>
        <p14:section name="Delivery workflow" id="{7c623cb6-4f47-dae2-0ad8-8ea75ce1f121}">
          <p14:sldIdLst>
            <p14:sldId id="261"/>
            <p14:sldId id="262"/>
            <p14:sldId id="263"/>
            <p14:sldId id="264"/>
            <p14:sldId id="265"/>
          </p14:sldIdLst>
        </p14:section>
        <p14:section name="Operations" id="{6dea8fa9-c77a-3a85-8fd0-83cab8e3b46b}">
          <p14:sldIdLst>
            <p14:sldId id="266"/>
            <p14:sldId id="267"/>
            <p14:sldId id="268"/>
          </p14:sldIdLst>
        </p14:section>
        <p14:section name="Wrap-up" id="{4a5d8b08-01b9-a164-d4ee-1374686a4c7c}">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CPU utilization vs target</a:t>
            </a:r>
          </a:p>
        </c:rich>
      </c:tx>
      <c:layout/>
      <c:overlay val="0"/>
    </c:title>
    <c:autoTitleDeleted val="0"/>
    <c:plotArea>
      <c:layout/>
      <c:lineChart>
        <c:varyColors val="0"/>
        <c:ser>
          <c:idx val="0"/>
          <c:order val="0"/>
          <c:tx>
            <c:strRef>
              <c:f>Sheet1!$B$1</c:f>
              <c:strCache>
                <c:ptCount val="1"/>
                <c:pt idx="0">
                  <c:v>Backend CPU, % of request</c:v>
                </c:pt>
              </c:strCache>
            </c:strRef>
          </c:tx>
          <c:spPr>
            <a:solidFill>
              <a:srgbClr val="6366F1"/>
            </a:solidFill>
            <a:ln w="31750" cap="flat">
              <a:solidFill>
                <a:srgbClr val="6366F1"/>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6366F1"/>
              </a:solidFill>
              <a:ln w="9525" cap="flat">
                <a:solidFill>
                  <a:srgbClr val="6366F1"/>
                </a:solidFill>
                <a:prstDash val="solid"/>
                <a:round/>
              </a:ln>
              <a:effectLst/>
            </c:spPr>
          </c:marker>
          <c:cat>
            <c:multiLvlStrRef>
              <c:f>Sheet1!$A$2:$A$8</c:f>
              <c:multiLvlStrCache>
                <c:ptCount val="7"/>
                <c:lvl>
                  <c:pt idx="0">
                    <c:v>1</c:v>
                  </c:pt>
                  <c:pt idx="1">
                    <c:v>2</c:v>
                  </c:pt>
                  <c:pt idx="2">
                    <c:v>3</c:v>
                  </c:pt>
                  <c:pt idx="3">
                    <c:v>4</c:v>
                  </c:pt>
                  <c:pt idx="4">
                    <c:v>5</c:v>
                  </c:pt>
                  <c:pt idx="5">
                    <c:v>6</c:v>
                  </c:pt>
                  <c:pt idx="6">
                    <c:v>7</c:v>
                  </c:pt>
                </c:lvl>
              </c:multiLvlStrCache>
            </c:multiLvlStrRef>
          </c:cat>
          <c:val>
            <c:numRef>
              <c:f>Sheet1!$B$2:$B$8</c:f>
              <c:numCache>
                <c:formatCode>General</c:formatCode>
                <c:ptCount val="7"/>
                <c:pt idx="0">
                  <c:v>2</c:v>
                </c:pt>
                <c:pt idx="1">
                  <c:v>47</c:v>
                </c:pt>
                <c:pt idx="2">
                  <c:v>398</c:v>
                </c:pt>
                <c:pt idx="3">
                  <c:v>392</c:v>
                </c:pt>
                <c:pt idx="4">
                  <c:v>407</c:v>
                </c:pt>
                <c:pt idx="5">
                  <c:v>331</c:v>
                </c:pt>
                <c:pt idx="6">
                  <c:v>330</c:v>
                </c:pt>
              </c:numCache>
            </c:numRef>
          </c:val>
          <c:smooth val="0"/>
        </c:ser>
        <c:ser>
          <c:idx val="1"/>
          <c:order val="1"/>
          <c:tx>
            <c:strRef>
              <c:f>Sheet1!$C$1</c:f>
              <c:strCache>
                <c:ptCount val="1"/>
                <c:pt idx="0">
                  <c:v>HPA target 50%</c:v>
                </c:pt>
              </c:strCache>
            </c:strRef>
          </c:tx>
          <c:spPr>
            <a:solidFill>
              <a:srgbClr val="F43F5E"/>
            </a:solidFill>
            <a:ln w="31750" cap="flat">
              <a:solidFill>
                <a:srgbClr val="F43F5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F43F5E"/>
              </a:solidFill>
              <a:ln w="9525" cap="flat">
                <a:solidFill>
                  <a:srgbClr val="F43F5E"/>
                </a:solidFill>
                <a:prstDash val="solid"/>
                <a:round/>
              </a:ln>
              <a:effectLst/>
            </c:spPr>
          </c:marker>
          <c:cat>
            <c:multiLvlStrRef>
              <c:f>Sheet1!$A$2:$A$8</c:f>
              <c:multiLvlStrCache>
                <c:ptCount val="7"/>
                <c:lvl>
                  <c:pt idx="0">
                    <c:v>1</c:v>
                  </c:pt>
                  <c:pt idx="1">
                    <c:v>2</c:v>
                  </c:pt>
                  <c:pt idx="2">
                    <c:v>3</c:v>
                  </c:pt>
                  <c:pt idx="3">
                    <c:v>4</c:v>
                  </c:pt>
                  <c:pt idx="4">
                    <c:v>5</c:v>
                  </c:pt>
                  <c:pt idx="5">
                    <c:v>6</c:v>
                  </c:pt>
                  <c:pt idx="6">
                    <c:v>7</c:v>
                  </c:pt>
                </c:lvl>
              </c:multiLvlStrCache>
            </c:multiLvlStrRef>
          </c:cat>
          <c:val>
            <c:numRef>
              <c:f>Sheet1!$C$2:$C$8</c:f>
              <c:numCache>
                <c:formatCode>General</c:formatCode>
                <c:ptCount val="7"/>
                <c:pt idx="0">
                  <c:v>50</c:v>
                </c:pt>
                <c:pt idx="1">
                  <c:v>50</c:v>
                </c:pt>
                <c:pt idx="2">
                  <c:v>50</c:v>
                </c:pt>
                <c:pt idx="3">
                  <c:v>50</c:v>
                </c:pt>
                <c:pt idx="4">
                  <c:v>50</c:v>
                </c:pt>
                <c:pt idx="5">
                  <c:v>50</c:v>
                </c:pt>
                <c:pt idx="6">
                  <c:v>50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4748B"/>
                    </a:solidFill>
                    <a:latin typeface="+mn-lt"/>
                  </a:defRPr>
                </a:pPr>
                <a:r>
                  <a:rPr sz="1100" b="0" i="0" u="none" strike="noStrike">
                    <a:solidFill>
                      <a:srgbClr val="64748B"/>
                    </a:solidFill>
                    <a:latin typeface="+mn-lt"/>
                  </a:rPr>
                  <a:t>successive kubectl get hpa -w readings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450"/>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4"/>
        <c:crosses val="autoZero"/>
        <c:crossBetween val="between"/>
        <c:majorUnit val="100"/>
      </c:valAx>
      <c:spPr>
        <a:noFill/>
        <a:ln>
          <a:noFill/>
        </a:ln>
        <a:effectLst/>
      </c:spPr>
    </c:plotArea>
    <c:legend>
      <c:legendPos val="r"/>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Backend replicas</a:t>
            </a:r>
          </a:p>
        </c:rich>
      </c:tx>
      <c:layout/>
      <c:overlay val="0"/>
    </c:title>
    <c:autoTitleDeleted val="0"/>
    <c:plotArea>
      <c:layout/>
      <c:barChart>
        <c:barDir val="col"/>
        <c:grouping val="clustered"/>
        <c:varyColors val="0"/>
        <c:ser>
          <c:idx val="0"/>
          <c:order val="0"/>
          <c:tx>
            <c:strRef>
              <c:f>Sheet1!$B$1</c:f>
              <c:strCache>
                <c:ptCount val="1"/>
                <c:pt idx="0">
                  <c:v>Backend replicas</c:v>
                </c:pt>
              </c:strCache>
            </c:strRef>
          </c:tx>
          <c:spPr>
            <a:solidFill>
              <a:srgbClr val="10B981"/>
            </a:solidFill>
            <a:effectLst/>
          </c:spPr>
          <c:invertIfNegative val="0"/>
          <c:dLbls>
            <c:numFmt formatCode="#,##0" sourceLinked="0"/>
            <c:txPr>
              <a:bodyPr/>
              <a:lstStyle/>
              <a:p>
                <a:pPr>
                  <a:defRPr b="1"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Sheet1!$A$2:$A$8</c:f>
              <c:multiLvlStrCache>
                <c:ptCount val="7"/>
                <c:lvl>
                  <c:pt idx="0">
                    <c:v>1</c:v>
                  </c:pt>
                  <c:pt idx="1">
                    <c:v>2</c:v>
                  </c:pt>
                  <c:pt idx="2">
                    <c:v>3</c:v>
                  </c:pt>
                  <c:pt idx="3">
                    <c:v>4</c:v>
                  </c:pt>
                  <c:pt idx="4">
                    <c:v>5</c:v>
                  </c:pt>
                  <c:pt idx="5">
                    <c:v>6</c:v>
                  </c:pt>
                  <c:pt idx="6">
                    <c:v>7</c:v>
                  </c:pt>
                </c:lvl>
              </c:multiLvlStrCache>
            </c:multiLvlStrRef>
          </c:cat>
          <c:val>
            <c:numRef>
              <c:f>Sheet1!$B$2:$B$8</c:f>
              <c:numCache>
                <c:formatCode>General</c:formatCode>
                <c:ptCount val="7"/>
                <c:pt idx="0">
                  <c:v>2</c:v>
                </c:pt>
                <c:pt idx="1">
                  <c:v>2</c:v>
                </c:pt>
                <c:pt idx="2">
                  <c:v>2</c:v>
                </c:pt>
                <c:pt idx="3">
                  <c:v>6</c:v>
                </c:pt>
                <c:pt idx="4">
                  <c:v>6</c:v>
                </c:pt>
                <c:pt idx="5">
                  <c:v>6</c:v>
                </c:pt>
                <c:pt idx="6">
                  <c:v>6</c:v>
                </c:pt>
              </c:numCache>
            </c:numRef>
          </c:val>
        </c:ser>
        <c:dLbls>
          <c:numFmt formatCode="#,##0" sourceLinked="0"/>
          <c:txPr>
            <a:bodyPr/>
            <a:lstStyle/>
            <a:p>
              <a:pPr>
                <a:defRPr b="1" i="0" strike="noStrike" sz="12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4748B"/>
                    </a:solidFill>
                    <a:latin typeface="+mn-lt"/>
                  </a:defRPr>
                </a:pPr>
                <a:r>
                  <a:rPr sz="1100" b="0" i="0" u="none" strike="noStrike">
                    <a:solidFill>
                      <a:srgbClr val="64748B"/>
                    </a:solidFill>
                    <a:latin typeface="+mn-lt"/>
                  </a:rPr>
                  <a:t>successive kubectl get hpa -w readings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This is my capstone for Session 21. The goal was not to learn tools one at a time, it was to take one real application from my laptop all the way to a monitored Kubernetes cluster on AWS, and prove every step along the way. The application is TaskBoard, a small task manager. Around it I built the complete delivery path: tests, containers, a security scan, a registry, Terraform infrastructure, Kubernetes with Helm, ingress, autoscaling, monitoring, and some deliberate failures to troubleshoot. I'll walk through the architecture, then the workflow every commit goes through, and then what happened when the system was running live under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project in four numbers. Four pipeline stages, test, build and scan, push, and deploy, all green on the final run. Sixty three AWS resources created by Terraform, from the VPC to the EKS node group. Under load, the backend scaled itself from two pods to six, and back down when the load stopped. And zero high or critical vulnerabilities in the images I ship, after Trivy found nine on the very first scan. All fifteen demo items from the brief are covered, with a screenshot for each one in the repository. The agenda follows the same path a change takes: the application, the architecture, the workflow, operations, and what I would change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TaskBoard is a SaaS style dashboard. The frontend is React with Vite: a sidebar, KPI cards, status filters, a task table with priority badges, an activity feed and a create task modal, and it is responsive down to phone width. The backend is FastAPI with six task endpoints plus health, readiness and metrics. Data lives in PostgreSQL through SQLAlchemy, and the schema is managed by Alembic migrations, which also seed demo data so the dashboard looks real on a fresh install. One design choice matters for everything that follows: the browser only ever calls relative paths like slash api slash tasks. It never needs to know where the backend lives. Nginx does the routing locally, and the Ingress does it in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it runs on AWS. A user's browser reaches a Network Load Balancer, which the ingress-nginx controller created for me automatically. The Ingress rules then split traffic by path: anything under slash api goes straight to the FastAPI pods, everything else goes to the frontend pods running Nginx. The backend talks to PostgreSQL, which runs as a StatefulSet with its data on an encrypted EBS gp3 volume. Off to the side, Prometheus scrapes the metrics endpoint of every backend pod, and Grafana visualizes it. All of this runs on three t3.medium worker nodes in private subnets across two availability zones, and the nodes pull images from GitHub Container Registry through a NAT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designed the backend to be easy to operate, not just to use. On the left is the REST API, documented automatically in Swagger. On the right are the parts operations care about. Health is the liveness check: is the process alive, and if not, Kubernetes restarts it. Ready is the readiness check: it actually queries the database and returns 503 when it can't, so Kubernetes stops routing traffic to that pod. Metrics exposes request counts and latency histograms for Prometheus. And migrations run at startup behind a Postgres advisory lock, so when two or six replicas start together they take turns instead of racing. The ten pytest tests run against in-memory SQLite, so CI doesn't need a database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commit takes exactly the same road through GitHub Actions. One, test: pytest and a production build of the frontend. If that fails, nothing else runs. Two, build both images with multi stage Dockerfiles. Three, scan them with Trivy. Four, push them to GitHub Container Registry, tagged with the commit SHA. Five, deploy to EKS with helm upgrade, using that same SHA. The run history at the bottom tells a small story. Run one failed in the build stage because an action had renamed its version tags, and because of that, no image was pushed. That is the quality gate doing its job. Runs two and three are green, and run three deployed to the cluster in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are multi stage builds. The frontend compiles in a Node stage and ships only the static files on an unprivileged Nginx image. The backend installs its dependencies into a virtual environment in a builder stage and ships only that venv, on a slim Python runtime that runs as a non-root user. The security part is my favourite story. The first Trivy scan found nine fixable high severity vulnerabilities, and most of them were not in my code. They were in Debian packages, and in libraries vendored inside pip itself. The app never needs pip at runtime, so I removed it from the image, applied OS security updates, and moved the test libraries out of production. The result is zero. In CI the scan fails the pipeline on any fixable critical, and the full report goes to GitHub's security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runs workloads, but something has to create the network and the cluster. That is Terraform. One plan created sixty three resources: a VPC across two availability zones, public subnets for the load balancer and the NAT gateway, private subnets for the worker nodes, the EKS control plane, a managed node group, and the add-ons, including the EBS CSI driver for volumes and metrics server for the autoscaler. I used the community modules for VPC, EKS and IAM instead of hand writing every resource. To keep the bill low there is a single NAT gateway; production would use one per zone. The apply took about fifteen minutes, and at the end terraform destroy removed sixty four resources, one more than planned, because I added a security group rule as a fix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 folder of hand edited YAML files, the whole application is one Helm chart. It contains the backend and frontend Deployments, PostgreSQL as a StatefulSet with a volume claim, the Services, the Ingress, the autoscaler, a ServiceMonitor that tells Prometheus what to scrape, and even the Grafana dashboard, shipped as a ConfigMap that Grafana loads automatically. The differences between environments live in values files: the defaults, a dev file for a local cluster, and an EKS file that turns on ingress, gp3 storage and monitoring. Before spending money on EKS, I installed the same chart on a throwaway kind cluster, which caught problems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traceability the brief asks for. I pushed commit 63c7a59. CI run number three tested it, built it, scanned it, and pushed images tagged with that exact SHA. The deploy job ran helm upgrade with the same tag, which became Helm revision two, and the log at the bottom is CI itself printing the rollout: revision two deployed, and the four application pods freshly replaced. The database pod kept running, because nothing about it changed. So for anything running in the cluster I can answer: which commit is this, did it pass the tests, was it scanned. And if a release is bad, helm rollback returns to the previous revision in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autoscaling I started six small load generator pods that call the API in a loop. The HPA targets fifty percent of the CPU each backend pod requests. Within a minute CPU jumped to about four hundred percent of that request, and the HPA scaled the backend from two replicas to six, the maximum I configured. When I stopped the load, it waited out a two minute stabilization window, so it does not flap, and then scaled back down to two. These are the actual readings from kubectl get hpa with the watch flag. There was a real problem before this worked, which I will come back to in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I built, captured while the load test was running. Prometheus discovered all six backend pods through the ServiceMonitor, six out of six up, including the four new ones the autoscaler had just created. Grafana shows about 326 requests per second, an error rate of zero, and p95 latency around 95 milliseconds even at peak. The bottom row shows per pod CPU spiking and the replica count stepping from two to six. These panels answer the questions from the brief: is traffic arriving, which endpoint is slow, are errors increasing, and is the autoscaler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troubleshot three failures with the same method: look at the symptom, describe the object and read the events, compare what you wanted with what you got, and fix it in code. First, a Deployment with an image tag that does not exist: ImagePullBackOff, the events say the tag is not found, and setting a real image fixes it. Second, a Service whose selector matches no pod labels: no endpoints, so no traffic, and patching the selector fixes it. The third one was not planned. On EKS the autoscaler showed unknown. Describing it said the metrics API was unavailable, and the API service showed timeouts to port 10251. The EKS metrics server add-on listens on that port, and the node security group did not allow it. I fixed it with one rule in Terraform, not by clicking in the console, so the fix is versioned with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classroom setup, so some choices were deliberately simple. For production I would move PostgreSQL to Amazon RDS, replace the static AWS keys in GitHub with an OIDC role so there are no long lived credentials, keep Terraform state in S3 with locking, store secrets in AWS Secrets Manager, add TLS on a real domain, use one NAT gateway per zone, and tighten the Trivy gate to block high findings too. On cost: the running stack was roughly thirty cents an hour. Teardown order matters. Uninstall the app and the ingress first, so the load balancer and the database volume are actually deleted, then run terraform destroy. I checked afterwards that nothing was left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one application, one pipeline, and every step from a commit to monitored, autoscaling pods is automated and backed by evidence in the repository. The code, the pipeline and all the screenshots are at the link on this slide.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00400"/>
            <a:ext cx="10698480" cy="6400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4" name="Text 0"/>
          <p:cNvSpPr/>
          <p:nvPr>
            <p:ph idx="102" type="body" hasCustomPrompt="1"/>
          </p:nvPr>
        </p:nvSpPr>
        <p:spPr>
          <a:xfrm>
            <a:off x="731520" y="3886200"/>
            <a:ext cx="10698480" cy="45720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TaskBoard  |  DevOps Capstone</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2.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3.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TaskBoard: from laptop to monitored Kubernetes</a:t>
            </a:r>
            <a:endParaRPr lang="en-US" sz="4400" dirty="0"/>
          </a:p>
        </p:txBody>
      </p:sp>
      <p:sp>
        <p:nvSpPr>
          <p:cNvPr id="3" name="Text 0"/>
          <p:cNvSpPr/>
          <p:nvPr>
            <p:ph idx="101" type="body" hasCustomPrompt="1"/>
          </p:nvPr>
        </p:nvSpPr>
        <p:spPr>
          <a:xfrm>
            <a:off x="731520" y="3200400"/>
            <a:ext cx="10698480" cy="640080"/>
          </a:xfrm>
          <a:prstGeom prst="rect">
            <a:avLst/>
          </a:prstGeom>
          <a:noFill/>
          <a:ln/>
        </p:spPr>
        <p:txBody>
          <a:bodyPr wrap="square" lIns="0" tIns="0" rIns="0" bIns="0" rtlCol="0" anchor="t"/>
          <a:lstStyle/>
          <a:p>
            <a:pPr indent="0" marL="0">
              <a:buNone/>
            </a:pPr>
            <a:r>
              <a:rPr lang="en-US" sz="2000" dirty="0">
                <a:solidFill>
                  <a:schemeClr val="bg2"/>
                </a:solidFill>
              </a:rPr>
              <a:t>Session 21 DevOps Capstone  |  React, FastAPI and PostgreSQL delivered to AWS EKS</a:t>
            </a:r>
            <a:endParaRPr lang="en-US" sz="2000" dirty="0"/>
          </a:p>
        </p:txBody>
      </p:sp>
      <p:sp>
        <p:nvSpPr>
          <p:cNvPr id="4" name="Text 0"/>
          <p:cNvSpPr/>
          <p:nvPr>
            <p:ph idx="102" type="body" hasCustomPrompt="1"/>
          </p:nvPr>
        </p:nvSpPr>
        <p:spPr>
          <a:xfrm>
            <a:off x="731520" y="3886200"/>
            <a:ext cx="10698480" cy="457200"/>
          </a:xfrm>
          <a:prstGeom prst="rect">
            <a:avLst/>
          </a:prstGeom>
          <a:noFill/>
          <a:ln/>
        </p:spPr>
        <p:txBody>
          <a:bodyPr wrap="square" lIns="0" tIns="0" rIns="0" bIns="0" rtlCol="0" anchor="t"/>
          <a:lstStyle/>
          <a:p>
            <a:pPr indent="0" marL="0">
              <a:buNone/>
            </a:pPr>
            <a:r>
              <a:rPr lang="en-US" sz="1400" dirty="0">
                <a:solidFill>
                  <a:schemeClr val="bg2"/>
                </a:solidFill>
              </a:rPr>
              <a:t>Pushkar Desai  |  github.com/PushkarDesai-06/taskboard-devops-capstone</a:t>
            </a:r>
            <a:endParaRPr lang="en-US" sz="1400" dirty="0"/>
          </a:p>
        </p:txBody>
      </p:sp>
      <p:sp>
        <p:nvSpPr>
          <p:cNvPr id="5" name="icon-bg-1"/>
          <p:cNvSpPr/>
          <p:nvPr/>
        </p:nvSpPr>
        <p:spPr>
          <a:xfrm>
            <a:off x="813816" y="4983480"/>
            <a:ext cx="566928" cy="566928"/>
          </a:xfrm>
          <a:prstGeom prst="ellipse">
            <a:avLst/>
          </a:prstGeom>
          <a:solidFill>
            <a:schemeClr val="tx2"/>
          </a:solidFill>
          <a:ln w="12700">
            <a:solidFill>
              <a:schemeClr val="tx2"/>
            </a:solidFill>
            <a:prstDash val="solid"/>
          </a:ln>
        </p:spPr>
      </p:sp>
      <p:pic>
        <p:nvPicPr>
          <p:cNvPr id="6" name="icon-2" descr="preencoded.png">    </p:cNvPr>
          <p:cNvPicPr>
            <a:picLocks noChangeAspect="1"/>
          </p:cNvPicPr>
          <p:nvPr/>
        </p:nvPicPr>
        <p:blipFill>
          <a:blip r:embed="rId1"/>
          <a:stretch>
            <a:fillRect/>
          </a:stretch>
        </p:blipFill>
        <p:spPr>
          <a:xfrm>
            <a:off x="944209" y="5113873"/>
            <a:ext cx="306141" cy="306141"/>
          </a:xfrm>
          <a:prstGeom prst="rect">
            <a:avLst/>
          </a:prstGeom>
        </p:spPr>
      </p:pic>
      <p:sp>
        <p:nvSpPr>
          <p:cNvPr id="7" name="text-3"/>
          <p:cNvSpPr txBox="1"/>
          <p:nvPr/>
        </p:nvSpPr>
        <p:spPr>
          <a:xfrm>
            <a:off x="731520"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React</a:t>
            </a:r>
            <a:endParaRPr lang="en-US" sz="1000" dirty="0"/>
          </a:p>
        </p:txBody>
      </p:sp>
      <p:sp>
        <p:nvSpPr>
          <p:cNvPr id="8" name="icon-bg-4"/>
          <p:cNvSpPr/>
          <p:nvPr/>
        </p:nvSpPr>
        <p:spPr>
          <a:xfrm>
            <a:off x="1801368" y="4983480"/>
            <a:ext cx="566928" cy="566928"/>
          </a:xfrm>
          <a:prstGeom prst="ellipse">
            <a:avLst/>
          </a:prstGeom>
          <a:solidFill>
            <a:schemeClr val="tx2"/>
          </a:solidFill>
          <a:ln w="12700">
            <a:solidFill>
              <a:schemeClr val="tx2"/>
            </a:solidFill>
            <a:prstDash val="solid"/>
          </a:ln>
        </p:spPr>
      </p:sp>
      <p:pic>
        <p:nvPicPr>
          <p:cNvPr id="9" name="icon-5" descr="preencoded.png">    </p:cNvPr>
          <p:cNvPicPr>
            <a:picLocks noChangeAspect="1"/>
          </p:cNvPicPr>
          <p:nvPr/>
        </p:nvPicPr>
        <p:blipFill>
          <a:blip r:embed="rId2"/>
          <a:stretch>
            <a:fillRect/>
          </a:stretch>
        </p:blipFill>
        <p:spPr>
          <a:xfrm>
            <a:off x="1931761" y="5113873"/>
            <a:ext cx="306141" cy="306141"/>
          </a:xfrm>
          <a:prstGeom prst="rect">
            <a:avLst/>
          </a:prstGeom>
        </p:spPr>
      </p:pic>
      <p:sp>
        <p:nvSpPr>
          <p:cNvPr id="10" name="text-6"/>
          <p:cNvSpPr txBox="1"/>
          <p:nvPr/>
        </p:nvSpPr>
        <p:spPr>
          <a:xfrm>
            <a:off x="1719072"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FastAPI</a:t>
            </a:r>
            <a:endParaRPr lang="en-US" sz="1000" dirty="0"/>
          </a:p>
        </p:txBody>
      </p:sp>
      <p:sp>
        <p:nvSpPr>
          <p:cNvPr id="11" name="icon-bg-7"/>
          <p:cNvSpPr/>
          <p:nvPr/>
        </p:nvSpPr>
        <p:spPr>
          <a:xfrm>
            <a:off x="2788920" y="4983480"/>
            <a:ext cx="566928" cy="566928"/>
          </a:xfrm>
          <a:prstGeom prst="ellipse">
            <a:avLst/>
          </a:prstGeom>
          <a:solidFill>
            <a:schemeClr val="tx2"/>
          </a:solidFill>
          <a:ln w="12700">
            <a:solidFill>
              <a:schemeClr val="tx2"/>
            </a:solidFill>
            <a:prstDash val="solid"/>
          </a:ln>
        </p:spPr>
      </p:sp>
      <p:pic>
        <p:nvPicPr>
          <p:cNvPr id="12" name="icon-8" descr="preencoded.png">    </p:cNvPr>
          <p:cNvPicPr>
            <a:picLocks noChangeAspect="1"/>
          </p:cNvPicPr>
          <p:nvPr/>
        </p:nvPicPr>
        <p:blipFill>
          <a:blip r:embed="rId3"/>
          <a:stretch>
            <a:fillRect/>
          </a:stretch>
        </p:blipFill>
        <p:spPr>
          <a:xfrm>
            <a:off x="2919313" y="5113873"/>
            <a:ext cx="306141" cy="306141"/>
          </a:xfrm>
          <a:prstGeom prst="rect">
            <a:avLst/>
          </a:prstGeom>
        </p:spPr>
      </p:pic>
      <p:sp>
        <p:nvSpPr>
          <p:cNvPr id="13" name="text-9"/>
          <p:cNvSpPr txBox="1"/>
          <p:nvPr/>
        </p:nvSpPr>
        <p:spPr>
          <a:xfrm>
            <a:off x="2706624"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PostgreSQL</a:t>
            </a:r>
            <a:endParaRPr lang="en-US" sz="1000" dirty="0"/>
          </a:p>
        </p:txBody>
      </p:sp>
      <p:sp>
        <p:nvSpPr>
          <p:cNvPr id="14" name="icon-bg-10"/>
          <p:cNvSpPr/>
          <p:nvPr/>
        </p:nvSpPr>
        <p:spPr>
          <a:xfrm>
            <a:off x="3776472" y="4983480"/>
            <a:ext cx="566928" cy="566928"/>
          </a:xfrm>
          <a:prstGeom prst="ellipse">
            <a:avLst/>
          </a:prstGeom>
          <a:solidFill>
            <a:schemeClr val="tx2"/>
          </a:solidFill>
          <a:ln w="12700">
            <a:solidFill>
              <a:schemeClr val="tx2"/>
            </a:solidFill>
            <a:prstDash val="solid"/>
          </a:ln>
        </p:spPr>
      </p:sp>
      <p:pic>
        <p:nvPicPr>
          <p:cNvPr id="15" name="icon-11" descr="preencoded.png">    </p:cNvPr>
          <p:cNvPicPr>
            <a:picLocks noChangeAspect="1"/>
          </p:cNvPicPr>
          <p:nvPr/>
        </p:nvPicPr>
        <p:blipFill>
          <a:blip r:embed="rId4"/>
          <a:stretch>
            <a:fillRect/>
          </a:stretch>
        </p:blipFill>
        <p:spPr>
          <a:xfrm>
            <a:off x="3906865" y="5113873"/>
            <a:ext cx="306141" cy="306141"/>
          </a:xfrm>
          <a:prstGeom prst="rect">
            <a:avLst/>
          </a:prstGeom>
        </p:spPr>
      </p:pic>
      <p:sp>
        <p:nvSpPr>
          <p:cNvPr id="16" name="text-12"/>
          <p:cNvSpPr txBox="1"/>
          <p:nvPr/>
        </p:nvSpPr>
        <p:spPr>
          <a:xfrm>
            <a:off x="3694176"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Docker</a:t>
            </a:r>
            <a:endParaRPr lang="en-US" sz="1000" dirty="0"/>
          </a:p>
        </p:txBody>
      </p:sp>
      <p:sp>
        <p:nvSpPr>
          <p:cNvPr id="17" name="icon-bg-13"/>
          <p:cNvSpPr/>
          <p:nvPr/>
        </p:nvSpPr>
        <p:spPr>
          <a:xfrm>
            <a:off x="4764024" y="4983480"/>
            <a:ext cx="566928" cy="566928"/>
          </a:xfrm>
          <a:prstGeom prst="ellipse">
            <a:avLst/>
          </a:prstGeom>
          <a:solidFill>
            <a:schemeClr val="tx2"/>
          </a:solidFill>
          <a:ln w="12700">
            <a:solidFill>
              <a:schemeClr val="tx2"/>
            </a:solidFill>
            <a:prstDash val="solid"/>
          </a:ln>
        </p:spPr>
      </p:sp>
      <p:pic>
        <p:nvPicPr>
          <p:cNvPr id="18" name="icon-14" descr="preencoded.png">    </p:cNvPr>
          <p:cNvPicPr>
            <a:picLocks noChangeAspect="1"/>
          </p:cNvPicPr>
          <p:nvPr/>
        </p:nvPicPr>
        <p:blipFill>
          <a:blip r:embed="rId5"/>
          <a:stretch>
            <a:fillRect/>
          </a:stretch>
        </p:blipFill>
        <p:spPr>
          <a:xfrm>
            <a:off x="4894417" y="5113873"/>
            <a:ext cx="306141" cy="306141"/>
          </a:xfrm>
          <a:prstGeom prst="rect">
            <a:avLst/>
          </a:prstGeom>
        </p:spPr>
      </p:pic>
      <p:sp>
        <p:nvSpPr>
          <p:cNvPr id="19" name="text-15"/>
          <p:cNvSpPr txBox="1"/>
          <p:nvPr/>
        </p:nvSpPr>
        <p:spPr>
          <a:xfrm>
            <a:off x="4681728"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Actions</a:t>
            </a:r>
            <a:endParaRPr lang="en-US" sz="1000" dirty="0"/>
          </a:p>
        </p:txBody>
      </p:sp>
      <p:sp>
        <p:nvSpPr>
          <p:cNvPr id="20" name="icon-bg-16"/>
          <p:cNvSpPr/>
          <p:nvPr/>
        </p:nvSpPr>
        <p:spPr>
          <a:xfrm>
            <a:off x="5751576" y="4983480"/>
            <a:ext cx="566928" cy="566928"/>
          </a:xfrm>
          <a:prstGeom prst="ellipse">
            <a:avLst/>
          </a:prstGeom>
          <a:solidFill>
            <a:schemeClr val="tx2"/>
          </a:solidFill>
          <a:ln w="12700">
            <a:solidFill>
              <a:schemeClr val="tx2"/>
            </a:solidFill>
            <a:prstDash val="solid"/>
          </a:ln>
        </p:spPr>
      </p:sp>
      <p:pic>
        <p:nvPicPr>
          <p:cNvPr id="21" name="icon-17" descr="preencoded.png">    </p:cNvPr>
          <p:cNvPicPr>
            <a:picLocks noChangeAspect="1"/>
          </p:cNvPicPr>
          <p:nvPr/>
        </p:nvPicPr>
        <p:blipFill>
          <a:blip r:embed="rId6"/>
          <a:stretch>
            <a:fillRect/>
          </a:stretch>
        </p:blipFill>
        <p:spPr>
          <a:xfrm>
            <a:off x="5881969" y="5113873"/>
            <a:ext cx="306141" cy="306141"/>
          </a:xfrm>
          <a:prstGeom prst="rect">
            <a:avLst/>
          </a:prstGeom>
        </p:spPr>
      </p:pic>
      <p:sp>
        <p:nvSpPr>
          <p:cNvPr id="22" name="text-18"/>
          <p:cNvSpPr txBox="1"/>
          <p:nvPr/>
        </p:nvSpPr>
        <p:spPr>
          <a:xfrm>
            <a:off x="5669280"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Terraform</a:t>
            </a:r>
            <a:endParaRPr lang="en-US" sz="1000" dirty="0"/>
          </a:p>
        </p:txBody>
      </p:sp>
      <p:sp>
        <p:nvSpPr>
          <p:cNvPr id="23" name="icon-bg-19"/>
          <p:cNvSpPr/>
          <p:nvPr/>
        </p:nvSpPr>
        <p:spPr>
          <a:xfrm>
            <a:off x="6739128" y="4983480"/>
            <a:ext cx="566928" cy="566928"/>
          </a:xfrm>
          <a:prstGeom prst="ellipse">
            <a:avLst/>
          </a:prstGeom>
          <a:solidFill>
            <a:schemeClr val="tx2"/>
          </a:solidFill>
          <a:ln w="12700">
            <a:solidFill>
              <a:schemeClr val="tx2"/>
            </a:solidFill>
            <a:prstDash val="solid"/>
          </a:ln>
        </p:spPr>
      </p:sp>
      <p:pic>
        <p:nvPicPr>
          <p:cNvPr id="24" name="icon-20" descr="preencoded.png">    </p:cNvPr>
          <p:cNvPicPr>
            <a:picLocks noChangeAspect="1"/>
          </p:cNvPicPr>
          <p:nvPr/>
        </p:nvPicPr>
        <p:blipFill>
          <a:blip r:embed="rId7"/>
          <a:stretch>
            <a:fillRect/>
          </a:stretch>
        </p:blipFill>
        <p:spPr>
          <a:xfrm>
            <a:off x="6869521" y="5113873"/>
            <a:ext cx="306141" cy="306141"/>
          </a:xfrm>
          <a:prstGeom prst="rect">
            <a:avLst/>
          </a:prstGeom>
        </p:spPr>
      </p:pic>
      <p:sp>
        <p:nvSpPr>
          <p:cNvPr id="25" name="text-21"/>
          <p:cNvSpPr txBox="1"/>
          <p:nvPr/>
        </p:nvSpPr>
        <p:spPr>
          <a:xfrm>
            <a:off x="6656832"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AWS</a:t>
            </a:r>
            <a:endParaRPr lang="en-US" sz="1000" dirty="0"/>
          </a:p>
        </p:txBody>
      </p:sp>
      <p:sp>
        <p:nvSpPr>
          <p:cNvPr id="26" name="icon-bg-22"/>
          <p:cNvSpPr/>
          <p:nvPr/>
        </p:nvSpPr>
        <p:spPr>
          <a:xfrm>
            <a:off x="7726680" y="4983480"/>
            <a:ext cx="566928" cy="566928"/>
          </a:xfrm>
          <a:prstGeom prst="ellipse">
            <a:avLst/>
          </a:prstGeom>
          <a:solidFill>
            <a:schemeClr val="tx2"/>
          </a:solidFill>
          <a:ln w="12700">
            <a:solidFill>
              <a:schemeClr val="tx2"/>
            </a:solidFill>
            <a:prstDash val="solid"/>
          </a:ln>
        </p:spPr>
      </p:sp>
      <p:pic>
        <p:nvPicPr>
          <p:cNvPr id="27" name="icon-23" descr="preencoded.png">    </p:cNvPr>
          <p:cNvPicPr>
            <a:picLocks noChangeAspect="1"/>
          </p:cNvPicPr>
          <p:nvPr/>
        </p:nvPicPr>
        <p:blipFill>
          <a:blip r:embed="rId8"/>
          <a:stretch>
            <a:fillRect/>
          </a:stretch>
        </p:blipFill>
        <p:spPr>
          <a:xfrm>
            <a:off x="7857073" y="5113873"/>
            <a:ext cx="306141" cy="306141"/>
          </a:xfrm>
          <a:prstGeom prst="rect">
            <a:avLst/>
          </a:prstGeom>
        </p:spPr>
      </p:pic>
      <p:sp>
        <p:nvSpPr>
          <p:cNvPr id="28" name="text-24"/>
          <p:cNvSpPr txBox="1"/>
          <p:nvPr/>
        </p:nvSpPr>
        <p:spPr>
          <a:xfrm>
            <a:off x="7644384"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Kubernetes</a:t>
            </a:r>
            <a:endParaRPr lang="en-US" sz="1000" dirty="0"/>
          </a:p>
        </p:txBody>
      </p:sp>
      <p:sp>
        <p:nvSpPr>
          <p:cNvPr id="29" name="icon-bg-25"/>
          <p:cNvSpPr/>
          <p:nvPr/>
        </p:nvSpPr>
        <p:spPr>
          <a:xfrm>
            <a:off x="8714232" y="4983480"/>
            <a:ext cx="566928" cy="566928"/>
          </a:xfrm>
          <a:prstGeom prst="ellipse">
            <a:avLst/>
          </a:prstGeom>
          <a:solidFill>
            <a:schemeClr val="tx2"/>
          </a:solidFill>
          <a:ln w="12700">
            <a:solidFill>
              <a:schemeClr val="tx2"/>
            </a:solidFill>
            <a:prstDash val="solid"/>
          </a:ln>
        </p:spPr>
      </p:sp>
      <p:pic>
        <p:nvPicPr>
          <p:cNvPr id="30" name="icon-26" descr="preencoded.png">    </p:cNvPr>
          <p:cNvPicPr>
            <a:picLocks noChangeAspect="1"/>
          </p:cNvPicPr>
          <p:nvPr/>
        </p:nvPicPr>
        <p:blipFill>
          <a:blip r:embed="rId9"/>
          <a:stretch>
            <a:fillRect/>
          </a:stretch>
        </p:blipFill>
        <p:spPr>
          <a:xfrm>
            <a:off x="8844625" y="5113873"/>
            <a:ext cx="306141" cy="306141"/>
          </a:xfrm>
          <a:prstGeom prst="rect">
            <a:avLst/>
          </a:prstGeom>
        </p:spPr>
      </p:pic>
      <p:sp>
        <p:nvSpPr>
          <p:cNvPr id="31" name="text-27"/>
          <p:cNvSpPr txBox="1"/>
          <p:nvPr/>
        </p:nvSpPr>
        <p:spPr>
          <a:xfrm>
            <a:off x="8631936"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Helm</a:t>
            </a:r>
            <a:endParaRPr lang="en-US" sz="1000" dirty="0"/>
          </a:p>
        </p:txBody>
      </p:sp>
      <p:sp>
        <p:nvSpPr>
          <p:cNvPr id="32" name="icon-bg-28"/>
          <p:cNvSpPr/>
          <p:nvPr/>
        </p:nvSpPr>
        <p:spPr>
          <a:xfrm>
            <a:off x="9701784" y="4983480"/>
            <a:ext cx="566928" cy="566928"/>
          </a:xfrm>
          <a:prstGeom prst="ellipse">
            <a:avLst/>
          </a:prstGeom>
          <a:solidFill>
            <a:schemeClr val="tx2"/>
          </a:solidFill>
          <a:ln w="12700">
            <a:solidFill>
              <a:schemeClr val="tx2"/>
            </a:solidFill>
            <a:prstDash val="solid"/>
          </a:ln>
        </p:spPr>
      </p:sp>
      <p:pic>
        <p:nvPicPr>
          <p:cNvPr id="33" name="icon-29" descr="preencoded.png">    </p:cNvPr>
          <p:cNvPicPr>
            <a:picLocks noChangeAspect="1"/>
          </p:cNvPicPr>
          <p:nvPr/>
        </p:nvPicPr>
        <p:blipFill>
          <a:blip r:embed="rId10"/>
          <a:stretch>
            <a:fillRect/>
          </a:stretch>
        </p:blipFill>
        <p:spPr>
          <a:xfrm>
            <a:off x="9832177" y="5113873"/>
            <a:ext cx="306141" cy="306141"/>
          </a:xfrm>
          <a:prstGeom prst="rect">
            <a:avLst/>
          </a:prstGeom>
        </p:spPr>
      </p:pic>
      <p:sp>
        <p:nvSpPr>
          <p:cNvPr id="34" name="text-30"/>
          <p:cNvSpPr txBox="1"/>
          <p:nvPr/>
        </p:nvSpPr>
        <p:spPr>
          <a:xfrm>
            <a:off x="9619488"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Prometheus</a:t>
            </a:r>
            <a:endParaRPr lang="en-US" sz="1000" dirty="0"/>
          </a:p>
        </p:txBody>
      </p:sp>
      <p:sp>
        <p:nvSpPr>
          <p:cNvPr id="35" name="icon-bg-31"/>
          <p:cNvSpPr/>
          <p:nvPr/>
        </p:nvSpPr>
        <p:spPr>
          <a:xfrm>
            <a:off x="10689336" y="4983480"/>
            <a:ext cx="566928" cy="566928"/>
          </a:xfrm>
          <a:prstGeom prst="ellipse">
            <a:avLst/>
          </a:prstGeom>
          <a:solidFill>
            <a:schemeClr val="tx2"/>
          </a:solidFill>
          <a:ln w="12700">
            <a:solidFill>
              <a:schemeClr val="tx2"/>
            </a:solidFill>
            <a:prstDash val="solid"/>
          </a:ln>
        </p:spPr>
      </p:sp>
      <p:pic>
        <p:nvPicPr>
          <p:cNvPr id="36" name="icon-32" descr="preencoded.png">    </p:cNvPr>
          <p:cNvPicPr>
            <a:picLocks noChangeAspect="1"/>
          </p:cNvPicPr>
          <p:nvPr/>
        </p:nvPicPr>
        <p:blipFill>
          <a:blip r:embed="rId11"/>
          <a:stretch>
            <a:fillRect/>
          </a:stretch>
        </p:blipFill>
        <p:spPr>
          <a:xfrm>
            <a:off x="10819729" y="5113873"/>
            <a:ext cx="306141" cy="306141"/>
          </a:xfrm>
          <a:prstGeom prst="rect">
            <a:avLst/>
          </a:prstGeom>
        </p:spPr>
      </p:pic>
      <p:sp>
        <p:nvSpPr>
          <p:cNvPr id="37" name="text-33"/>
          <p:cNvSpPr txBox="1"/>
          <p:nvPr/>
        </p:nvSpPr>
        <p:spPr>
          <a:xfrm>
            <a:off x="10607040" y="5623560"/>
            <a:ext cx="731520" cy="274320"/>
          </a:xfrm>
          <a:prstGeom prst="rect">
            <a:avLst/>
          </a:prstGeom>
          <a:noFill/>
          <a:ln/>
        </p:spPr>
        <p:txBody>
          <a:bodyPr wrap="square" lIns="0" tIns="0" rIns="0" bIns="0" rtlCol="0" anchor="t"/>
          <a:lstStyle/>
          <a:p>
            <a:pPr algn="ctr" indent="0" marL="0">
              <a:buNone/>
            </a:pPr>
            <a:r>
              <a:rPr lang="en-US" sz="1000" dirty="0">
                <a:solidFill>
                  <a:schemeClr val="bg2"/>
                </a:solidFill>
              </a:rPr>
              <a:t>Grafana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was built and proven</a:t>
            </a:r>
            <a:endParaRPr lang="en-US" sz="3600" dirty="0"/>
          </a:p>
        </p:txBody>
      </p:sp>
      <p:sp>
        <p:nvSpPr>
          <p:cNvPr id="3" name="card-34"/>
          <p:cNvSpPr/>
          <p:nvPr/>
        </p:nvSpPr>
        <p:spPr>
          <a:xfrm>
            <a:off x="548640" y="1417320"/>
            <a:ext cx="2560320" cy="2331720"/>
          </a:xfrm>
          <a:prstGeom prst="roundRect">
            <a:avLst>
              <a:gd name="adj" fmla="val 3922"/>
            </a:avLst>
          </a:prstGeom>
          <a:solidFill>
            <a:schemeClr val="bg2"/>
          </a:solidFill>
          <a:ln w="9525">
            <a:solidFill>
              <a:schemeClr val="bg2"/>
            </a:solidFill>
            <a:prstDash val="solid"/>
          </a:ln>
        </p:spPr>
      </p:sp>
      <p:sp>
        <p:nvSpPr>
          <p:cNvPr id="4" name="text-35"/>
          <p:cNvSpPr txBox="1"/>
          <p:nvPr/>
        </p:nvSpPr>
        <p:spPr>
          <a:xfrm>
            <a:off x="777240" y="1600200"/>
            <a:ext cx="2103120" cy="8686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4 / 4</a:t>
            </a:r>
            <a:endParaRPr lang="en-US" sz="4800" dirty="0"/>
          </a:p>
        </p:txBody>
      </p:sp>
      <p:sp>
        <p:nvSpPr>
          <p:cNvPr id="5" name="text-36"/>
          <p:cNvSpPr txBox="1"/>
          <p:nvPr/>
        </p:nvSpPr>
        <p:spPr>
          <a:xfrm>
            <a:off x="777240" y="2560320"/>
            <a:ext cx="2103120" cy="365760"/>
          </a:xfrm>
          <a:prstGeom prst="rect">
            <a:avLst/>
          </a:prstGeom>
          <a:noFill/>
          <a:ln/>
        </p:spPr>
        <p:txBody>
          <a:bodyPr wrap="square" lIns="0" tIns="0" rIns="0" bIns="0" rtlCol="0" anchor="t"/>
          <a:lstStyle/>
          <a:p>
            <a:pPr indent="0" marL="0">
              <a:buNone/>
            </a:pPr>
            <a:r>
              <a:rPr lang="en-US" sz="1800" b="1" dirty="0">
                <a:solidFill>
                  <a:schemeClr val="tx1"/>
                </a:solidFill>
              </a:rPr>
              <a:t>pipeline stages green</a:t>
            </a:r>
            <a:endParaRPr lang="en-US" sz="1800" dirty="0"/>
          </a:p>
        </p:txBody>
      </p:sp>
      <p:sp>
        <p:nvSpPr>
          <p:cNvPr id="6" name="text-37"/>
          <p:cNvSpPr txBox="1"/>
          <p:nvPr/>
        </p:nvSpPr>
        <p:spPr>
          <a:xfrm>
            <a:off x="777240" y="2971800"/>
            <a:ext cx="2103120" cy="548640"/>
          </a:xfrm>
          <a:prstGeom prst="rect">
            <a:avLst/>
          </a:prstGeom>
          <a:noFill/>
          <a:ln/>
        </p:spPr>
        <p:txBody>
          <a:bodyPr wrap="square" lIns="0" tIns="0" rIns="0" bIns="0" rtlCol="0" anchor="t"/>
          <a:lstStyle/>
          <a:p>
            <a:pPr indent="0" marL="0">
              <a:buNone/>
            </a:pPr>
            <a:r>
              <a:rPr lang="en-US" sz="1400" dirty="0">
                <a:solidFill>
                  <a:schemeClr val="tx2"/>
                </a:solidFill>
              </a:rPr>
              <a:t>test, build + scan, push, deploy</a:t>
            </a:r>
            <a:endParaRPr lang="en-US" sz="1400" dirty="0"/>
          </a:p>
        </p:txBody>
      </p:sp>
      <p:sp>
        <p:nvSpPr>
          <p:cNvPr id="7" name="card-38"/>
          <p:cNvSpPr/>
          <p:nvPr/>
        </p:nvSpPr>
        <p:spPr>
          <a:xfrm>
            <a:off x="3392424" y="1417320"/>
            <a:ext cx="2560320" cy="2331720"/>
          </a:xfrm>
          <a:prstGeom prst="roundRect">
            <a:avLst>
              <a:gd name="adj" fmla="val 3922"/>
            </a:avLst>
          </a:prstGeom>
          <a:solidFill>
            <a:schemeClr val="bg2"/>
          </a:solidFill>
          <a:ln w="9525">
            <a:solidFill>
              <a:schemeClr val="bg2"/>
            </a:solidFill>
            <a:prstDash val="solid"/>
          </a:ln>
        </p:spPr>
      </p:sp>
      <p:sp>
        <p:nvSpPr>
          <p:cNvPr id="8" name="text-39"/>
          <p:cNvSpPr txBox="1"/>
          <p:nvPr/>
        </p:nvSpPr>
        <p:spPr>
          <a:xfrm>
            <a:off x="3621024" y="1600200"/>
            <a:ext cx="2103120" cy="868680"/>
          </a:xfrm>
          <a:prstGeom prst="rect">
            <a:avLst/>
          </a:prstGeom>
          <a:noFill/>
          <a:ln/>
        </p:spPr>
        <p:txBody>
          <a:bodyPr wrap="square" lIns="0" tIns="0" rIns="0" bIns="0" rtlCol="0" anchor="ctr"/>
          <a:lstStyle/>
          <a:p>
            <a:pPr indent="0" marL="0">
              <a:buNone/>
            </a:pPr>
            <a:r>
              <a:rPr lang="en-US" sz="4800" b="1" dirty="0">
                <a:solidFill>
                  <a:schemeClr val="accent5"/>
                </a:solidFill>
                <a:latin typeface="Arial" pitchFamily="34" charset="0"/>
                <a:ea typeface="Arial" pitchFamily="34" charset="-122"/>
                <a:cs typeface="Arial" pitchFamily="34" charset="-120"/>
              </a:rPr>
              <a:t>63</a:t>
            </a:r>
            <a:endParaRPr lang="en-US" sz="4800" dirty="0"/>
          </a:p>
        </p:txBody>
      </p:sp>
      <p:sp>
        <p:nvSpPr>
          <p:cNvPr id="9" name="text-40"/>
          <p:cNvSpPr txBox="1"/>
          <p:nvPr/>
        </p:nvSpPr>
        <p:spPr>
          <a:xfrm>
            <a:off x="3621024" y="2560320"/>
            <a:ext cx="2103120" cy="365760"/>
          </a:xfrm>
          <a:prstGeom prst="rect">
            <a:avLst/>
          </a:prstGeom>
          <a:noFill/>
          <a:ln/>
        </p:spPr>
        <p:txBody>
          <a:bodyPr wrap="square" lIns="0" tIns="0" rIns="0" bIns="0" rtlCol="0" anchor="t"/>
          <a:lstStyle/>
          <a:p>
            <a:pPr indent="0" marL="0">
              <a:buNone/>
            </a:pPr>
            <a:r>
              <a:rPr lang="en-US" sz="1800" b="1" dirty="0">
                <a:solidFill>
                  <a:schemeClr val="tx1"/>
                </a:solidFill>
              </a:rPr>
              <a:t>AWS resources</a:t>
            </a:r>
            <a:endParaRPr lang="en-US" sz="1800" dirty="0"/>
          </a:p>
        </p:txBody>
      </p:sp>
      <p:sp>
        <p:nvSpPr>
          <p:cNvPr id="10" name="text-41"/>
          <p:cNvSpPr txBox="1"/>
          <p:nvPr/>
        </p:nvSpPr>
        <p:spPr>
          <a:xfrm>
            <a:off x="3621024" y="2971800"/>
            <a:ext cx="2103120" cy="548640"/>
          </a:xfrm>
          <a:prstGeom prst="rect">
            <a:avLst/>
          </a:prstGeom>
          <a:noFill/>
          <a:ln/>
        </p:spPr>
        <p:txBody>
          <a:bodyPr wrap="square" lIns="0" tIns="0" rIns="0" bIns="0" rtlCol="0" anchor="t"/>
          <a:lstStyle/>
          <a:p>
            <a:pPr indent="0" marL="0">
              <a:buNone/>
            </a:pPr>
            <a:r>
              <a:rPr lang="en-US" sz="1400" dirty="0">
                <a:solidFill>
                  <a:schemeClr val="tx2"/>
                </a:solidFill>
              </a:rPr>
              <a:t>created by one terraform apply</a:t>
            </a:r>
            <a:endParaRPr lang="en-US" sz="1400" dirty="0"/>
          </a:p>
        </p:txBody>
      </p:sp>
      <p:sp>
        <p:nvSpPr>
          <p:cNvPr id="11" name="card-42"/>
          <p:cNvSpPr/>
          <p:nvPr/>
        </p:nvSpPr>
        <p:spPr>
          <a:xfrm>
            <a:off x="6236208" y="1417320"/>
            <a:ext cx="2560320" cy="2331720"/>
          </a:xfrm>
          <a:prstGeom prst="roundRect">
            <a:avLst>
              <a:gd name="adj" fmla="val 3922"/>
            </a:avLst>
          </a:prstGeom>
          <a:solidFill>
            <a:schemeClr val="bg2"/>
          </a:solidFill>
          <a:ln w="9525">
            <a:solidFill>
              <a:schemeClr val="bg2"/>
            </a:solidFill>
            <a:prstDash val="solid"/>
          </a:ln>
        </p:spPr>
      </p:sp>
      <p:sp>
        <p:nvSpPr>
          <p:cNvPr id="12" name="text-43"/>
          <p:cNvSpPr txBox="1"/>
          <p:nvPr/>
        </p:nvSpPr>
        <p:spPr>
          <a:xfrm>
            <a:off x="6464808" y="1600200"/>
            <a:ext cx="2103120" cy="8686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2 → 6</a:t>
            </a:r>
            <a:endParaRPr lang="en-US" sz="4800" dirty="0"/>
          </a:p>
        </p:txBody>
      </p:sp>
      <p:sp>
        <p:nvSpPr>
          <p:cNvPr id="13" name="text-44"/>
          <p:cNvSpPr txBox="1"/>
          <p:nvPr/>
        </p:nvSpPr>
        <p:spPr>
          <a:xfrm>
            <a:off x="6464808" y="2560320"/>
            <a:ext cx="2103120" cy="365760"/>
          </a:xfrm>
          <a:prstGeom prst="rect">
            <a:avLst/>
          </a:prstGeom>
          <a:noFill/>
          <a:ln/>
        </p:spPr>
        <p:txBody>
          <a:bodyPr wrap="square" lIns="0" tIns="0" rIns="0" bIns="0" rtlCol="0" anchor="t"/>
          <a:lstStyle/>
          <a:p>
            <a:pPr indent="0" marL="0">
              <a:buNone/>
            </a:pPr>
            <a:r>
              <a:rPr lang="en-US" sz="1800" b="1" dirty="0">
                <a:solidFill>
                  <a:schemeClr val="tx1"/>
                </a:solidFill>
              </a:rPr>
              <a:t>backend pods</a:t>
            </a:r>
            <a:endParaRPr lang="en-US" sz="1800" dirty="0"/>
          </a:p>
        </p:txBody>
      </p:sp>
      <p:sp>
        <p:nvSpPr>
          <p:cNvPr id="14" name="text-45"/>
          <p:cNvSpPr txBox="1"/>
          <p:nvPr/>
        </p:nvSpPr>
        <p:spPr>
          <a:xfrm>
            <a:off x="6464808" y="2971800"/>
            <a:ext cx="2103120" cy="548640"/>
          </a:xfrm>
          <a:prstGeom prst="rect">
            <a:avLst/>
          </a:prstGeom>
          <a:noFill/>
          <a:ln/>
        </p:spPr>
        <p:txBody>
          <a:bodyPr wrap="square" lIns="0" tIns="0" rIns="0" bIns="0" rtlCol="0" anchor="t"/>
          <a:lstStyle/>
          <a:p>
            <a:pPr indent="0" marL="0">
              <a:buNone/>
            </a:pPr>
            <a:r>
              <a:rPr lang="en-US" sz="1400" dirty="0">
                <a:solidFill>
                  <a:schemeClr val="tx2"/>
                </a:solidFill>
              </a:rPr>
              <a:t>scaled by the HPA under load</a:t>
            </a:r>
            <a:endParaRPr lang="en-US" sz="1400" dirty="0"/>
          </a:p>
        </p:txBody>
      </p:sp>
      <p:sp>
        <p:nvSpPr>
          <p:cNvPr id="15" name="card-46"/>
          <p:cNvSpPr/>
          <p:nvPr/>
        </p:nvSpPr>
        <p:spPr>
          <a:xfrm>
            <a:off x="9079992" y="1417320"/>
            <a:ext cx="2560320" cy="2331720"/>
          </a:xfrm>
          <a:prstGeom prst="roundRect">
            <a:avLst>
              <a:gd name="adj" fmla="val 3922"/>
            </a:avLst>
          </a:prstGeom>
          <a:solidFill>
            <a:schemeClr val="bg2"/>
          </a:solidFill>
          <a:ln w="9525">
            <a:solidFill>
              <a:schemeClr val="bg2"/>
            </a:solidFill>
            <a:prstDash val="solid"/>
          </a:ln>
        </p:spPr>
      </p:sp>
      <p:sp>
        <p:nvSpPr>
          <p:cNvPr id="16" name="text-47"/>
          <p:cNvSpPr txBox="1"/>
          <p:nvPr/>
        </p:nvSpPr>
        <p:spPr>
          <a:xfrm>
            <a:off x="9308592" y="1600200"/>
            <a:ext cx="2103120" cy="868680"/>
          </a:xfrm>
          <a:prstGeom prst="rect">
            <a:avLst/>
          </a:prstGeom>
          <a:noFill/>
          <a:ln/>
        </p:spPr>
        <p:txBody>
          <a:bodyPr wrap="square" lIns="0" tIns="0" rIns="0" bIns="0" rtlCol="0" anchor="ctr"/>
          <a:lstStyle/>
          <a:p>
            <a:pPr indent="0" marL="0">
              <a:buNone/>
            </a:pPr>
            <a:r>
              <a:rPr lang="en-US" sz="4800" b="1" dirty="0">
                <a:solidFill>
                  <a:schemeClr val="accent4"/>
                </a:solidFill>
                <a:latin typeface="Arial" pitchFamily="34" charset="0"/>
                <a:ea typeface="Arial" pitchFamily="34" charset="-122"/>
                <a:cs typeface="Arial" pitchFamily="34" charset="-120"/>
              </a:rPr>
              <a:t>9 → 0</a:t>
            </a:r>
            <a:endParaRPr lang="en-US" sz="4800" dirty="0"/>
          </a:p>
        </p:txBody>
      </p:sp>
      <p:sp>
        <p:nvSpPr>
          <p:cNvPr id="17" name="text-48"/>
          <p:cNvSpPr txBox="1"/>
          <p:nvPr/>
        </p:nvSpPr>
        <p:spPr>
          <a:xfrm>
            <a:off x="9308592" y="2560320"/>
            <a:ext cx="2103120" cy="365760"/>
          </a:xfrm>
          <a:prstGeom prst="rect">
            <a:avLst/>
          </a:prstGeom>
          <a:noFill/>
          <a:ln/>
        </p:spPr>
        <p:txBody>
          <a:bodyPr wrap="square" lIns="0" tIns="0" rIns="0" bIns="0" rtlCol="0" anchor="t"/>
          <a:lstStyle/>
          <a:p>
            <a:pPr indent="0" marL="0">
              <a:buNone/>
            </a:pPr>
            <a:r>
              <a:rPr lang="en-US" sz="1800" b="1" dirty="0">
                <a:solidFill>
                  <a:schemeClr val="tx1"/>
                </a:solidFill>
              </a:rPr>
              <a:t>HIGH vulnerabilities</a:t>
            </a:r>
            <a:endParaRPr lang="en-US" sz="1800" dirty="0"/>
          </a:p>
        </p:txBody>
      </p:sp>
      <p:sp>
        <p:nvSpPr>
          <p:cNvPr id="18" name="text-49"/>
          <p:cNvSpPr txBox="1"/>
          <p:nvPr/>
        </p:nvSpPr>
        <p:spPr>
          <a:xfrm>
            <a:off x="9308592" y="2971800"/>
            <a:ext cx="2103120" cy="548640"/>
          </a:xfrm>
          <a:prstGeom prst="rect">
            <a:avLst/>
          </a:prstGeom>
          <a:noFill/>
          <a:ln/>
        </p:spPr>
        <p:txBody>
          <a:bodyPr wrap="square" lIns="0" tIns="0" rIns="0" bIns="0" rtlCol="0" anchor="t"/>
          <a:lstStyle/>
          <a:p>
            <a:pPr indent="0" marL="0">
              <a:buNone/>
            </a:pPr>
            <a:r>
              <a:rPr lang="en-US" sz="1400" dirty="0">
                <a:solidFill>
                  <a:schemeClr val="tx2"/>
                </a:solidFill>
              </a:rPr>
              <a:t>found by Trivy, then fixed</a:t>
            </a:r>
            <a:endParaRPr lang="en-US" sz="1400" dirty="0"/>
          </a:p>
        </p:txBody>
      </p:sp>
      <p:sp>
        <p:nvSpPr>
          <p:cNvPr id="19" name="text-50"/>
          <p:cNvSpPr txBox="1"/>
          <p:nvPr/>
        </p:nvSpPr>
        <p:spPr>
          <a:xfrm>
            <a:off x="548640" y="4114800"/>
            <a:ext cx="3657600" cy="411480"/>
          </a:xfrm>
          <a:prstGeom prst="rect">
            <a:avLst/>
          </a:prstGeom>
          <a:noFill/>
          <a:ln/>
        </p:spPr>
        <p:txBody>
          <a:bodyPr wrap="square" lIns="0" tIns="0" rIns="0" bIns="0" rtlCol="0" anchor="t"/>
          <a:lstStyle/>
          <a:p>
            <a:pPr indent="0" marL="0">
              <a:buNone/>
            </a:pPr>
            <a:r>
              <a:rPr lang="en-US" sz="2000" b="1" dirty="0">
                <a:solidFill>
                  <a:schemeClr val="tx1"/>
                </a:solidFill>
              </a:rPr>
              <a:t>Agenda</a:t>
            </a:r>
            <a:endParaRPr lang="en-US" sz="2000" dirty="0"/>
          </a:p>
        </p:txBody>
      </p:sp>
      <p:sp>
        <p:nvSpPr>
          <p:cNvPr id="20" name="num-51"/>
          <p:cNvSpPr/>
          <p:nvPr/>
        </p:nvSpPr>
        <p:spPr>
          <a:xfrm>
            <a:off x="548640" y="4709160"/>
            <a:ext cx="502920" cy="502920"/>
          </a:xfrm>
          <a:prstGeom prst="ellipse">
            <a:avLst/>
          </a:prstGeom>
          <a:solidFill>
            <a:schemeClr val="accent1"/>
          </a:solidFill>
          <a:ln w="12700">
            <a:solidFill>
              <a:schemeClr val="accent1"/>
            </a:solidFill>
            <a:prstDash val="solid"/>
          </a:ln>
        </p:spPr>
      </p:sp>
      <p:sp>
        <p:nvSpPr>
          <p:cNvPr id="21" name="text-52"/>
          <p:cNvSpPr txBox="1"/>
          <p:nvPr/>
        </p:nvSpPr>
        <p:spPr>
          <a:xfrm>
            <a:off x="548640" y="4709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2" name="text-53"/>
          <p:cNvSpPr txBox="1"/>
          <p:nvPr/>
        </p:nvSpPr>
        <p:spPr>
          <a:xfrm>
            <a:off x="1188720" y="4709160"/>
            <a:ext cx="1486814" cy="502920"/>
          </a:xfrm>
          <a:prstGeom prst="rect">
            <a:avLst/>
          </a:prstGeom>
          <a:noFill/>
          <a:ln/>
        </p:spPr>
        <p:txBody>
          <a:bodyPr wrap="square" lIns="0" tIns="0" rIns="0" bIns="0" rtlCol="0" anchor="ctr"/>
          <a:lstStyle/>
          <a:p>
            <a:pPr indent="0" marL="0">
              <a:buNone/>
            </a:pPr>
            <a:r>
              <a:rPr lang="en-US" sz="1600" b="1" dirty="0">
                <a:solidFill>
                  <a:schemeClr val="tx1"/>
                </a:solidFill>
              </a:rPr>
              <a:t>The application</a:t>
            </a:r>
            <a:endParaRPr lang="en-US" sz="1600" dirty="0"/>
          </a:p>
        </p:txBody>
      </p:sp>
      <p:sp>
        <p:nvSpPr>
          <p:cNvPr id="23" name="num-54"/>
          <p:cNvSpPr/>
          <p:nvPr/>
        </p:nvSpPr>
        <p:spPr>
          <a:xfrm>
            <a:off x="2766974" y="4709160"/>
            <a:ext cx="502920" cy="502920"/>
          </a:xfrm>
          <a:prstGeom prst="ellipse">
            <a:avLst/>
          </a:prstGeom>
          <a:solidFill>
            <a:schemeClr val="accent1"/>
          </a:solidFill>
          <a:ln w="12700">
            <a:solidFill>
              <a:schemeClr val="accent1"/>
            </a:solidFill>
            <a:prstDash val="solid"/>
          </a:ln>
        </p:spPr>
      </p:sp>
      <p:sp>
        <p:nvSpPr>
          <p:cNvPr id="24" name="text-55"/>
          <p:cNvSpPr txBox="1"/>
          <p:nvPr/>
        </p:nvSpPr>
        <p:spPr>
          <a:xfrm>
            <a:off x="2766974" y="4709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5" name="text-56"/>
          <p:cNvSpPr txBox="1"/>
          <p:nvPr/>
        </p:nvSpPr>
        <p:spPr>
          <a:xfrm>
            <a:off x="3407054" y="4709160"/>
            <a:ext cx="1486814" cy="502920"/>
          </a:xfrm>
          <a:prstGeom prst="rect">
            <a:avLst/>
          </a:prstGeom>
          <a:noFill/>
          <a:ln/>
        </p:spPr>
        <p:txBody>
          <a:bodyPr wrap="square" lIns="0" tIns="0" rIns="0" bIns="0" rtlCol="0" anchor="ctr"/>
          <a:lstStyle/>
          <a:p>
            <a:pPr indent="0" marL="0">
              <a:buNone/>
            </a:pPr>
            <a:r>
              <a:rPr lang="en-US" sz="1600" b="1" dirty="0">
                <a:solidFill>
                  <a:schemeClr val="tx1"/>
                </a:solidFill>
              </a:rPr>
              <a:t>Architecture</a:t>
            </a:r>
            <a:endParaRPr lang="en-US" sz="1600" dirty="0"/>
          </a:p>
        </p:txBody>
      </p:sp>
      <p:sp>
        <p:nvSpPr>
          <p:cNvPr id="26" name="num-57"/>
          <p:cNvSpPr/>
          <p:nvPr/>
        </p:nvSpPr>
        <p:spPr>
          <a:xfrm>
            <a:off x="4985309" y="4709160"/>
            <a:ext cx="502920" cy="502920"/>
          </a:xfrm>
          <a:prstGeom prst="ellipse">
            <a:avLst/>
          </a:prstGeom>
          <a:solidFill>
            <a:schemeClr val="accent1"/>
          </a:solidFill>
          <a:ln w="12700">
            <a:solidFill>
              <a:schemeClr val="accent1"/>
            </a:solidFill>
            <a:prstDash val="solid"/>
          </a:ln>
        </p:spPr>
      </p:sp>
      <p:sp>
        <p:nvSpPr>
          <p:cNvPr id="27" name="text-58"/>
          <p:cNvSpPr txBox="1"/>
          <p:nvPr/>
        </p:nvSpPr>
        <p:spPr>
          <a:xfrm>
            <a:off x="4985309" y="4709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8" name="text-59"/>
          <p:cNvSpPr txBox="1"/>
          <p:nvPr/>
        </p:nvSpPr>
        <p:spPr>
          <a:xfrm>
            <a:off x="5625389" y="4709160"/>
            <a:ext cx="1486814" cy="502920"/>
          </a:xfrm>
          <a:prstGeom prst="rect">
            <a:avLst/>
          </a:prstGeom>
          <a:noFill/>
          <a:ln/>
        </p:spPr>
        <p:txBody>
          <a:bodyPr wrap="square" lIns="0" tIns="0" rIns="0" bIns="0" rtlCol="0" anchor="ctr"/>
          <a:lstStyle/>
          <a:p>
            <a:pPr indent="0" marL="0">
              <a:buNone/>
            </a:pPr>
            <a:r>
              <a:rPr lang="en-US" sz="1600" b="1" dirty="0">
                <a:solidFill>
                  <a:schemeClr val="tx1"/>
                </a:solidFill>
              </a:rPr>
              <a:t>Delivery workflow</a:t>
            </a:r>
            <a:endParaRPr lang="en-US" sz="1600" dirty="0"/>
          </a:p>
        </p:txBody>
      </p:sp>
      <p:sp>
        <p:nvSpPr>
          <p:cNvPr id="29" name="num-60"/>
          <p:cNvSpPr/>
          <p:nvPr/>
        </p:nvSpPr>
        <p:spPr>
          <a:xfrm>
            <a:off x="7203643" y="4709160"/>
            <a:ext cx="502920" cy="502920"/>
          </a:xfrm>
          <a:prstGeom prst="ellipse">
            <a:avLst/>
          </a:prstGeom>
          <a:solidFill>
            <a:schemeClr val="accent1"/>
          </a:solidFill>
          <a:ln w="12700">
            <a:solidFill>
              <a:schemeClr val="accent1"/>
            </a:solidFill>
            <a:prstDash val="solid"/>
          </a:ln>
        </p:spPr>
      </p:sp>
      <p:sp>
        <p:nvSpPr>
          <p:cNvPr id="30" name="text-61"/>
          <p:cNvSpPr txBox="1"/>
          <p:nvPr/>
        </p:nvSpPr>
        <p:spPr>
          <a:xfrm>
            <a:off x="7203643" y="4709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1" name="text-62"/>
          <p:cNvSpPr txBox="1"/>
          <p:nvPr/>
        </p:nvSpPr>
        <p:spPr>
          <a:xfrm>
            <a:off x="7843723" y="4709160"/>
            <a:ext cx="1486814" cy="502920"/>
          </a:xfrm>
          <a:prstGeom prst="rect">
            <a:avLst/>
          </a:prstGeom>
          <a:noFill/>
          <a:ln/>
        </p:spPr>
        <p:txBody>
          <a:bodyPr wrap="square" lIns="0" tIns="0" rIns="0" bIns="0" rtlCol="0" anchor="ctr"/>
          <a:lstStyle/>
          <a:p>
            <a:pPr indent="0" marL="0">
              <a:buNone/>
            </a:pPr>
            <a:r>
              <a:rPr lang="en-US" sz="1600" b="1" dirty="0">
                <a:solidFill>
                  <a:schemeClr val="tx1"/>
                </a:solidFill>
              </a:rPr>
              <a:t>Operations</a:t>
            </a:r>
            <a:endParaRPr lang="en-US" sz="1600" dirty="0"/>
          </a:p>
        </p:txBody>
      </p:sp>
      <p:sp>
        <p:nvSpPr>
          <p:cNvPr id="32" name="num-63"/>
          <p:cNvSpPr/>
          <p:nvPr/>
        </p:nvSpPr>
        <p:spPr>
          <a:xfrm>
            <a:off x="9421978" y="4709160"/>
            <a:ext cx="502920" cy="502920"/>
          </a:xfrm>
          <a:prstGeom prst="ellipse">
            <a:avLst/>
          </a:prstGeom>
          <a:solidFill>
            <a:schemeClr val="accent1"/>
          </a:solidFill>
          <a:ln w="12700">
            <a:solidFill>
              <a:schemeClr val="accent1"/>
            </a:solidFill>
            <a:prstDash val="solid"/>
          </a:ln>
        </p:spPr>
      </p:sp>
      <p:sp>
        <p:nvSpPr>
          <p:cNvPr id="33" name="text-64"/>
          <p:cNvSpPr txBox="1"/>
          <p:nvPr/>
        </p:nvSpPr>
        <p:spPr>
          <a:xfrm>
            <a:off x="9421978" y="4709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4" name="text-65"/>
          <p:cNvSpPr txBox="1"/>
          <p:nvPr/>
        </p:nvSpPr>
        <p:spPr>
          <a:xfrm>
            <a:off x="10062058" y="4709160"/>
            <a:ext cx="1486814" cy="502920"/>
          </a:xfrm>
          <a:prstGeom prst="rect">
            <a:avLst/>
          </a:prstGeom>
          <a:noFill/>
          <a:ln/>
        </p:spPr>
        <p:txBody>
          <a:bodyPr wrap="square" lIns="0" tIns="0" rIns="0" bIns="0" rtlCol="0" anchor="ctr"/>
          <a:lstStyle/>
          <a:p>
            <a:pPr indent="0" marL="0">
              <a:buNone/>
            </a:pPr>
            <a:r>
              <a:rPr lang="en-US" sz="1600" b="1" dirty="0">
                <a:solidFill>
                  <a:schemeClr val="tx1"/>
                </a:solidFill>
              </a:rPr>
              <a:t>Toward production</a:t>
            </a:r>
            <a:endParaRPr lang="en-US" sz="1600" dirty="0"/>
          </a:p>
        </p:txBody>
      </p:sp>
      <p:sp>
        <p:nvSpPr>
          <p:cNvPr id="35" name="text-66"/>
          <p:cNvSpPr txBox="1"/>
          <p:nvPr/>
        </p:nvSpPr>
        <p:spPr>
          <a:xfrm>
            <a:off x="548640" y="5577840"/>
            <a:ext cx="11091672" cy="365760"/>
          </a:xfrm>
          <a:prstGeom prst="rect">
            <a:avLst/>
          </a:prstGeom>
          <a:noFill/>
          <a:ln/>
        </p:spPr>
        <p:txBody>
          <a:bodyPr wrap="square" lIns="0" tIns="0" rIns="0" bIns="0" rtlCol="0" anchor="t"/>
          <a:lstStyle/>
          <a:p>
            <a:pPr indent="0" marL="0">
              <a:buNone/>
            </a:pPr>
            <a:r>
              <a:rPr lang="en-US" sz="1400" i="1" dirty="0">
                <a:solidFill>
                  <a:schemeClr val="tx2"/>
                </a:solidFill>
              </a:rPr>
              <a:t>All 15 demo items from the brief are covered, with screenshots in SCREENSHOTS.md.</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application</a:t>
            </a:r>
            <a:endParaRPr lang="en-US" sz="3600" dirty="0"/>
          </a:p>
        </p:txBody>
      </p:sp>
      <p:sp>
        <p:nvSpPr>
          <p:cNvPr id="3" name="shot-frame-67"/>
          <p:cNvSpPr/>
          <p:nvPr/>
        </p:nvSpPr>
        <p:spPr>
          <a:xfrm>
            <a:off x="548640" y="1371600"/>
            <a:ext cx="6766560" cy="3529584"/>
          </a:xfrm>
          <a:prstGeom prst="rect">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4" name="screenshot-68" descr="/home/cryo/Code/devops/finalProject/screenshots/01-ui-dashboard.png">    </p:cNvPr>
          <p:cNvPicPr>
            <a:picLocks noChangeAspect="1"/>
          </p:cNvPicPr>
          <p:nvPr/>
        </p:nvPicPr>
        <p:blipFill>
          <a:blip r:embed="rId1"/>
          <a:stretch>
            <a:fillRect/>
          </a:stretch>
        </p:blipFill>
        <p:spPr>
          <a:xfrm>
            <a:off x="548640" y="1371600"/>
            <a:ext cx="6766560" cy="3529584"/>
          </a:xfrm>
          <a:prstGeom prst="rect">
            <a:avLst/>
          </a:prstGeom>
        </p:spPr>
      </p:pic>
      <p:sp>
        <p:nvSpPr>
          <p:cNvPr id="5" name="text-69"/>
          <p:cNvSpPr txBox="1"/>
          <p:nvPr/>
        </p:nvSpPr>
        <p:spPr>
          <a:xfrm>
            <a:off x="548640" y="4983480"/>
            <a:ext cx="6766560" cy="274320"/>
          </a:xfrm>
          <a:prstGeom prst="rect">
            <a:avLst/>
          </a:prstGeom>
          <a:noFill/>
          <a:ln/>
        </p:spPr>
        <p:txBody>
          <a:bodyPr wrap="square" lIns="0" tIns="0" rIns="0" bIns="0" rtlCol="0" anchor="t"/>
          <a:lstStyle/>
          <a:p>
            <a:pPr indent="0" marL="0">
              <a:buNone/>
            </a:pPr>
            <a:r>
              <a:rPr lang="en-US" sz="1100" dirty="0">
                <a:solidFill>
                  <a:schemeClr val="accent6"/>
                </a:solidFill>
              </a:rPr>
              <a:t>TaskBoard running locally with Docker Compose</a:t>
            </a:r>
            <a:endParaRPr lang="en-US" sz="1100" dirty="0"/>
          </a:p>
        </p:txBody>
      </p:sp>
      <p:sp>
        <p:nvSpPr>
          <p:cNvPr id="6" name="icon-bg-70"/>
          <p:cNvSpPr/>
          <p:nvPr/>
        </p:nvSpPr>
        <p:spPr>
          <a:xfrm>
            <a:off x="7726680" y="1371600"/>
            <a:ext cx="640080" cy="640080"/>
          </a:xfrm>
          <a:prstGeom prst="ellipse">
            <a:avLst/>
          </a:prstGeom>
          <a:solidFill>
            <a:schemeClr val="accent1"/>
          </a:solidFill>
          <a:ln w="12700">
            <a:solidFill>
              <a:schemeClr val="accent1"/>
            </a:solidFill>
            <a:prstDash val="solid"/>
          </a:ln>
        </p:spPr>
      </p:sp>
      <p:pic>
        <p:nvPicPr>
          <p:cNvPr id="7" name="icon-71" descr="preencoded.png">    </p:cNvPr>
          <p:cNvPicPr>
            <a:picLocks noChangeAspect="1"/>
          </p:cNvPicPr>
          <p:nvPr/>
        </p:nvPicPr>
        <p:blipFill>
          <a:blip r:embed="rId2"/>
          <a:stretch>
            <a:fillRect/>
          </a:stretch>
        </p:blipFill>
        <p:spPr>
          <a:xfrm>
            <a:off x="7873898" y="1518818"/>
            <a:ext cx="345643" cy="345643"/>
          </a:xfrm>
          <a:prstGeom prst="rect">
            <a:avLst/>
          </a:prstGeom>
        </p:spPr>
      </p:pic>
      <p:sp>
        <p:nvSpPr>
          <p:cNvPr id="8" name="text-72"/>
          <p:cNvSpPr txBox="1"/>
          <p:nvPr/>
        </p:nvSpPr>
        <p:spPr>
          <a:xfrm>
            <a:off x="8549640" y="1371600"/>
            <a:ext cx="3090672" cy="365760"/>
          </a:xfrm>
          <a:prstGeom prst="rect">
            <a:avLst/>
          </a:prstGeom>
          <a:noFill/>
          <a:ln/>
        </p:spPr>
        <p:txBody>
          <a:bodyPr wrap="square" lIns="0" tIns="0" rIns="0" bIns="0" rtlCol="0" anchor="t"/>
          <a:lstStyle/>
          <a:p>
            <a:pPr indent="0" marL="0">
              <a:buNone/>
            </a:pPr>
            <a:r>
              <a:rPr lang="en-US" sz="1700" b="1" dirty="0">
                <a:solidFill>
                  <a:schemeClr val="tx1"/>
                </a:solidFill>
              </a:rPr>
              <a:t>React + Vite frontend</a:t>
            </a:r>
            <a:endParaRPr lang="en-US" sz="1700" dirty="0"/>
          </a:p>
        </p:txBody>
      </p:sp>
      <p:sp>
        <p:nvSpPr>
          <p:cNvPr id="9" name="text-73"/>
          <p:cNvSpPr txBox="1"/>
          <p:nvPr/>
        </p:nvSpPr>
        <p:spPr>
          <a:xfrm>
            <a:off x="8549640" y="1737360"/>
            <a:ext cx="3090672" cy="777240"/>
          </a:xfrm>
          <a:prstGeom prst="rect">
            <a:avLst/>
          </a:prstGeom>
          <a:noFill/>
          <a:ln/>
        </p:spPr>
        <p:txBody>
          <a:bodyPr wrap="square" lIns="0" tIns="0" rIns="0" bIns="0" rtlCol="0" anchor="t"/>
          <a:lstStyle/>
          <a:p>
            <a:pPr indent="0" marL="0">
              <a:buNone/>
            </a:pPr>
            <a:r>
              <a:rPr lang="en-US" sz="1400" dirty="0">
                <a:solidFill>
                  <a:schemeClr val="tx2"/>
                </a:solidFill>
              </a:rPr>
              <a:t>KPI cards, filters, task table, activity feed, create modal; responsive to phone width</a:t>
            </a:r>
            <a:endParaRPr lang="en-US" sz="1400" dirty="0"/>
          </a:p>
        </p:txBody>
      </p:sp>
      <p:sp>
        <p:nvSpPr>
          <p:cNvPr id="10" name="icon-bg-74"/>
          <p:cNvSpPr/>
          <p:nvPr/>
        </p:nvSpPr>
        <p:spPr>
          <a:xfrm>
            <a:off x="7726680" y="2560320"/>
            <a:ext cx="640080" cy="640080"/>
          </a:xfrm>
          <a:prstGeom prst="ellipse">
            <a:avLst/>
          </a:prstGeom>
          <a:solidFill>
            <a:schemeClr val="accent1"/>
          </a:solidFill>
          <a:ln w="12700">
            <a:solidFill>
              <a:schemeClr val="accent1"/>
            </a:solidFill>
            <a:prstDash val="solid"/>
          </a:ln>
        </p:spPr>
      </p:sp>
      <p:pic>
        <p:nvPicPr>
          <p:cNvPr id="11" name="icon-75" descr="preencoded.png">    </p:cNvPr>
          <p:cNvPicPr>
            <a:picLocks noChangeAspect="1"/>
          </p:cNvPicPr>
          <p:nvPr/>
        </p:nvPicPr>
        <p:blipFill>
          <a:blip r:embed="rId3"/>
          <a:stretch>
            <a:fillRect/>
          </a:stretch>
        </p:blipFill>
        <p:spPr>
          <a:xfrm>
            <a:off x="7873898" y="2707538"/>
            <a:ext cx="345643" cy="345643"/>
          </a:xfrm>
          <a:prstGeom prst="rect">
            <a:avLst/>
          </a:prstGeom>
        </p:spPr>
      </p:pic>
      <p:sp>
        <p:nvSpPr>
          <p:cNvPr id="12" name="text-76"/>
          <p:cNvSpPr txBox="1"/>
          <p:nvPr/>
        </p:nvSpPr>
        <p:spPr>
          <a:xfrm>
            <a:off x="8549640" y="2560320"/>
            <a:ext cx="3090672" cy="365760"/>
          </a:xfrm>
          <a:prstGeom prst="rect">
            <a:avLst/>
          </a:prstGeom>
          <a:noFill/>
          <a:ln/>
        </p:spPr>
        <p:txBody>
          <a:bodyPr wrap="square" lIns="0" tIns="0" rIns="0" bIns="0" rtlCol="0" anchor="t"/>
          <a:lstStyle/>
          <a:p>
            <a:pPr indent="0" marL="0">
              <a:buNone/>
            </a:pPr>
            <a:r>
              <a:rPr lang="en-US" sz="1700" b="1" dirty="0">
                <a:solidFill>
                  <a:schemeClr val="tx1"/>
                </a:solidFill>
              </a:rPr>
              <a:t>FastAPI backend</a:t>
            </a:r>
            <a:endParaRPr lang="en-US" sz="1700" dirty="0"/>
          </a:p>
        </p:txBody>
      </p:sp>
      <p:sp>
        <p:nvSpPr>
          <p:cNvPr id="13" name="text-77"/>
          <p:cNvSpPr txBox="1"/>
          <p:nvPr/>
        </p:nvSpPr>
        <p:spPr>
          <a:xfrm>
            <a:off x="8549640" y="2926080"/>
            <a:ext cx="3090672" cy="777240"/>
          </a:xfrm>
          <a:prstGeom prst="rect">
            <a:avLst/>
          </a:prstGeom>
          <a:noFill/>
          <a:ln/>
        </p:spPr>
        <p:txBody>
          <a:bodyPr wrap="square" lIns="0" tIns="0" rIns="0" bIns="0" rtlCol="0" anchor="t"/>
          <a:lstStyle/>
          <a:p>
            <a:pPr indent="0" marL="0">
              <a:buNone/>
            </a:pPr>
            <a:r>
              <a:rPr lang="en-US" sz="1400" dirty="0">
                <a:solidFill>
                  <a:schemeClr val="tx2"/>
                </a:solidFill>
              </a:rPr>
              <a:t>6 task endpoints plus /health, /ready and /metrics, with Swagger docs</a:t>
            </a:r>
            <a:endParaRPr lang="en-US" sz="1400" dirty="0"/>
          </a:p>
        </p:txBody>
      </p:sp>
      <p:sp>
        <p:nvSpPr>
          <p:cNvPr id="14" name="icon-bg-78"/>
          <p:cNvSpPr/>
          <p:nvPr/>
        </p:nvSpPr>
        <p:spPr>
          <a:xfrm>
            <a:off x="7726680" y="3749040"/>
            <a:ext cx="640080" cy="640080"/>
          </a:xfrm>
          <a:prstGeom prst="ellipse">
            <a:avLst/>
          </a:prstGeom>
          <a:solidFill>
            <a:schemeClr val="accent1"/>
          </a:solidFill>
          <a:ln w="12700">
            <a:solidFill>
              <a:schemeClr val="accent1"/>
            </a:solidFill>
            <a:prstDash val="solid"/>
          </a:ln>
        </p:spPr>
      </p:sp>
      <p:pic>
        <p:nvPicPr>
          <p:cNvPr id="15" name="icon-79" descr="preencoded.png">    </p:cNvPr>
          <p:cNvPicPr>
            <a:picLocks noChangeAspect="1"/>
          </p:cNvPicPr>
          <p:nvPr/>
        </p:nvPicPr>
        <p:blipFill>
          <a:blip r:embed="rId4"/>
          <a:stretch>
            <a:fillRect/>
          </a:stretch>
        </p:blipFill>
        <p:spPr>
          <a:xfrm>
            <a:off x="7873898" y="3896258"/>
            <a:ext cx="345643" cy="345643"/>
          </a:xfrm>
          <a:prstGeom prst="rect">
            <a:avLst/>
          </a:prstGeom>
        </p:spPr>
      </p:pic>
      <p:sp>
        <p:nvSpPr>
          <p:cNvPr id="16" name="text-80"/>
          <p:cNvSpPr txBox="1"/>
          <p:nvPr/>
        </p:nvSpPr>
        <p:spPr>
          <a:xfrm>
            <a:off x="8549640" y="3749040"/>
            <a:ext cx="3090672" cy="365760"/>
          </a:xfrm>
          <a:prstGeom prst="rect">
            <a:avLst/>
          </a:prstGeom>
          <a:noFill/>
          <a:ln/>
        </p:spPr>
        <p:txBody>
          <a:bodyPr wrap="square" lIns="0" tIns="0" rIns="0" bIns="0" rtlCol="0" anchor="t"/>
          <a:lstStyle/>
          <a:p>
            <a:pPr indent="0" marL="0">
              <a:buNone/>
            </a:pPr>
            <a:r>
              <a:rPr lang="en-US" sz="1700" b="1" dirty="0">
                <a:solidFill>
                  <a:schemeClr val="tx1"/>
                </a:solidFill>
              </a:rPr>
              <a:t>PostgreSQL + Alembic</a:t>
            </a:r>
            <a:endParaRPr lang="en-US" sz="1700" dirty="0"/>
          </a:p>
        </p:txBody>
      </p:sp>
      <p:sp>
        <p:nvSpPr>
          <p:cNvPr id="17" name="text-81"/>
          <p:cNvSpPr txBox="1"/>
          <p:nvPr/>
        </p:nvSpPr>
        <p:spPr>
          <a:xfrm>
            <a:off x="8549640" y="4114800"/>
            <a:ext cx="3090672" cy="777240"/>
          </a:xfrm>
          <a:prstGeom prst="rect">
            <a:avLst/>
          </a:prstGeom>
          <a:noFill/>
          <a:ln/>
        </p:spPr>
        <p:txBody>
          <a:bodyPr wrap="square" lIns="0" tIns="0" rIns="0" bIns="0" rtlCol="0" anchor="t"/>
          <a:lstStyle/>
          <a:p>
            <a:pPr indent="0" marL="0">
              <a:buNone/>
            </a:pPr>
            <a:r>
              <a:rPr lang="en-US" sz="1400" dirty="0">
                <a:solidFill>
                  <a:schemeClr val="tx2"/>
                </a:solidFill>
              </a:rPr>
              <a:t>SQLAlchemy models, versioned migrations, seeded demo data</a:t>
            </a:r>
            <a:endParaRPr lang="en-US" sz="1400" dirty="0"/>
          </a:p>
        </p:txBody>
      </p:sp>
      <p:sp>
        <p:nvSpPr>
          <p:cNvPr id="18" name="card-82"/>
          <p:cNvSpPr/>
          <p:nvPr/>
        </p:nvSpPr>
        <p:spPr>
          <a:xfrm>
            <a:off x="548640" y="5440680"/>
            <a:ext cx="11091672" cy="685800"/>
          </a:xfrm>
          <a:prstGeom prst="roundRect">
            <a:avLst>
              <a:gd name="adj" fmla="val 13333"/>
            </a:avLst>
          </a:prstGeom>
          <a:solidFill>
            <a:schemeClr val="bg2"/>
          </a:solidFill>
          <a:ln w="9525">
            <a:solidFill>
              <a:schemeClr val="bg2"/>
            </a:solidFill>
            <a:prstDash val="solid"/>
          </a:ln>
        </p:spPr>
      </p:sp>
      <p:sp>
        <p:nvSpPr>
          <p:cNvPr id="19" name="icon-bg-83"/>
          <p:cNvSpPr/>
          <p:nvPr/>
        </p:nvSpPr>
        <p:spPr>
          <a:xfrm>
            <a:off x="731520" y="5541264"/>
            <a:ext cx="475488" cy="475488"/>
          </a:xfrm>
          <a:prstGeom prst="ellipse">
            <a:avLst/>
          </a:prstGeom>
          <a:solidFill>
            <a:schemeClr val="accent1"/>
          </a:solidFill>
          <a:ln w="12700">
            <a:solidFill>
              <a:schemeClr val="accent1"/>
            </a:solidFill>
            <a:prstDash val="solid"/>
          </a:ln>
        </p:spPr>
      </p:sp>
      <p:pic>
        <p:nvPicPr>
          <p:cNvPr id="20" name="icon-84" descr="preencoded.png">    </p:cNvPr>
          <p:cNvPicPr>
            <a:picLocks noChangeAspect="1"/>
          </p:cNvPicPr>
          <p:nvPr/>
        </p:nvPicPr>
        <p:blipFill>
          <a:blip r:embed="rId5"/>
          <a:stretch>
            <a:fillRect/>
          </a:stretch>
        </p:blipFill>
        <p:spPr>
          <a:xfrm>
            <a:off x="840882" y="5650626"/>
            <a:ext cx="256764" cy="256764"/>
          </a:xfrm>
          <a:prstGeom prst="rect">
            <a:avLst/>
          </a:prstGeom>
        </p:spPr>
      </p:pic>
      <p:sp>
        <p:nvSpPr>
          <p:cNvPr id="21" name="text-85"/>
          <p:cNvSpPr txBox="1"/>
          <p:nvPr/>
        </p:nvSpPr>
        <p:spPr>
          <a:xfrm>
            <a:off x="1371600" y="5440680"/>
            <a:ext cx="10104120" cy="685800"/>
          </a:xfrm>
          <a:prstGeom prst="rect">
            <a:avLst/>
          </a:prstGeom>
          <a:noFill/>
          <a:ln/>
        </p:spPr>
        <p:txBody>
          <a:bodyPr wrap="square" lIns="0" tIns="0" rIns="0" bIns="0" rtlCol="0" anchor="ctr"/>
          <a:lstStyle/>
          <a:p>
            <a:pPr indent="0" marL="0">
              <a:buNone/>
            </a:pPr>
            <a:r>
              <a:rPr lang="en-US" sz="1500" b="1" dirty="0">
                <a:solidFill>
                  <a:schemeClr val="tx1"/>
                </a:solidFill>
              </a:rPr>
              <a:t>Key design choice: </a:t>
            </a:r>
            <a:pPr indent="0" marL="0">
              <a:buNone/>
            </a:pPr>
            <a:r>
              <a:rPr lang="en-US" sz="1500" dirty="0">
                <a:solidFill>
                  <a:schemeClr val="tx2"/>
                </a:solidFill>
              </a:rPr>
              <a:t>the browser only calls relative /api paths. Nginx (locally) or the Ingress (on EKS) decides where that traffic goes.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Architecture on AWS</a:t>
            </a:r>
            <a:endParaRPr lang="en-US" sz="3600" dirty="0"/>
          </a:p>
        </p:txBody>
      </p:sp>
      <p:sp>
        <p:nvSpPr>
          <p:cNvPr id="3" name="vpc"/>
          <p:cNvSpPr/>
          <p:nvPr/>
        </p:nvSpPr>
        <p:spPr>
          <a:xfrm>
            <a:off x="2468880" y="1325880"/>
            <a:ext cx="9144000" cy="4754880"/>
          </a:xfrm>
          <a:prstGeom prst="roundRect">
            <a:avLst>
              <a:gd name="adj" fmla="val 2308"/>
            </a:avLst>
          </a:prstGeom>
          <a:solidFill>
            <a:schemeClr val="bg2"/>
          </a:solidFill>
          <a:ln w="12700">
            <a:solidFill>
              <a:schemeClr val="accent1"/>
            </a:solidFill>
            <a:prstDash val="dash"/>
          </a:ln>
        </p:spPr>
      </p:sp>
      <p:pic>
        <p:nvPicPr>
          <p:cNvPr id="4" name="aws-logo" descr="preencoded.png">    </p:cNvPr>
          <p:cNvPicPr>
            <a:picLocks noChangeAspect="1"/>
          </p:cNvPicPr>
          <p:nvPr/>
        </p:nvPicPr>
        <p:blipFill>
          <a:blip r:embed="rId1"/>
          <a:stretch>
            <a:fillRect/>
          </a:stretch>
        </p:blipFill>
        <p:spPr>
          <a:xfrm>
            <a:off x="2633472" y="1417320"/>
            <a:ext cx="347472" cy="347472"/>
          </a:xfrm>
          <a:prstGeom prst="rect">
            <a:avLst/>
          </a:prstGeom>
        </p:spPr>
      </p:pic>
      <p:sp>
        <p:nvSpPr>
          <p:cNvPr id="5" name="text-86"/>
          <p:cNvSpPr txBox="1"/>
          <p:nvPr/>
        </p:nvSpPr>
        <p:spPr>
          <a:xfrm>
            <a:off x="3063240" y="1417320"/>
            <a:ext cx="5486400" cy="347472"/>
          </a:xfrm>
          <a:prstGeom prst="rect">
            <a:avLst/>
          </a:prstGeom>
          <a:noFill/>
          <a:ln/>
        </p:spPr>
        <p:txBody>
          <a:bodyPr wrap="square" lIns="0" tIns="0" rIns="0" bIns="0" rtlCol="0" anchor="ctr"/>
          <a:lstStyle/>
          <a:p>
            <a:pPr indent="0" marL="0">
              <a:buNone/>
            </a:pPr>
            <a:r>
              <a:rPr lang="en-US" sz="1300" b="1" dirty="0">
                <a:solidFill>
                  <a:schemeClr val="accent1"/>
                </a:solidFill>
              </a:rPr>
              <a:t>AWS VPC  |  ap-south-1  |  EKS 1.36</a:t>
            </a:r>
            <a:endParaRPr lang="en-US" sz="1300" dirty="0"/>
          </a:p>
        </p:txBody>
      </p:sp>
      <p:sp>
        <p:nvSpPr>
          <p:cNvPr id="6" name="box-87"/>
          <p:cNvSpPr/>
          <p:nvPr/>
        </p:nvSpPr>
        <p:spPr>
          <a:xfrm>
            <a:off x="548640" y="2697480"/>
            <a:ext cx="1463040" cy="914400"/>
          </a:xfrm>
          <a:prstGeom prst="roundRect">
            <a:avLst>
              <a:gd name="adj" fmla="val 8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7" name="node-icon-88" descr="preencoded.png">    </p:cNvPr>
          <p:cNvPicPr>
            <a:picLocks noChangeAspect="1"/>
          </p:cNvPicPr>
          <p:nvPr/>
        </p:nvPicPr>
        <p:blipFill>
          <a:blip r:embed="rId2"/>
          <a:stretch>
            <a:fillRect/>
          </a:stretch>
        </p:blipFill>
        <p:spPr>
          <a:xfrm>
            <a:off x="685800" y="2962656"/>
            <a:ext cx="384048" cy="384048"/>
          </a:xfrm>
          <a:prstGeom prst="rect">
            <a:avLst/>
          </a:prstGeom>
        </p:spPr>
      </p:pic>
      <p:sp>
        <p:nvSpPr>
          <p:cNvPr id="8" name="text-89"/>
          <p:cNvSpPr txBox="1"/>
          <p:nvPr/>
        </p:nvSpPr>
        <p:spPr>
          <a:xfrm>
            <a:off x="1188720" y="2825496"/>
            <a:ext cx="731520" cy="301752"/>
          </a:xfrm>
          <a:prstGeom prst="rect">
            <a:avLst/>
          </a:prstGeom>
          <a:noFill/>
          <a:ln/>
        </p:spPr>
        <p:txBody>
          <a:bodyPr wrap="square" lIns="0" tIns="0" rIns="0" bIns="0" rtlCol="0" anchor="t"/>
          <a:lstStyle/>
          <a:p>
            <a:pPr indent="0" marL="0">
              <a:buNone/>
            </a:pPr>
            <a:r>
              <a:rPr lang="en-US" sz="1300" b="1" dirty="0">
                <a:solidFill>
                  <a:schemeClr val="tx1"/>
                </a:solidFill>
              </a:rPr>
              <a:t>Browser</a:t>
            </a:r>
            <a:endParaRPr lang="en-US" sz="1300" dirty="0"/>
          </a:p>
        </p:txBody>
      </p:sp>
      <p:sp>
        <p:nvSpPr>
          <p:cNvPr id="9" name="text-90"/>
          <p:cNvSpPr txBox="1"/>
          <p:nvPr/>
        </p:nvSpPr>
        <p:spPr>
          <a:xfrm>
            <a:off x="1188720" y="3127248"/>
            <a:ext cx="731520" cy="411480"/>
          </a:xfrm>
          <a:prstGeom prst="rect">
            <a:avLst/>
          </a:prstGeom>
          <a:noFill/>
          <a:ln/>
        </p:spPr>
        <p:txBody>
          <a:bodyPr wrap="square" lIns="0" tIns="0" rIns="0" bIns="0" rtlCol="0" anchor="t"/>
          <a:lstStyle/>
          <a:p>
            <a:pPr indent="0" marL="0">
              <a:buNone/>
            </a:pPr>
            <a:r>
              <a:rPr lang="en-US" sz="1100" dirty="0">
                <a:solidFill>
                  <a:schemeClr val="tx2"/>
                </a:solidFill>
              </a:rPr>
              <a:t>any user</a:t>
            </a:r>
            <a:endParaRPr lang="en-US" sz="1100" dirty="0"/>
          </a:p>
        </p:txBody>
      </p:sp>
      <p:sp>
        <p:nvSpPr>
          <p:cNvPr id="10" name="box-91"/>
          <p:cNvSpPr/>
          <p:nvPr/>
        </p:nvSpPr>
        <p:spPr>
          <a:xfrm>
            <a:off x="2697480" y="2697480"/>
            <a:ext cx="1463040" cy="914400"/>
          </a:xfrm>
          <a:prstGeom prst="roundRect">
            <a:avLst>
              <a:gd name="adj" fmla="val 8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11" name="node-icon-92" descr="preencoded.png">    </p:cNvPr>
          <p:cNvPicPr>
            <a:picLocks noChangeAspect="1"/>
          </p:cNvPicPr>
          <p:nvPr/>
        </p:nvPicPr>
        <p:blipFill>
          <a:blip r:embed="rId3"/>
          <a:stretch>
            <a:fillRect/>
          </a:stretch>
        </p:blipFill>
        <p:spPr>
          <a:xfrm>
            <a:off x="2834640" y="2962656"/>
            <a:ext cx="384048" cy="384048"/>
          </a:xfrm>
          <a:prstGeom prst="rect">
            <a:avLst/>
          </a:prstGeom>
        </p:spPr>
      </p:pic>
      <p:sp>
        <p:nvSpPr>
          <p:cNvPr id="12" name="text-93"/>
          <p:cNvSpPr txBox="1"/>
          <p:nvPr/>
        </p:nvSpPr>
        <p:spPr>
          <a:xfrm>
            <a:off x="3337560" y="2825496"/>
            <a:ext cx="731520" cy="301752"/>
          </a:xfrm>
          <a:prstGeom prst="rect">
            <a:avLst/>
          </a:prstGeom>
          <a:noFill/>
          <a:ln/>
        </p:spPr>
        <p:txBody>
          <a:bodyPr wrap="square" lIns="0" tIns="0" rIns="0" bIns="0" rtlCol="0" anchor="t"/>
          <a:lstStyle/>
          <a:p>
            <a:pPr indent="0" marL="0">
              <a:buNone/>
            </a:pPr>
            <a:r>
              <a:rPr lang="en-US" sz="1300" b="1" dirty="0">
                <a:solidFill>
                  <a:schemeClr val="tx1"/>
                </a:solidFill>
              </a:rPr>
              <a:t>NLB</a:t>
            </a:r>
            <a:endParaRPr lang="en-US" sz="1300" dirty="0"/>
          </a:p>
        </p:txBody>
      </p:sp>
      <p:sp>
        <p:nvSpPr>
          <p:cNvPr id="13" name="text-94"/>
          <p:cNvSpPr txBox="1"/>
          <p:nvPr/>
        </p:nvSpPr>
        <p:spPr>
          <a:xfrm>
            <a:off x="3337560" y="3127248"/>
            <a:ext cx="731520" cy="411480"/>
          </a:xfrm>
          <a:prstGeom prst="rect">
            <a:avLst/>
          </a:prstGeom>
          <a:noFill/>
          <a:ln/>
        </p:spPr>
        <p:txBody>
          <a:bodyPr wrap="square" lIns="0" tIns="0" rIns="0" bIns="0" rtlCol="0" anchor="t"/>
          <a:lstStyle/>
          <a:p>
            <a:pPr indent="0" marL="0">
              <a:buNone/>
            </a:pPr>
            <a:r>
              <a:rPr lang="en-US" sz="1100" dirty="0">
                <a:solidFill>
                  <a:schemeClr val="tx2"/>
                </a:solidFill>
              </a:rPr>
              <a:t>public subnets</a:t>
            </a:r>
            <a:endParaRPr lang="en-US" sz="1100" dirty="0"/>
          </a:p>
        </p:txBody>
      </p:sp>
      <p:sp>
        <p:nvSpPr>
          <p:cNvPr id="14" name="box-95"/>
          <p:cNvSpPr/>
          <p:nvPr/>
        </p:nvSpPr>
        <p:spPr>
          <a:xfrm>
            <a:off x="4526280" y="1783080"/>
            <a:ext cx="1554480" cy="2743200"/>
          </a:xfrm>
          <a:prstGeom prst="roundRect">
            <a:avLst>
              <a:gd name="adj" fmla="val 4706"/>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15" name="node-icon-96" descr="preencoded.png">    </p:cNvPr>
          <p:cNvPicPr>
            <a:picLocks noChangeAspect="1"/>
          </p:cNvPicPr>
          <p:nvPr/>
        </p:nvPicPr>
        <p:blipFill>
          <a:blip r:embed="rId4"/>
          <a:stretch>
            <a:fillRect/>
          </a:stretch>
        </p:blipFill>
        <p:spPr>
          <a:xfrm>
            <a:off x="5097780" y="2011680"/>
            <a:ext cx="411480" cy="411480"/>
          </a:xfrm>
          <a:prstGeom prst="rect">
            <a:avLst/>
          </a:prstGeom>
        </p:spPr>
      </p:pic>
      <p:sp>
        <p:nvSpPr>
          <p:cNvPr id="16" name="text-97"/>
          <p:cNvSpPr txBox="1"/>
          <p:nvPr/>
        </p:nvSpPr>
        <p:spPr>
          <a:xfrm>
            <a:off x="4617720" y="2514600"/>
            <a:ext cx="1371600" cy="320040"/>
          </a:xfrm>
          <a:prstGeom prst="rect">
            <a:avLst/>
          </a:prstGeom>
          <a:noFill/>
          <a:ln/>
        </p:spPr>
        <p:txBody>
          <a:bodyPr wrap="square" lIns="0" tIns="0" rIns="0" bIns="0" rtlCol="0" anchor="t"/>
          <a:lstStyle/>
          <a:p>
            <a:pPr algn="ctr" indent="0" marL="0">
              <a:buNone/>
            </a:pPr>
            <a:r>
              <a:rPr lang="en-US" sz="1300" b="1" dirty="0">
                <a:solidFill>
                  <a:schemeClr val="tx1"/>
                </a:solidFill>
              </a:rPr>
              <a:t>ingress-nginx</a:t>
            </a:r>
            <a:endParaRPr lang="en-US" sz="1300" dirty="0"/>
          </a:p>
        </p:txBody>
      </p:sp>
      <p:sp>
        <p:nvSpPr>
          <p:cNvPr id="17" name="text-98"/>
          <p:cNvSpPr txBox="1"/>
          <p:nvPr/>
        </p:nvSpPr>
        <p:spPr>
          <a:xfrm>
            <a:off x="4617720" y="2880360"/>
            <a:ext cx="1371600" cy="1554480"/>
          </a:xfrm>
          <a:prstGeom prst="rect">
            <a:avLst/>
          </a:prstGeom>
          <a:noFill/>
          <a:ln/>
        </p:spPr>
        <p:txBody>
          <a:bodyPr wrap="square" lIns="0" tIns="0" rIns="0" bIns="0" rtlCol="0" anchor="t"/>
          <a:lstStyle/>
          <a:p>
            <a:pPr algn="ctr" indent="0" marL="0">
              <a:buNone/>
            </a:pPr>
            <a:r>
              <a:rPr lang="en-US" sz="1200" dirty="0">
                <a:solidFill>
                  <a:schemeClr val="tx2"/>
                </a:solidFill>
              </a:rPr>
              <a:t>/api → backend</a:t>
            </a:r>
            <a:endParaRPr lang="en-US" sz="1200" dirty="0"/>
          </a:p>
          <a:p>
            <a:pPr algn="ctr" indent="0" marL="0">
              <a:buNone/>
            </a:pPr>
            <a:r>
              <a:rPr lang="en-US" sz="1200" dirty="0">
                <a:solidFill>
                  <a:schemeClr val="tx2"/>
                </a:solidFill>
              </a:rPr>
              <a:t>/ → frontend</a:t>
            </a:r>
            <a:endParaRPr lang="en-US" sz="1200" dirty="0"/>
          </a:p>
        </p:txBody>
      </p:sp>
      <p:sp>
        <p:nvSpPr>
          <p:cNvPr id="18" name="box-99"/>
          <p:cNvSpPr/>
          <p:nvPr/>
        </p:nvSpPr>
        <p:spPr>
          <a:xfrm>
            <a:off x="6446520" y="1783080"/>
            <a:ext cx="2286000" cy="914400"/>
          </a:xfrm>
          <a:prstGeom prst="roundRect">
            <a:avLst>
              <a:gd name="adj" fmla="val 8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19" name="node-icon-100" descr="preencoded.png">    </p:cNvPr>
          <p:cNvPicPr>
            <a:picLocks noChangeAspect="1"/>
          </p:cNvPicPr>
          <p:nvPr/>
        </p:nvPicPr>
        <p:blipFill>
          <a:blip r:embed="rId5"/>
          <a:stretch>
            <a:fillRect/>
          </a:stretch>
        </p:blipFill>
        <p:spPr>
          <a:xfrm>
            <a:off x="6583680" y="2048256"/>
            <a:ext cx="384048" cy="384048"/>
          </a:xfrm>
          <a:prstGeom prst="rect">
            <a:avLst/>
          </a:prstGeom>
        </p:spPr>
      </p:pic>
      <p:sp>
        <p:nvSpPr>
          <p:cNvPr id="20" name="text-101"/>
          <p:cNvSpPr txBox="1"/>
          <p:nvPr/>
        </p:nvSpPr>
        <p:spPr>
          <a:xfrm>
            <a:off x="7086600" y="1911096"/>
            <a:ext cx="1554480" cy="301752"/>
          </a:xfrm>
          <a:prstGeom prst="rect">
            <a:avLst/>
          </a:prstGeom>
          <a:noFill/>
          <a:ln/>
        </p:spPr>
        <p:txBody>
          <a:bodyPr wrap="square" lIns="0" tIns="0" rIns="0" bIns="0" rtlCol="0" anchor="t"/>
          <a:lstStyle/>
          <a:p>
            <a:pPr indent="0" marL="0">
              <a:buNone/>
            </a:pPr>
            <a:r>
              <a:rPr lang="en-US" sz="1300" b="1" dirty="0">
                <a:solidFill>
                  <a:schemeClr val="tx1"/>
                </a:solidFill>
              </a:rPr>
              <a:t>Frontend x2</a:t>
            </a:r>
            <a:endParaRPr lang="en-US" sz="1300" dirty="0"/>
          </a:p>
        </p:txBody>
      </p:sp>
      <p:sp>
        <p:nvSpPr>
          <p:cNvPr id="21" name="text-102"/>
          <p:cNvSpPr txBox="1"/>
          <p:nvPr/>
        </p:nvSpPr>
        <p:spPr>
          <a:xfrm>
            <a:off x="7086600" y="2212848"/>
            <a:ext cx="1554480" cy="411480"/>
          </a:xfrm>
          <a:prstGeom prst="rect">
            <a:avLst/>
          </a:prstGeom>
          <a:noFill/>
          <a:ln/>
        </p:spPr>
        <p:txBody>
          <a:bodyPr wrap="square" lIns="0" tIns="0" rIns="0" bIns="0" rtlCol="0" anchor="t"/>
          <a:lstStyle/>
          <a:p>
            <a:pPr indent="0" marL="0">
              <a:buNone/>
            </a:pPr>
            <a:r>
              <a:rPr lang="en-US" sz="1100" dirty="0">
                <a:solidFill>
                  <a:schemeClr val="tx2"/>
                </a:solidFill>
              </a:rPr>
              <a:t>Nginx serving React</a:t>
            </a:r>
            <a:endParaRPr lang="en-US" sz="1100" dirty="0"/>
          </a:p>
        </p:txBody>
      </p:sp>
      <p:sp>
        <p:nvSpPr>
          <p:cNvPr id="22" name="box-103"/>
          <p:cNvSpPr/>
          <p:nvPr/>
        </p:nvSpPr>
        <p:spPr>
          <a:xfrm>
            <a:off x="6446520" y="3611880"/>
            <a:ext cx="2286000" cy="914400"/>
          </a:xfrm>
          <a:prstGeom prst="roundRect">
            <a:avLst>
              <a:gd name="adj" fmla="val 8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23" name="node-icon-104" descr="preencoded.png">    </p:cNvPr>
          <p:cNvPicPr>
            <a:picLocks noChangeAspect="1"/>
          </p:cNvPicPr>
          <p:nvPr/>
        </p:nvPicPr>
        <p:blipFill>
          <a:blip r:embed="rId6"/>
          <a:stretch>
            <a:fillRect/>
          </a:stretch>
        </p:blipFill>
        <p:spPr>
          <a:xfrm>
            <a:off x="6583680" y="3877056"/>
            <a:ext cx="384048" cy="384048"/>
          </a:xfrm>
          <a:prstGeom prst="rect">
            <a:avLst/>
          </a:prstGeom>
        </p:spPr>
      </p:pic>
      <p:sp>
        <p:nvSpPr>
          <p:cNvPr id="24" name="text-105"/>
          <p:cNvSpPr txBox="1"/>
          <p:nvPr/>
        </p:nvSpPr>
        <p:spPr>
          <a:xfrm>
            <a:off x="7086600" y="3739896"/>
            <a:ext cx="1554480" cy="301752"/>
          </a:xfrm>
          <a:prstGeom prst="rect">
            <a:avLst/>
          </a:prstGeom>
          <a:noFill/>
          <a:ln/>
        </p:spPr>
        <p:txBody>
          <a:bodyPr wrap="square" lIns="0" tIns="0" rIns="0" bIns="0" rtlCol="0" anchor="t"/>
          <a:lstStyle/>
          <a:p>
            <a:pPr indent="0" marL="0">
              <a:buNone/>
            </a:pPr>
            <a:r>
              <a:rPr lang="en-US" sz="1300" b="1" dirty="0">
                <a:solidFill>
                  <a:schemeClr val="tx1"/>
                </a:solidFill>
              </a:rPr>
              <a:t>Backend x2 to 6</a:t>
            </a:r>
            <a:endParaRPr lang="en-US" sz="1300" dirty="0"/>
          </a:p>
        </p:txBody>
      </p:sp>
      <p:sp>
        <p:nvSpPr>
          <p:cNvPr id="25" name="text-106"/>
          <p:cNvSpPr txBox="1"/>
          <p:nvPr/>
        </p:nvSpPr>
        <p:spPr>
          <a:xfrm>
            <a:off x="7086600" y="4041648"/>
            <a:ext cx="1554480" cy="411480"/>
          </a:xfrm>
          <a:prstGeom prst="rect">
            <a:avLst/>
          </a:prstGeom>
          <a:noFill/>
          <a:ln/>
        </p:spPr>
        <p:txBody>
          <a:bodyPr wrap="square" lIns="0" tIns="0" rIns="0" bIns="0" rtlCol="0" anchor="t"/>
          <a:lstStyle/>
          <a:p>
            <a:pPr indent="0" marL="0">
              <a:buNone/>
            </a:pPr>
            <a:r>
              <a:rPr lang="en-US" sz="1100" dirty="0">
                <a:solidFill>
                  <a:schemeClr val="tx2"/>
                </a:solidFill>
              </a:rPr>
              <a:t>FastAPI, scaled by HPA</a:t>
            </a:r>
            <a:endParaRPr lang="en-US" sz="1100" dirty="0"/>
          </a:p>
        </p:txBody>
      </p:sp>
      <p:sp>
        <p:nvSpPr>
          <p:cNvPr id="26" name="box-107"/>
          <p:cNvSpPr/>
          <p:nvPr/>
        </p:nvSpPr>
        <p:spPr>
          <a:xfrm>
            <a:off x="9144000" y="1783080"/>
            <a:ext cx="2240280" cy="914400"/>
          </a:xfrm>
          <a:prstGeom prst="roundRect">
            <a:avLst>
              <a:gd name="adj" fmla="val 8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27" name="node-icon-108" descr="preencoded.png">    </p:cNvPr>
          <p:cNvPicPr>
            <a:picLocks noChangeAspect="1"/>
          </p:cNvPicPr>
          <p:nvPr/>
        </p:nvPicPr>
        <p:blipFill>
          <a:blip r:embed="rId7"/>
          <a:stretch>
            <a:fillRect/>
          </a:stretch>
        </p:blipFill>
        <p:spPr>
          <a:xfrm>
            <a:off x="9281160" y="2048256"/>
            <a:ext cx="384048" cy="384048"/>
          </a:xfrm>
          <a:prstGeom prst="rect">
            <a:avLst/>
          </a:prstGeom>
        </p:spPr>
      </p:pic>
      <p:sp>
        <p:nvSpPr>
          <p:cNvPr id="28" name="text-109"/>
          <p:cNvSpPr txBox="1"/>
          <p:nvPr/>
        </p:nvSpPr>
        <p:spPr>
          <a:xfrm>
            <a:off x="9784080" y="1911096"/>
            <a:ext cx="1508760" cy="301752"/>
          </a:xfrm>
          <a:prstGeom prst="rect">
            <a:avLst/>
          </a:prstGeom>
          <a:noFill/>
          <a:ln/>
        </p:spPr>
        <p:txBody>
          <a:bodyPr wrap="square" lIns="0" tIns="0" rIns="0" bIns="0" rtlCol="0" anchor="t"/>
          <a:lstStyle/>
          <a:p>
            <a:pPr indent="0" marL="0">
              <a:buNone/>
            </a:pPr>
            <a:r>
              <a:rPr lang="en-US" sz="1300" b="1" dirty="0">
                <a:solidFill>
                  <a:schemeClr val="tx1"/>
                </a:solidFill>
              </a:rPr>
              <a:t>Prometheus</a:t>
            </a:r>
            <a:endParaRPr lang="en-US" sz="1300" dirty="0"/>
          </a:p>
        </p:txBody>
      </p:sp>
      <p:sp>
        <p:nvSpPr>
          <p:cNvPr id="29" name="text-110"/>
          <p:cNvSpPr txBox="1"/>
          <p:nvPr/>
        </p:nvSpPr>
        <p:spPr>
          <a:xfrm>
            <a:off x="9784080" y="2212848"/>
            <a:ext cx="1508760" cy="411480"/>
          </a:xfrm>
          <a:prstGeom prst="rect">
            <a:avLst/>
          </a:prstGeom>
          <a:noFill/>
          <a:ln/>
        </p:spPr>
        <p:txBody>
          <a:bodyPr wrap="square" lIns="0" tIns="0" rIns="0" bIns="0" rtlCol="0" anchor="t"/>
          <a:lstStyle/>
          <a:p>
            <a:pPr indent="0" marL="0">
              <a:buNone/>
            </a:pPr>
            <a:r>
              <a:rPr lang="en-US" sz="1100" dirty="0">
                <a:solidFill>
                  <a:schemeClr val="tx2"/>
                </a:solidFill>
              </a:rPr>
              <a:t>+ Grafana dashboards</a:t>
            </a:r>
            <a:endParaRPr lang="en-US" sz="1100" dirty="0"/>
          </a:p>
        </p:txBody>
      </p:sp>
      <p:sp>
        <p:nvSpPr>
          <p:cNvPr id="30" name="box-111"/>
          <p:cNvSpPr/>
          <p:nvPr/>
        </p:nvSpPr>
        <p:spPr>
          <a:xfrm>
            <a:off x="9144000" y="3611880"/>
            <a:ext cx="2240280" cy="914400"/>
          </a:xfrm>
          <a:prstGeom prst="roundRect">
            <a:avLst>
              <a:gd name="adj" fmla="val 8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31" name="node-icon-112" descr="preencoded.png">    </p:cNvPr>
          <p:cNvPicPr>
            <a:picLocks noChangeAspect="1"/>
          </p:cNvPicPr>
          <p:nvPr/>
        </p:nvPicPr>
        <p:blipFill>
          <a:blip r:embed="rId8"/>
          <a:stretch>
            <a:fillRect/>
          </a:stretch>
        </p:blipFill>
        <p:spPr>
          <a:xfrm>
            <a:off x="9281160" y="3877056"/>
            <a:ext cx="384048" cy="384048"/>
          </a:xfrm>
          <a:prstGeom prst="rect">
            <a:avLst/>
          </a:prstGeom>
        </p:spPr>
      </p:pic>
      <p:sp>
        <p:nvSpPr>
          <p:cNvPr id="32" name="text-113"/>
          <p:cNvSpPr txBox="1"/>
          <p:nvPr/>
        </p:nvSpPr>
        <p:spPr>
          <a:xfrm>
            <a:off x="9784080" y="3739896"/>
            <a:ext cx="1508760" cy="301752"/>
          </a:xfrm>
          <a:prstGeom prst="rect">
            <a:avLst/>
          </a:prstGeom>
          <a:noFill/>
          <a:ln/>
        </p:spPr>
        <p:txBody>
          <a:bodyPr wrap="square" lIns="0" tIns="0" rIns="0" bIns="0" rtlCol="0" anchor="t"/>
          <a:lstStyle/>
          <a:p>
            <a:pPr indent="0" marL="0">
              <a:buNone/>
            </a:pPr>
            <a:r>
              <a:rPr lang="en-US" sz="1300" b="1" dirty="0">
                <a:solidFill>
                  <a:schemeClr val="tx1"/>
                </a:solidFill>
              </a:rPr>
              <a:t>PostgreSQL</a:t>
            </a:r>
            <a:endParaRPr lang="en-US" sz="1300" dirty="0"/>
          </a:p>
        </p:txBody>
      </p:sp>
      <p:sp>
        <p:nvSpPr>
          <p:cNvPr id="33" name="text-114"/>
          <p:cNvSpPr txBox="1"/>
          <p:nvPr/>
        </p:nvSpPr>
        <p:spPr>
          <a:xfrm>
            <a:off x="9784080" y="4041648"/>
            <a:ext cx="1508760" cy="411480"/>
          </a:xfrm>
          <a:prstGeom prst="rect">
            <a:avLst/>
          </a:prstGeom>
          <a:noFill/>
          <a:ln/>
        </p:spPr>
        <p:txBody>
          <a:bodyPr wrap="square" lIns="0" tIns="0" rIns="0" bIns="0" rtlCol="0" anchor="t"/>
          <a:lstStyle/>
          <a:p>
            <a:pPr indent="0" marL="0">
              <a:buNone/>
            </a:pPr>
            <a:r>
              <a:rPr lang="en-US" sz="1100" dirty="0">
                <a:solidFill>
                  <a:schemeClr val="tx2"/>
                </a:solidFill>
              </a:rPr>
              <a:t>StatefulSet, EBS gp3</a:t>
            </a:r>
            <a:endParaRPr lang="en-US" sz="1100" dirty="0"/>
          </a:p>
        </p:txBody>
      </p:sp>
      <p:sp>
        <p:nvSpPr>
          <p:cNvPr id="34" name="box-115"/>
          <p:cNvSpPr/>
          <p:nvPr/>
        </p:nvSpPr>
        <p:spPr>
          <a:xfrm>
            <a:off x="548640" y="4983480"/>
            <a:ext cx="1463040" cy="868680"/>
          </a:xfrm>
          <a:prstGeom prst="roundRect">
            <a:avLst>
              <a:gd name="adj" fmla="val 8421"/>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35" name="node-icon-116" descr="preencoded.png">    </p:cNvPr>
          <p:cNvPicPr>
            <a:picLocks noChangeAspect="1"/>
          </p:cNvPicPr>
          <p:nvPr/>
        </p:nvPicPr>
        <p:blipFill>
          <a:blip r:embed="rId9"/>
          <a:stretch>
            <a:fillRect/>
          </a:stretch>
        </p:blipFill>
        <p:spPr>
          <a:xfrm>
            <a:off x="685800" y="5225796"/>
            <a:ext cx="384048" cy="384048"/>
          </a:xfrm>
          <a:prstGeom prst="rect">
            <a:avLst/>
          </a:prstGeom>
        </p:spPr>
      </p:pic>
      <p:sp>
        <p:nvSpPr>
          <p:cNvPr id="36" name="text-117"/>
          <p:cNvSpPr txBox="1"/>
          <p:nvPr/>
        </p:nvSpPr>
        <p:spPr>
          <a:xfrm>
            <a:off x="1188720" y="5111496"/>
            <a:ext cx="731520" cy="301752"/>
          </a:xfrm>
          <a:prstGeom prst="rect">
            <a:avLst/>
          </a:prstGeom>
          <a:noFill/>
          <a:ln/>
        </p:spPr>
        <p:txBody>
          <a:bodyPr wrap="square" lIns="0" tIns="0" rIns="0" bIns="0" rtlCol="0" anchor="t"/>
          <a:lstStyle/>
          <a:p>
            <a:pPr indent="0" marL="0">
              <a:buNone/>
            </a:pPr>
            <a:r>
              <a:rPr lang="en-US" sz="1300" b="1" dirty="0">
                <a:solidFill>
                  <a:schemeClr val="tx1"/>
                </a:solidFill>
              </a:rPr>
              <a:t>GHCR</a:t>
            </a:r>
            <a:endParaRPr lang="en-US" sz="1300" dirty="0"/>
          </a:p>
        </p:txBody>
      </p:sp>
      <p:sp>
        <p:nvSpPr>
          <p:cNvPr id="37" name="text-118"/>
          <p:cNvSpPr txBox="1"/>
          <p:nvPr/>
        </p:nvSpPr>
        <p:spPr>
          <a:xfrm>
            <a:off x="1188720" y="5413248"/>
            <a:ext cx="731520" cy="365760"/>
          </a:xfrm>
          <a:prstGeom prst="rect">
            <a:avLst/>
          </a:prstGeom>
          <a:noFill/>
          <a:ln/>
        </p:spPr>
        <p:txBody>
          <a:bodyPr wrap="square" lIns="0" tIns="0" rIns="0" bIns="0" rtlCol="0" anchor="t"/>
          <a:lstStyle/>
          <a:p>
            <a:pPr indent="0" marL="0">
              <a:buNone/>
            </a:pPr>
            <a:r>
              <a:rPr lang="en-US" sz="1100" dirty="0">
                <a:solidFill>
                  <a:schemeClr val="tx2"/>
                </a:solidFill>
              </a:rPr>
              <a:t>app images</a:t>
            </a:r>
            <a:endParaRPr lang="en-US" sz="1100" dirty="0"/>
          </a:p>
        </p:txBody>
      </p:sp>
      <p:sp>
        <p:nvSpPr>
          <p:cNvPr id="38" name="box-119"/>
          <p:cNvSpPr/>
          <p:nvPr/>
        </p:nvSpPr>
        <p:spPr>
          <a:xfrm>
            <a:off x="2697480" y="4983480"/>
            <a:ext cx="8686800" cy="868680"/>
          </a:xfrm>
          <a:prstGeom prst="roundRect">
            <a:avLst>
              <a:gd name="adj" fmla="val 8421"/>
            </a:avLst>
          </a:prstGeom>
          <a:solidFill>
            <a:schemeClr val="bg1"/>
          </a:solidFill>
          <a:ln w="12700">
            <a:solidFill>
              <a:schemeClr val="accent6"/>
            </a:solidFill>
            <a:prstDash val="solid"/>
          </a:ln>
          <a:effectLst>
            <a:outerShdw sx="100000" sy="100000" kx="0" ky="0" algn="bl" rotWithShape="0" blurRad="101600" dist="25400" dir="5400000">
              <a:srgbClr val="0F172A">
                <a:alpha val="12000"/>
              </a:srgbClr>
            </a:outerShdw>
          </a:effectLst>
        </p:spPr>
      </p:sp>
      <p:pic>
        <p:nvPicPr>
          <p:cNvPr id="39" name="nodes-icon" descr="preencoded.png">    </p:cNvPr>
          <p:cNvPicPr>
            <a:picLocks noChangeAspect="1"/>
          </p:cNvPicPr>
          <p:nvPr/>
        </p:nvPicPr>
        <p:blipFill>
          <a:blip r:embed="rId10"/>
          <a:stretch>
            <a:fillRect/>
          </a:stretch>
        </p:blipFill>
        <p:spPr>
          <a:xfrm>
            <a:off x="2834640" y="5221224"/>
            <a:ext cx="384048" cy="384048"/>
          </a:xfrm>
          <a:prstGeom prst="rect">
            <a:avLst/>
          </a:prstGeom>
        </p:spPr>
      </p:pic>
      <p:sp>
        <p:nvSpPr>
          <p:cNvPr id="40" name="text-120"/>
          <p:cNvSpPr txBox="1"/>
          <p:nvPr/>
        </p:nvSpPr>
        <p:spPr>
          <a:xfrm>
            <a:off x="3337560" y="5047488"/>
            <a:ext cx="7955280" cy="749808"/>
          </a:xfrm>
          <a:prstGeom prst="rect">
            <a:avLst/>
          </a:prstGeom>
          <a:noFill/>
          <a:ln/>
        </p:spPr>
        <p:txBody>
          <a:bodyPr wrap="square" lIns="0" tIns="0" rIns="0" bIns="0" rtlCol="0" anchor="ctr"/>
          <a:lstStyle/>
          <a:p>
            <a:pPr indent="0" marL="0">
              <a:buNone/>
            </a:pPr>
            <a:r>
              <a:rPr lang="en-US" sz="1300" b="1" dirty="0">
                <a:solidFill>
                  <a:schemeClr val="tx1"/>
                </a:solidFill>
              </a:rPr>
              <a:t>3 × t3.medium worker nodes</a:t>
            </a:r>
            <a:endParaRPr lang="en-US" sz="1300" dirty="0"/>
          </a:p>
          <a:p>
            <a:pPr indent="0" marL="0">
              <a:buNone/>
            </a:pPr>
            <a:r>
              <a:rPr lang="en-US" sz="1100" dirty="0">
                <a:solidFill>
                  <a:schemeClr val="tx2"/>
                </a:solidFill>
              </a:rPr>
              <a:t>private subnets in 2 AZs  |  images pulled through the NAT gateway  |  EBS CSI + metrics-server add-ons</a:t>
            </a:r>
            <a:endParaRPr lang="en-US" sz="1300" dirty="0"/>
          </a:p>
        </p:txBody>
      </p:sp>
      <p:sp>
        <p:nvSpPr>
          <p:cNvPr id="41" name="arrow-121"/>
          <p:cNvSpPr/>
          <p:nvPr/>
        </p:nvSpPr>
        <p:spPr>
          <a:xfrm>
            <a:off x="2011680" y="3154680"/>
            <a:ext cx="685800" cy="0"/>
          </a:xfrm>
          <a:prstGeom prst="line">
            <a:avLst/>
          </a:prstGeom>
          <a:noFill/>
          <a:ln w="19050">
            <a:solidFill>
              <a:schemeClr val="accent6"/>
            </a:solidFill>
            <a:prstDash val="solid"/>
            <a:tailEnd type="triangle"/>
          </a:ln>
        </p:spPr>
      </p:sp>
      <p:sp>
        <p:nvSpPr>
          <p:cNvPr id="42" name="arrow-122"/>
          <p:cNvSpPr/>
          <p:nvPr/>
        </p:nvSpPr>
        <p:spPr>
          <a:xfrm>
            <a:off x="4160520" y="3154680"/>
            <a:ext cx="365760" cy="0"/>
          </a:xfrm>
          <a:prstGeom prst="line">
            <a:avLst/>
          </a:prstGeom>
          <a:noFill/>
          <a:ln w="19050">
            <a:solidFill>
              <a:schemeClr val="accent6"/>
            </a:solidFill>
            <a:prstDash val="solid"/>
            <a:tailEnd type="triangle"/>
          </a:ln>
        </p:spPr>
      </p:sp>
      <p:sp>
        <p:nvSpPr>
          <p:cNvPr id="43" name="arrow-123"/>
          <p:cNvSpPr/>
          <p:nvPr/>
        </p:nvSpPr>
        <p:spPr>
          <a:xfrm>
            <a:off x="6080760" y="2240280"/>
            <a:ext cx="365760" cy="0"/>
          </a:xfrm>
          <a:prstGeom prst="line">
            <a:avLst/>
          </a:prstGeom>
          <a:noFill/>
          <a:ln w="19050">
            <a:solidFill>
              <a:schemeClr val="accent6"/>
            </a:solidFill>
            <a:prstDash val="solid"/>
            <a:tailEnd type="triangle"/>
          </a:ln>
        </p:spPr>
      </p:sp>
      <p:sp>
        <p:nvSpPr>
          <p:cNvPr id="44" name="arrow-124"/>
          <p:cNvSpPr/>
          <p:nvPr/>
        </p:nvSpPr>
        <p:spPr>
          <a:xfrm>
            <a:off x="6080760" y="4069080"/>
            <a:ext cx="365760" cy="0"/>
          </a:xfrm>
          <a:prstGeom prst="line">
            <a:avLst/>
          </a:prstGeom>
          <a:noFill/>
          <a:ln w="19050">
            <a:solidFill>
              <a:schemeClr val="accent6"/>
            </a:solidFill>
            <a:prstDash val="solid"/>
            <a:tailEnd type="triangle"/>
          </a:ln>
        </p:spPr>
      </p:sp>
      <p:sp>
        <p:nvSpPr>
          <p:cNvPr id="45" name="arrow-125"/>
          <p:cNvSpPr/>
          <p:nvPr/>
        </p:nvSpPr>
        <p:spPr>
          <a:xfrm>
            <a:off x="8732520" y="4069080"/>
            <a:ext cx="411480" cy="0"/>
          </a:xfrm>
          <a:prstGeom prst="line">
            <a:avLst/>
          </a:prstGeom>
          <a:noFill/>
          <a:ln w="19050">
            <a:solidFill>
              <a:schemeClr val="accent6"/>
            </a:solidFill>
            <a:prstDash val="solid"/>
            <a:tailEnd type="triangle"/>
          </a:ln>
        </p:spPr>
      </p:sp>
      <p:sp>
        <p:nvSpPr>
          <p:cNvPr id="46" name="scrape-1"/>
          <p:cNvSpPr/>
          <p:nvPr/>
        </p:nvSpPr>
        <p:spPr>
          <a:xfrm>
            <a:off x="9418320" y="2697480"/>
            <a:ext cx="0" cy="457200"/>
          </a:xfrm>
          <a:prstGeom prst="line">
            <a:avLst/>
          </a:prstGeom>
          <a:noFill/>
          <a:ln w="19050">
            <a:solidFill>
              <a:schemeClr val="accent6"/>
            </a:solidFill>
            <a:prstDash val="dash"/>
          </a:ln>
        </p:spPr>
      </p:sp>
      <p:sp>
        <p:nvSpPr>
          <p:cNvPr id="47" name="scrape-2"/>
          <p:cNvSpPr/>
          <p:nvPr/>
        </p:nvSpPr>
        <p:spPr>
          <a:xfrm>
            <a:off x="7589520" y="3154680"/>
            <a:ext cx="1828800" cy="0"/>
          </a:xfrm>
          <a:prstGeom prst="line">
            <a:avLst/>
          </a:prstGeom>
          <a:noFill/>
          <a:ln w="19050">
            <a:solidFill>
              <a:schemeClr val="accent6"/>
            </a:solidFill>
            <a:prstDash val="dash"/>
          </a:ln>
        </p:spPr>
      </p:sp>
      <p:sp>
        <p:nvSpPr>
          <p:cNvPr id="48" name="scrape-3"/>
          <p:cNvSpPr/>
          <p:nvPr/>
        </p:nvSpPr>
        <p:spPr>
          <a:xfrm>
            <a:off x="7589520" y="3154680"/>
            <a:ext cx="0" cy="457200"/>
          </a:xfrm>
          <a:prstGeom prst="line">
            <a:avLst/>
          </a:prstGeom>
          <a:noFill/>
          <a:ln w="19050">
            <a:solidFill>
              <a:schemeClr val="accent6"/>
            </a:solidFill>
            <a:prstDash val="dash"/>
            <a:tailEnd type="triangle"/>
          </a:ln>
        </p:spPr>
      </p:sp>
      <p:sp>
        <p:nvSpPr>
          <p:cNvPr id="49" name="arrow-126"/>
          <p:cNvSpPr/>
          <p:nvPr/>
        </p:nvSpPr>
        <p:spPr>
          <a:xfrm>
            <a:off x="2011680" y="5417820"/>
            <a:ext cx="685800" cy="0"/>
          </a:xfrm>
          <a:prstGeom prst="line">
            <a:avLst/>
          </a:prstGeom>
          <a:noFill/>
          <a:ln w="19050">
            <a:solidFill>
              <a:schemeClr val="accent6"/>
            </a:solidFill>
            <a:prstDash val="solid"/>
            <a:tailEnd type="triangle"/>
          </a:ln>
        </p:spPr>
      </p:sp>
      <p:sp>
        <p:nvSpPr>
          <p:cNvPr id="50" name="text-127"/>
          <p:cNvSpPr txBox="1"/>
          <p:nvPr/>
        </p:nvSpPr>
        <p:spPr>
          <a:xfrm>
            <a:off x="7726680" y="2862072"/>
            <a:ext cx="1463040" cy="256032"/>
          </a:xfrm>
          <a:prstGeom prst="rect">
            <a:avLst/>
          </a:prstGeom>
          <a:noFill/>
          <a:ln/>
        </p:spPr>
        <p:txBody>
          <a:bodyPr wrap="square" lIns="0" tIns="0" rIns="0" bIns="0" rtlCol="0" anchor="t"/>
          <a:lstStyle/>
          <a:p>
            <a:pPr indent="0" marL="0">
              <a:buNone/>
            </a:pPr>
            <a:r>
              <a:rPr lang="en-US" sz="1000" i="1" dirty="0">
                <a:solidFill>
                  <a:schemeClr val="accent6"/>
                </a:solidFill>
              </a:rPr>
              <a:t>scrapes /metrics</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 backend built to be operated</a:t>
            </a:r>
            <a:endParaRPr lang="en-US" sz="3600" dirty="0"/>
          </a:p>
        </p:txBody>
      </p:sp>
      <p:graphicFrame>
        <p:nvGraphicFramePr>
          <p:cNvPr id="6" name="api-table"/>
          <p:cNvGraphicFramePr>
            <a:graphicFrameLocks noGrp="1"/>
          </p:cNvGraphicFramePr>
          <p:nvPr>
            <p:extLst>
              <p:ext uri="{D42A27DB-BD31-4B8C-83A1-F6EECF244321}">
                <p14:modId xmlns:p14="http://schemas.microsoft.com/office/powerpoint/2010/main" val="1579011935"/>
              </p:ext>
            </p:extLst>
          </p:nvPr>
        </p:nvGraphicFramePr>
        <p:xfrm>
          <a:off x="548640" y="1371600"/>
          <a:ext cx="6126480" cy="914400"/>
        </p:xfrm>
        <a:graphic>
          <a:graphicData uri="http://schemas.openxmlformats.org/drawingml/2006/table">
            <a:tbl>
              <a:tblPr/>
              <a:tblGrid>
                <a:gridCol w="1005840"/>
                <a:gridCol w="2103120"/>
                <a:gridCol w="3017520"/>
              </a:tblGrid>
              <a:tr h="42976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Path</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/api/tasks</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List, filter by status or priority</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/api/tasks/{id}</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task</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/api/tasks</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Create (validated, 201)</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PUT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/api/tasks/{id}</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Partial update</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DELETE</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/api/tasks/{id}</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Delete (204)</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/api/tasks/stats</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Numbers for the KPI cards</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/docs</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Swagger UI</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4" name="card-128"/>
          <p:cNvSpPr/>
          <p:nvPr/>
        </p:nvSpPr>
        <p:spPr>
          <a:xfrm>
            <a:off x="548640" y="5074920"/>
            <a:ext cx="6126480" cy="685800"/>
          </a:xfrm>
          <a:prstGeom prst="roundRect">
            <a:avLst>
              <a:gd name="adj" fmla="val 13333"/>
            </a:avLst>
          </a:prstGeom>
          <a:solidFill>
            <a:schemeClr val="bg2"/>
          </a:solidFill>
          <a:ln w="9525">
            <a:solidFill>
              <a:schemeClr val="bg2"/>
            </a:solidFill>
            <a:prstDash val="solid"/>
          </a:ln>
        </p:spPr>
      </p:sp>
      <p:sp>
        <p:nvSpPr>
          <p:cNvPr id="5" name="icon-bg-129"/>
          <p:cNvSpPr/>
          <p:nvPr/>
        </p:nvSpPr>
        <p:spPr>
          <a:xfrm>
            <a:off x="713232" y="5184648"/>
            <a:ext cx="457200" cy="457200"/>
          </a:xfrm>
          <a:prstGeom prst="ellipse">
            <a:avLst/>
          </a:prstGeom>
          <a:solidFill>
            <a:schemeClr val="accent2"/>
          </a:solidFill>
          <a:ln w="12700">
            <a:solidFill>
              <a:schemeClr val="accent2"/>
            </a:solidFill>
            <a:prstDash val="solid"/>
          </a:ln>
        </p:spPr>
      </p:sp>
      <p:pic>
        <p:nvPicPr>
          <p:cNvPr id="6" name="icon-130" descr="preencoded.png">    </p:cNvPr>
          <p:cNvPicPr>
            <a:picLocks noChangeAspect="1"/>
          </p:cNvPicPr>
          <p:nvPr/>
        </p:nvPicPr>
        <p:blipFill>
          <a:blip r:embed="rId1"/>
          <a:stretch>
            <a:fillRect/>
          </a:stretch>
        </p:blipFill>
        <p:spPr>
          <a:xfrm>
            <a:off x="818388" y="5289804"/>
            <a:ext cx="246888" cy="246888"/>
          </a:xfrm>
          <a:prstGeom prst="rect">
            <a:avLst/>
          </a:prstGeom>
        </p:spPr>
      </p:pic>
      <p:sp>
        <p:nvSpPr>
          <p:cNvPr id="7" name="text-131"/>
          <p:cNvSpPr txBox="1"/>
          <p:nvPr/>
        </p:nvSpPr>
        <p:spPr>
          <a:xfrm>
            <a:off x="1325880" y="5074920"/>
            <a:ext cx="5257800" cy="685800"/>
          </a:xfrm>
          <a:prstGeom prst="rect">
            <a:avLst/>
          </a:prstGeom>
          <a:noFill/>
          <a:ln/>
        </p:spPr>
        <p:txBody>
          <a:bodyPr wrap="square" lIns="0" tIns="0" rIns="0" bIns="0" rtlCol="0" anchor="ctr"/>
          <a:lstStyle/>
          <a:p>
            <a:pPr indent="0" marL="0">
              <a:buNone/>
            </a:pPr>
            <a:r>
              <a:rPr lang="en-US" sz="1500" b="1" dirty="0">
                <a:solidFill>
                  <a:schemeClr val="tx1"/>
                </a:solidFill>
              </a:rPr>
              <a:t>10 pytest tests </a:t>
            </a:r>
            <a:pPr indent="0" marL="0">
              <a:buNone/>
            </a:pPr>
            <a:r>
              <a:rPr lang="en-US" sz="1500" dirty="0">
                <a:solidFill>
                  <a:schemeClr val="tx2"/>
                </a:solidFill>
              </a:rPr>
              <a:t>on in-memory SQLite, so CI needs no database</a:t>
            </a:r>
            <a:endParaRPr lang="en-US" sz="1500" dirty="0"/>
          </a:p>
        </p:txBody>
      </p:sp>
      <p:sp>
        <p:nvSpPr>
          <p:cNvPr id="8" name="card-132"/>
          <p:cNvSpPr/>
          <p:nvPr/>
        </p:nvSpPr>
        <p:spPr>
          <a:xfrm>
            <a:off x="6949440" y="1371600"/>
            <a:ext cx="2208276" cy="2057400"/>
          </a:xfrm>
          <a:prstGeom prst="roundRect">
            <a:avLst>
              <a:gd name="adj" fmla="val 4444"/>
            </a:avLst>
          </a:prstGeom>
          <a:solidFill>
            <a:schemeClr val="bg2"/>
          </a:solidFill>
          <a:ln w="9525">
            <a:solidFill>
              <a:schemeClr val="bg2"/>
            </a:solidFill>
            <a:prstDash val="solid"/>
          </a:ln>
        </p:spPr>
      </p:sp>
      <p:sp>
        <p:nvSpPr>
          <p:cNvPr id="9" name="icon-bg-133"/>
          <p:cNvSpPr/>
          <p:nvPr/>
        </p:nvSpPr>
        <p:spPr>
          <a:xfrm>
            <a:off x="7132320" y="1554480"/>
            <a:ext cx="502920" cy="502920"/>
          </a:xfrm>
          <a:prstGeom prst="ellipse">
            <a:avLst/>
          </a:prstGeom>
          <a:solidFill>
            <a:schemeClr val="accent1"/>
          </a:solidFill>
          <a:ln w="12700">
            <a:solidFill>
              <a:schemeClr val="accent1"/>
            </a:solidFill>
            <a:prstDash val="solid"/>
          </a:ln>
        </p:spPr>
      </p:sp>
      <p:pic>
        <p:nvPicPr>
          <p:cNvPr id="10" name="icon-134" descr="preencoded.png">    </p:cNvPr>
          <p:cNvPicPr>
            <a:picLocks noChangeAspect="1"/>
          </p:cNvPicPr>
          <p:nvPr/>
        </p:nvPicPr>
        <p:blipFill>
          <a:blip r:embed="rId2"/>
          <a:stretch>
            <a:fillRect/>
          </a:stretch>
        </p:blipFill>
        <p:spPr>
          <a:xfrm>
            <a:off x="7247992" y="1670152"/>
            <a:ext cx="271577" cy="271577"/>
          </a:xfrm>
          <a:prstGeom prst="rect">
            <a:avLst/>
          </a:prstGeom>
        </p:spPr>
      </p:pic>
      <p:sp>
        <p:nvSpPr>
          <p:cNvPr id="11" name="text-135"/>
          <p:cNvSpPr txBox="1"/>
          <p:nvPr/>
        </p:nvSpPr>
        <p:spPr>
          <a:xfrm>
            <a:off x="7754112" y="1554480"/>
            <a:ext cx="1293876" cy="27432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/health</a:t>
            </a:r>
            <a:endParaRPr lang="en-US" sz="1600" dirty="0"/>
          </a:p>
        </p:txBody>
      </p:sp>
      <p:sp>
        <p:nvSpPr>
          <p:cNvPr id="12" name="text-136"/>
          <p:cNvSpPr txBox="1"/>
          <p:nvPr/>
        </p:nvSpPr>
        <p:spPr>
          <a:xfrm>
            <a:off x="7754112" y="1828800"/>
            <a:ext cx="1293876" cy="256032"/>
          </a:xfrm>
          <a:prstGeom prst="rect">
            <a:avLst/>
          </a:prstGeom>
          <a:noFill/>
          <a:ln/>
        </p:spPr>
        <p:txBody>
          <a:bodyPr wrap="square" lIns="0" tIns="0" rIns="0" bIns="0" rtlCol="0" anchor="t"/>
          <a:lstStyle/>
          <a:p>
            <a:pPr indent="0" marL="0">
              <a:buNone/>
            </a:pPr>
            <a:r>
              <a:rPr lang="en-US" sz="1200" b="1" dirty="0">
                <a:solidFill>
                  <a:schemeClr val="accent1"/>
                </a:solidFill>
              </a:rPr>
              <a:t>Liveness</a:t>
            </a:r>
            <a:endParaRPr lang="en-US" sz="1200" dirty="0"/>
          </a:p>
        </p:txBody>
      </p:sp>
      <p:sp>
        <p:nvSpPr>
          <p:cNvPr id="13" name="text-137"/>
          <p:cNvSpPr txBox="1"/>
          <p:nvPr/>
        </p:nvSpPr>
        <p:spPr>
          <a:xfrm>
            <a:off x="7132320" y="2240280"/>
            <a:ext cx="1842516" cy="1097280"/>
          </a:xfrm>
          <a:prstGeom prst="rect">
            <a:avLst/>
          </a:prstGeom>
          <a:noFill/>
          <a:ln/>
        </p:spPr>
        <p:txBody>
          <a:bodyPr wrap="square" lIns="0" tIns="0" rIns="0" bIns="0" rtlCol="0" anchor="t"/>
          <a:lstStyle/>
          <a:p>
            <a:pPr indent="0" marL="0">
              <a:buNone/>
            </a:pPr>
            <a:r>
              <a:rPr lang="en-US" sz="1400" dirty="0">
                <a:solidFill>
                  <a:schemeClr val="tx2"/>
                </a:solidFill>
              </a:rPr>
              <a:t>Is the process alive? If not, Kubernetes restarts the container.</a:t>
            </a:r>
            <a:endParaRPr lang="en-US" sz="1400" dirty="0"/>
          </a:p>
        </p:txBody>
      </p:sp>
      <p:sp>
        <p:nvSpPr>
          <p:cNvPr id="14" name="card-138"/>
          <p:cNvSpPr/>
          <p:nvPr/>
        </p:nvSpPr>
        <p:spPr>
          <a:xfrm>
            <a:off x="9432036" y="1371600"/>
            <a:ext cx="2208276" cy="2057400"/>
          </a:xfrm>
          <a:prstGeom prst="roundRect">
            <a:avLst>
              <a:gd name="adj" fmla="val 4444"/>
            </a:avLst>
          </a:prstGeom>
          <a:solidFill>
            <a:schemeClr val="bg2"/>
          </a:solidFill>
          <a:ln w="9525">
            <a:solidFill>
              <a:schemeClr val="bg2"/>
            </a:solidFill>
            <a:prstDash val="solid"/>
          </a:ln>
        </p:spPr>
      </p:sp>
      <p:sp>
        <p:nvSpPr>
          <p:cNvPr id="15" name="icon-bg-139"/>
          <p:cNvSpPr/>
          <p:nvPr/>
        </p:nvSpPr>
        <p:spPr>
          <a:xfrm>
            <a:off x="9614916" y="1554480"/>
            <a:ext cx="502920" cy="502920"/>
          </a:xfrm>
          <a:prstGeom prst="ellipse">
            <a:avLst/>
          </a:prstGeom>
          <a:solidFill>
            <a:schemeClr val="accent1"/>
          </a:solidFill>
          <a:ln w="12700">
            <a:solidFill>
              <a:schemeClr val="accent1"/>
            </a:solidFill>
            <a:prstDash val="solid"/>
          </a:ln>
        </p:spPr>
      </p:sp>
      <p:pic>
        <p:nvPicPr>
          <p:cNvPr id="16" name="icon-140" descr="preencoded.png">    </p:cNvPr>
          <p:cNvPicPr>
            <a:picLocks noChangeAspect="1"/>
          </p:cNvPicPr>
          <p:nvPr/>
        </p:nvPicPr>
        <p:blipFill>
          <a:blip r:embed="rId3"/>
          <a:stretch>
            <a:fillRect/>
          </a:stretch>
        </p:blipFill>
        <p:spPr>
          <a:xfrm>
            <a:off x="9730588" y="1670152"/>
            <a:ext cx="271577" cy="271577"/>
          </a:xfrm>
          <a:prstGeom prst="rect">
            <a:avLst/>
          </a:prstGeom>
        </p:spPr>
      </p:pic>
      <p:sp>
        <p:nvSpPr>
          <p:cNvPr id="17" name="text-141"/>
          <p:cNvSpPr txBox="1"/>
          <p:nvPr/>
        </p:nvSpPr>
        <p:spPr>
          <a:xfrm>
            <a:off x="10236708" y="1554480"/>
            <a:ext cx="1293876" cy="27432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/ready</a:t>
            </a:r>
            <a:endParaRPr lang="en-US" sz="1600" dirty="0"/>
          </a:p>
        </p:txBody>
      </p:sp>
      <p:sp>
        <p:nvSpPr>
          <p:cNvPr id="18" name="text-142"/>
          <p:cNvSpPr txBox="1"/>
          <p:nvPr/>
        </p:nvSpPr>
        <p:spPr>
          <a:xfrm>
            <a:off x="10236708" y="1828800"/>
            <a:ext cx="1293876" cy="256032"/>
          </a:xfrm>
          <a:prstGeom prst="rect">
            <a:avLst/>
          </a:prstGeom>
          <a:noFill/>
          <a:ln/>
        </p:spPr>
        <p:txBody>
          <a:bodyPr wrap="square" lIns="0" tIns="0" rIns="0" bIns="0" rtlCol="0" anchor="t"/>
          <a:lstStyle/>
          <a:p>
            <a:pPr indent="0" marL="0">
              <a:buNone/>
            </a:pPr>
            <a:r>
              <a:rPr lang="en-US" sz="1200" b="1" dirty="0">
                <a:solidFill>
                  <a:schemeClr val="accent1"/>
                </a:solidFill>
              </a:rPr>
              <a:t>Readiness</a:t>
            </a:r>
            <a:endParaRPr lang="en-US" sz="1200" dirty="0"/>
          </a:p>
        </p:txBody>
      </p:sp>
      <p:sp>
        <p:nvSpPr>
          <p:cNvPr id="19" name="text-143"/>
          <p:cNvSpPr txBox="1"/>
          <p:nvPr/>
        </p:nvSpPr>
        <p:spPr>
          <a:xfrm>
            <a:off x="9614916" y="2240280"/>
            <a:ext cx="1842516" cy="1097280"/>
          </a:xfrm>
          <a:prstGeom prst="rect">
            <a:avLst/>
          </a:prstGeom>
          <a:noFill/>
          <a:ln/>
        </p:spPr>
        <p:txBody>
          <a:bodyPr wrap="square" lIns="0" tIns="0" rIns="0" bIns="0" rtlCol="0" anchor="t"/>
          <a:lstStyle/>
          <a:p>
            <a:pPr indent="0" marL="0">
              <a:buNone/>
            </a:pPr>
            <a:r>
              <a:rPr lang="en-US" sz="1400" dirty="0">
                <a:solidFill>
                  <a:schemeClr val="tx2"/>
                </a:solidFill>
              </a:rPr>
              <a:t>Queries the database. Returns 503 so the pod gets no traffic.</a:t>
            </a:r>
            <a:endParaRPr lang="en-US" sz="1400" dirty="0"/>
          </a:p>
        </p:txBody>
      </p:sp>
      <p:sp>
        <p:nvSpPr>
          <p:cNvPr id="20" name="card-144"/>
          <p:cNvSpPr/>
          <p:nvPr/>
        </p:nvSpPr>
        <p:spPr>
          <a:xfrm>
            <a:off x="6949440" y="3703320"/>
            <a:ext cx="2208276" cy="2057400"/>
          </a:xfrm>
          <a:prstGeom prst="roundRect">
            <a:avLst>
              <a:gd name="adj" fmla="val 4444"/>
            </a:avLst>
          </a:prstGeom>
          <a:solidFill>
            <a:schemeClr val="bg2"/>
          </a:solidFill>
          <a:ln w="9525">
            <a:solidFill>
              <a:schemeClr val="bg2"/>
            </a:solidFill>
            <a:prstDash val="solid"/>
          </a:ln>
        </p:spPr>
      </p:sp>
      <p:sp>
        <p:nvSpPr>
          <p:cNvPr id="21" name="icon-bg-145"/>
          <p:cNvSpPr/>
          <p:nvPr/>
        </p:nvSpPr>
        <p:spPr>
          <a:xfrm>
            <a:off x="7132320" y="3886200"/>
            <a:ext cx="502920" cy="502920"/>
          </a:xfrm>
          <a:prstGeom prst="ellipse">
            <a:avLst/>
          </a:prstGeom>
          <a:solidFill>
            <a:schemeClr val="accent1"/>
          </a:solidFill>
          <a:ln w="12700">
            <a:solidFill>
              <a:schemeClr val="accent1"/>
            </a:solidFill>
            <a:prstDash val="solid"/>
          </a:ln>
        </p:spPr>
      </p:sp>
      <p:pic>
        <p:nvPicPr>
          <p:cNvPr id="22" name="icon-146" descr="preencoded.png">    </p:cNvPr>
          <p:cNvPicPr>
            <a:picLocks noChangeAspect="1"/>
          </p:cNvPicPr>
          <p:nvPr/>
        </p:nvPicPr>
        <p:blipFill>
          <a:blip r:embed="rId4"/>
          <a:stretch>
            <a:fillRect/>
          </a:stretch>
        </p:blipFill>
        <p:spPr>
          <a:xfrm>
            <a:off x="7247992" y="4001872"/>
            <a:ext cx="271577" cy="271577"/>
          </a:xfrm>
          <a:prstGeom prst="rect">
            <a:avLst/>
          </a:prstGeom>
        </p:spPr>
      </p:pic>
      <p:sp>
        <p:nvSpPr>
          <p:cNvPr id="23" name="text-147"/>
          <p:cNvSpPr txBox="1"/>
          <p:nvPr/>
        </p:nvSpPr>
        <p:spPr>
          <a:xfrm>
            <a:off x="7754112" y="3886200"/>
            <a:ext cx="1293876" cy="27432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/metrics</a:t>
            </a:r>
            <a:endParaRPr lang="en-US" sz="1600" dirty="0"/>
          </a:p>
        </p:txBody>
      </p:sp>
      <p:sp>
        <p:nvSpPr>
          <p:cNvPr id="24" name="text-148"/>
          <p:cNvSpPr txBox="1"/>
          <p:nvPr/>
        </p:nvSpPr>
        <p:spPr>
          <a:xfrm>
            <a:off x="7754112" y="4160520"/>
            <a:ext cx="1293876" cy="256032"/>
          </a:xfrm>
          <a:prstGeom prst="rect">
            <a:avLst/>
          </a:prstGeom>
          <a:noFill/>
          <a:ln/>
        </p:spPr>
        <p:txBody>
          <a:bodyPr wrap="square" lIns="0" tIns="0" rIns="0" bIns="0" rtlCol="0" anchor="t"/>
          <a:lstStyle/>
          <a:p>
            <a:pPr indent="0" marL="0">
              <a:buNone/>
            </a:pPr>
            <a:r>
              <a:rPr lang="en-US" sz="1200" b="1" dirty="0">
                <a:solidFill>
                  <a:schemeClr val="accent1"/>
                </a:solidFill>
              </a:rPr>
              <a:t>Prometheus</a:t>
            </a:r>
            <a:endParaRPr lang="en-US" sz="1200" dirty="0"/>
          </a:p>
        </p:txBody>
      </p:sp>
      <p:sp>
        <p:nvSpPr>
          <p:cNvPr id="25" name="text-149"/>
          <p:cNvSpPr txBox="1"/>
          <p:nvPr/>
        </p:nvSpPr>
        <p:spPr>
          <a:xfrm>
            <a:off x="7132320" y="4572000"/>
            <a:ext cx="1842516" cy="1097280"/>
          </a:xfrm>
          <a:prstGeom prst="rect">
            <a:avLst/>
          </a:prstGeom>
          <a:noFill/>
          <a:ln/>
        </p:spPr>
        <p:txBody>
          <a:bodyPr wrap="square" lIns="0" tIns="0" rIns="0" bIns="0" rtlCol="0" anchor="t"/>
          <a:lstStyle/>
          <a:p>
            <a:pPr indent="0" marL="0">
              <a:buNone/>
            </a:pPr>
            <a:r>
              <a:rPr lang="en-US" sz="1400" dirty="0">
                <a:solidFill>
                  <a:schemeClr val="tx2"/>
                </a:solidFill>
              </a:rPr>
              <a:t>Request counts and latency histograms per endpoint.</a:t>
            </a:r>
            <a:endParaRPr lang="en-US" sz="1400" dirty="0"/>
          </a:p>
        </p:txBody>
      </p:sp>
      <p:sp>
        <p:nvSpPr>
          <p:cNvPr id="26" name="card-150"/>
          <p:cNvSpPr/>
          <p:nvPr/>
        </p:nvSpPr>
        <p:spPr>
          <a:xfrm>
            <a:off x="9432036" y="3703320"/>
            <a:ext cx="2208276" cy="2057400"/>
          </a:xfrm>
          <a:prstGeom prst="roundRect">
            <a:avLst>
              <a:gd name="adj" fmla="val 4444"/>
            </a:avLst>
          </a:prstGeom>
          <a:solidFill>
            <a:schemeClr val="bg2"/>
          </a:solidFill>
          <a:ln w="9525">
            <a:solidFill>
              <a:schemeClr val="bg2"/>
            </a:solidFill>
            <a:prstDash val="solid"/>
          </a:ln>
        </p:spPr>
      </p:sp>
      <p:sp>
        <p:nvSpPr>
          <p:cNvPr id="27" name="icon-bg-151"/>
          <p:cNvSpPr/>
          <p:nvPr/>
        </p:nvSpPr>
        <p:spPr>
          <a:xfrm>
            <a:off x="9614916" y="3886200"/>
            <a:ext cx="502920" cy="502920"/>
          </a:xfrm>
          <a:prstGeom prst="ellipse">
            <a:avLst/>
          </a:prstGeom>
          <a:solidFill>
            <a:schemeClr val="accent1"/>
          </a:solidFill>
          <a:ln w="12700">
            <a:solidFill>
              <a:schemeClr val="accent1"/>
            </a:solidFill>
            <a:prstDash val="solid"/>
          </a:ln>
        </p:spPr>
      </p:sp>
      <p:pic>
        <p:nvPicPr>
          <p:cNvPr id="28" name="icon-152" descr="preencoded.png">    </p:cNvPr>
          <p:cNvPicPr>
            <a:picLocks noChangeAspect="1"/>
          </p:cNvPicPr>
          <p:nvPr/>
        </p:nvPicPr>
        <p:blipFill>
          <a:blip r:embed="rId5"/>
          <a:stretch>
            <a:fillRect/>
          </a:stretch>
        </p:blipFill>
        <p:spPr>
          <a:xfrm>
            <a:off x="9730588" y="4001872"/>
            <a:ext cx="271577" cy="271577"/>
          </a:xfrm>
          <a:prstGeom prst="rect">
            <a:avLst/>
          </a:prstGeom>
        </p:spPr>
      </p:pic>
      <p:sp>
        <p:nvSpPr>
          <p:cNvPr id="29" name="text-153"/>
          <p:cNvSpPr txBox="1"/>
          <p:nvPr/>
        </p:nvSpPr>
        <p:spPr>
          <a:xfrm>
            <a:off x="10236708" y="3886200"/>
            <a:ext cx="1293876" cy="27432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Startup</a:t>
            </a:r>
            <a:endParaRPr lang="en-US" sz="1600" dirty="0"/>
          </a:p>
        </p:txBody>
      </p:sp>
      <p:sp>
        <p:nvSpPr>
          <p:cNvPr id="30" name="text-154"/>
          <p:cNvSpPr txBox="1"/>
          <p:nvPr/>
        </p:nvSpPr>
        <p:spPr>
          <a:xfrm>
            <a:off x="10236708" y="4160520"/>
            <a:ext cx="1293876" cy="256032"/>
          </a:xfrm>
          <a:prstGeom prst="rect">
            <a:avLst/>
          </a:prstGeom>
          <a:noFill/>
          <a:ln/>
        </p:spPr>
        <p:txBody>
          <a:bodyPr wrap="square" lIns="0" tIns="0" rIns="0" bIns="0" rtlCol="0" anchor="t"/>
          <a:lstStyle/>
          <a:p>
            <a:pPr indent="0" marL="0">
              <a:buNone/>
            </a:pPr>
            <a:r>
              <a:rPr lang="en-US" sz="1200" b="1" dirty="0">
                <a:solidFill>
                  <a:schemeClr val="accent1"/>
                </a:solidFill>
              </a:rPr>
              <a:t>Safe migrations</a:t>
            </a:r>
            <a:endParaRPr lang="en-US" sz="1200" dirty="0"/>
          </a:p>
        </p:txBody>
      </p:sp>
      <p:sp>
        <p:nvSpPr>
          <p:cNvPr id="31" name="text-155"/>
          <p:cNvSpPr txBox="1"/>
          <p:nvPr/>
        </p:nvSpPr>
        <p:spPr>
          <a:xfrm>
            <a:off x="9614916" y="4572000"/>
            <a:ext cx="1842516" cy="1097280"/>
          </a:xfrm>
          <a:prstGeom prst="rect">
            <a:avLst/>
          </a:prstGeom>
          <a:noFill/>
          <a:ln/>
        </p:spPr>
        <p:txBody>
          <a:bodyPr wrap="square" lIns="0" tIns="0" rIns="0" bIns="0" rtlCol="0" anchor="t"/>
          <a:lstStyle/>
          <a:p>
            <a:pPr indent="0" marL="0">
              <a:buNone/>
            </a:pPr>
            <a:r>
              <a:rPr lang="en-US" sz="1400" dirty="0">
                <a:solidFill>
                  <a:schemeClr val="tx2"/>
                </a:solidFill>
              </a:rPr>
              <a:t>Postgres advisory lock: replicas take turns, no races.</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CI/CD: one road for every commit</a:t>
            </a:r>
            <a:endParaRPr lang="en-US" sz="3600" dirty="0"/>
          </a:p>
        </p:txBody>
      </p:sp>
      <p:sp>
        <p:nvSpPr>
          <p:cNvPr id="3" name="card-156"/>
          <p:cNvSpPr/>
          <p:nvPr/>
        </p:nvSpPr>
        <p:spPr>
          <a:xfrm>
            <a:off x="548640" y="1371600"/>
            <a:ext cx="1965960" cy="2560320"/>
          </a:xfrm>
          <a:prstGeom prst="roundRect">
            <a:avLst>
              <a:gd name="adj" fmla="val 4651"/>
            </a:avLst>
          </a:prstGeom>
          <a:solidFill>
            <a:schemeClr val="bg2"/>
          </a:solidFill>
          <a:ln w="9525">
            <a:solidFill>
              <a:schemeClr val="bg2"/>
            </a:solidFill>
            <a:prstDash val="solid"/>
          </a:ln>
        </p:spPr>
      </p:sp>
      <p:sp>
        <p:nvSpPr>
          <p:cNvPr id="4" name="icon-bg-157"/>
          <p:cNvSpPr/>
          <p:nvPr/>
        </p:nvSpPr>
        <p:spPr>
          <a:xfrm>
            <a:off x="731520" y="1554480"/>
            <a:ext cx="530352" cy="530352"/>
          </a:xfrm>
          <a:prstGeom prst="ellipse">
            <a:avLst/>
          </a:prstGeom>
          <a:solidFill>
            <a:schemeClr val="accent1"/>
          </a:solidFill>
          <a:ln w="12700">
            <a:solidFill>
              <a:schemeClr val="accent1"/>
            </a:solidFill>
            <a:prstDash val="solid"/>
          </a:ln>
        </p:spPr>
      </p:sp>
      <p:pic>
        <p:nvPicPr>
          <p:cNvPr id="5" name="icon-158" descr="preencoded.png">    </p:cNvPr>
          <p:cNvPicPr>
            <a:picLocks noChangeAspect="1"/>
          </p:cNvPicPr>
          <p:nvPr/>
        </p:nvPicPr>
        <p:blipFill>
          <a:blip r:embed="rId1"/>
          <a:stretch>
            <a:fillRect/>
          </a:stretch>
        </p:blipFill>
        <p:spPr>
          <a:xfrm>
            <a:off x="853501" y="1676461"/>
            <a:ext cx="286390" cy="286390"/>
          </a:xfrm>
          <a:prstGeom prst="rect">
            <a:avLst/>
          </a:prstGeom>
        </p:spPr>
      </p:pic>
      <p:sp>
        <p:nvSpPr>
          <p:cNvPr id="6" name="text-159"/>
          <p:cNvSpPr txBox="1"/>
          <p:nvPr/>
        </p:nvSpPr>
        <p:spPr>
          <a:xfrm>
            <a:off x="2011680" y="1554480"/>
            <a:ext cx="320040" cy="365760"/>
          </a:xfrm>
          <a:prstGeom prst="rect">
            <a:avLst/>
          </a:prstGeom>
          <a:noFill/>
          <a:ln/>
        </p:spPr>
        <p:txBody>
          <a:bodyPr wrap="square" lIns="0" tIns="0" rIns="0" bIns="0" rtlCol="0" anchor="t"/>
          <a:lstStyle/>
          <a:p>
            <a:pPr algn="r" indent="0" marL="0">
              <a:buNone/>
            </a:pPr>
            <a:r>
              <a:rPr lang="en-US" sz="1800" b="1" dirty="0">
                <a:solidFill>
                  <a:schemeClr val="accent6"/>
                </a:solidFill>
              </a:rPr>
              <a:t>1</a:t>
            </a:r>
            <a:endParaRPr lang="en-US" sz="1800" dirty="0"/>
          </a:p>
        </p:txBody>
      </p:sp>
      <p:sp>
        <p:nvSpPr>
          <p:cNvPr id="7" name="text-160"/>
          <p:cNvSpPr txBox="1"/>
          <p:nvPr/>
        </p:nvSpPr>
        <p:spPr>
          <a:xfrm>
            <a:off x="731520" y="2194560"/>
            <a:ext cx="1600200" cy="384048"/>
          </a:xfrm>
          <a:prstGeom prst="rect">
            <a:avLst/>
          </a:prstGeom>
          <a:noFill/>
          <a:ln/>
        </p:spPr>
        <p:txBody>
          <a:bodyPr wrap="square" lIns="0" tIns="0" rIns="0" bIns="0" rtlCol="0" anchor="t"/>
          <a:lstStyle/>
          <a:p>
            <a:pPr indent="0" marL="0">
              <a:buNone/>
            </a:pPr>
            <a:r>
              <a:rPr lang="en-US" sz="1900" b="1" dirty="0">
                <a:solidFill>
                  <a:schemeClr val="tx1"/>
                </a:solidFill>
              </a:rPr>
              <a:t>Test</a:t>
            </a:r>
            <a:endParaRPr lang="en-US" sz="1900" dirty="0"/>
          </a:p>
        </p:txBody>
      </p:sp>
      <p:sp>
        <p:nvSpPr>
          <p:cNvPr id="8" name="text-161"/>
          <p:cNvSpPr txBox="1"/>
          <p:nvPr/>
        </p:nvSpPr>
        <p:spPr>
          <a:xfrm>
            <a:off x="731520" y="2651760"/>
            <a:ext cx="1691640" cy="11887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2"/>
                </a:solidFill>
              </a:rPr>
              <a:t>pytest: 10 tests</a:t>
            </a:r>
            <a:endParaRPr lang="en-US" sz="1400" dirty="0"/>
          </a:p>
          <a:p>
            <a:pPr marL="152400" indent="-152400">
              <a:spcAft>
                <a:spcPts val="400"/>
              </a:spcAft>
              <a:buSzPct val="100000"/>
              <a:buChar char="•"/>
            </a:pPr>
            <a:r>
              <a:rPr lang="en-US" sz="1400" dirty="0">
                <a:solidFill>
                  <a:schemeClr val="tx2"/>
                </a:solidFill>
              </a:rPr>
              <a:t>Vite build</a:t>
            </a:r>
            <a:endParaRPr lang="en-US" sz="1400" dirty="0"/>
          </a:p>
          <a:p>
            <a:pPr marL="152400" indent="-152400">
              <a:spcAft>
                <a:spcPts val="400"/>
              </a:spcAft>
              <a:buSzPct val="100000"/>
              <a:buChar char="•"/>
            </a:pPr>
            <a:r>
              <a:rPr lang="en-US" sz="1400" dirty="0">
                <a:solidFill>
                  <a:schemeClr val="tx2"/>
                </a:solidFill>
              </a:rPr>
              <a:t>Fail = stop</a:t>
            </a:r>
            <a:endParaRPr lang="en-US" sz="1400" dirty="0"/>
          </a:p>
        </p:txBody>
      </p:sp>
      <p:sp>
        <p:nvSpPr>
          <p:cNvPr id="9" name="arrow-162"/>
          <p:cNvSpPr/>
          <p:nvPr/>
        </p:nvSpPr>
        <p:spPr>
          <a:xfrm>
            <a:off x="2551176" y="2651760"/>
            <a:ext cx="242316" cy="0"/>
          </a:xfrm>
          <a:prstGeom prst="line">
            <a:avLst/>
          </a:prstGeom>
          <a:noFill/>
          <a:ln w="19050">
            <a:solidFill>
              <a:schemeClr val="accent6"/>
            </a:solidFill>
            <a:prstDash val="solid"/>
            <a:tailEnd type="triangle"/>
          </a:ln>
        </p:spPr>
      </p:sp>
      <p:sp>
        <p:nvSpPr>
          <p:cNvPr id="10" name="card-163"/>
          <p:cNvSpPr/>
          <p:nvPr/>
        </p:nvSpPr>
        <p:spPr>
          <a:xfrm>
            <a:off x="2830068" y="1371600"/>
            <a:ext cx="1965960" cy="2560320"/>
          </a:xfrm>
          <a:prstGeom prst="roundRect">
            <a:avLst>
              <a:gd name="adj" fmla="val 4651"/>
            </a:avLst>
          </a:prstGeom>
          <a:solidFill>
            <a:schemeClr val="bg2"/>
          </a:solidFill>
          <a:ln w="9525">
            <a:solidFill>
              <a:schemeClr val="bg2"/>
            </a:solidFill>
            <a:prstDash val="solid"/>
          </a:ln>
        </p:spPr>
      </p:sp>
      <p:sp>
        <p:nvSpPr>
          <p:cNvPr id="11" name="icon-bg-164"/>
          <p:cNvSpPr/>
          <p:nvPr/>
        </p:nvSpPr>
        <p:spPr>
          <a:xfrm>
            <a:off x="3012948" y="1554480"/>
            <a:ext cx="530352" cy="530352"/>
          </a:xfrm>
          <a:prstGeom prst="ellipse">
            <a:avLst/>
          </a:prstGeom>
          <a:solidFill>
            <a:schemeClr val="accent1"/>
          </a:solidFill>
          <a:ln w="12700">
            <a:solidFill>
              <a:schemeClr val="accent1"/>
            </a:solidFill>
            <a:prstDash val="solid"/>
          </a:ln>
        </p:spPr>
      </p:sp>
      <p:pic>
        <p:nvPicPr>
          <p:cNvPr id="12" name="icon-165" descr="preencoded.png">    </p:cNvPr>
          <p:cNvPicPr>
            <a:picLocks noChangeAspect="1"/>
          </p:cNvPicPr>
          <p:nvPr/>
        </p:nvPicPr>
        <p:blipFill>
          <a:blip r:embed="rId2"/>
          <a:stretch>
            <a:fillRect/>
          </a:stretch>
        </p:blipFill>
        <p:spPr>
          <a:xfrm>
            <a:off x="3134929" y="1676461"/>
            <a:ext cx="286390" cy="286390"/>
          </a:xfrm>
          <a:prstGeom prst="rect">
            <a:avLst/>
          </a:prstGeom>
        </p:spPr>
      </p:pic>
      <p:sp>
        <p:nvSpPr>
          <p:cNvPr id="13" name="text-166"/>
          <p:cNvSpPr txBox="1"/>
          <p:nvPr/>
        </p:nvSpPr>
        <p:spPr>
          <a:xfrm>
            <a:off x="4293108" y="1554480"/>
            <a:ext cx="320040" cy="365760"/>
          </a:xfrm>
          <a:prstGeom prst="rect">
            <a:avLst/>
          </a:prstGeom>
          <a:noFill/>
          <a:ln/>
        </p:spPr>
        <p:txBody>
          <a:bodyPr wrap="square" lIns="0" tIns="0" rIns="0" bIns="0" rtlCol="0" anchor="t"/>
          <a:lstStyle/>
          <a:p>
            <a:pPr algn="r" indent="0" marL="0">
              <a:buNone/>
            </a:pPr>
            <a:r>
              <a:rPr lang="en-US" sz="1800" b="1" dirty="0">
                <a:solidFill>
                  <a:schemeClr val="accent6"/>
                </a:solidFill>
              </a:rPr>
              <a:t>2</a:t>
            </a:r>
            <a:endParaRPr lang="en-US" sz="1800" dirty="0"/>
          </a:p>
        </p:txBody>
      </p:sp>
      <p:sp>
        <p:nvSpPr>
          <p:cNvPr id="14" name="text-167"/>
          <p:cNvSpPr txBox="1"/>
          <p:nvPr/>
        </p:nvSpPr>
        <p:spPr>
          <a:xfrm>
            <a:off x="3012948" y="2194560"/>
            <a:ext cx="1600200" cy="384048"/>
          </a:xfrm>
          <a:prstGeom prst="rect">
            <a:avLst/>
          </a:prstGeom>
          <a:noFill/>
          <a:ln/>
        </p:spPr>
        <p:txBody>
          <a:bodyPr wrap="square" lIns="0" tIns="0" rIns="0" bIns="0" rtlCol="0" anchor="t"/>
          <a:lstStyle/>
          <a:p>
            <a:pPr indent="0" marL="0">
              <a:buNone/>
            </a:pPr>
            <a:r>
              <a:rPr lang="en-US" sz="1900" b="1" dirty="0">
                <a:solidFill>
                  <a:schemeClr val="tx1"/>
                </a:solidFill>
              </a:rPr>
              <a:t>Build</a:t>
            </a:r>
            <a:endParaRPr lang="en-US" sz="1900" dirty="0"/>
          </a:p>
        </p:txBody>
      </p:sp>
      <p:sp>
        <p:nvSpPr>
          <p:cNvPr id="15" name="text-168"/>
          <p:cNvSpPr txBox="1"/>
          <p:nvPr/>
        </p:nvSpPr>
        <p:spPr>
          <a:xfrm>
            <a:off x="3012948" y="2651760"/>
            <a:ext cx="1691640" cy="11887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2"/>
                </a:solidFill>
              </a:rPr>
              <a:t>Multi-stage</a:t>
            </a:r>
            <a:endParaRPr lang="en-US" sz="1400" dirty="0"/>
          </a:p>
          <a:p>
            <a:pPr marL="152400" indent="-152400">
              <a:spcAft>
                <a:spcPts val="400"/>
              </a:spcAft>
              <a:buSzPct val="100000"/>
              <a:buChar char="•"/>
            </a:pPr>
            <a:r>
              <a:rPr lang="en-US" sz="1400" dirty="0">
                <a:solidFill>
                  <a:schemeClr val="tx2"/>
                </a:solidFill>
              </a:rPr>
              <a:t>buildx cache</a:t>
            </a:r>
            <a:endParaRPr lang="en-US" sz="1400" dirty="0"/>
          </a:p>
          <a:p>
            <a:pPr marL="152400" indent="-152400">
              <a:spcAft>
                <a:spcPts val="400"/>
              </a:spcAft>
              <a:buSzPct val="100000"/>
              <a:buChar char="•"/>
            </a:pPr>
            <a:r>
              <a:rPr lang="en-US" sz="1400" dirty="0">
                <a:solidFill>
                  <a:schemeClr val="tx2"/>
                </a:solidFill>
              </a:rPr>
              <a:t>Both images</a:t>
            </a:r>
            <a:endParaRPr lang="en-US" sz="1400" dirty="0"/>
          </a:p>
        </p:txBody>
      </p:sp>
      <p:sp>
        <p:nvSpPr>
          <p:cNvPr id="16" name="arrow-169"/>
          <p:cNvSpPr/>
          <p:nvPr/>
        </p:nvSpPr>
        <p:spPr>
          <a:xfrm>
            <a:off x="4832604" y="2651760"/>
            <a:ext cx="242316" cy="0"/>
          </a:xfrm>
          <a:prstGeom prst="line">
            <a:avLst/>
          </a:prstGeom>
          <a:noFill/>
          <a:ln w="19050">
            <a:solidFill>
              <a:schemeClr val="accent6"/>
            </a:solidFill>
            <a:prstDash val="solid"/>
            <a:tailEnd type="triangle"/>
          </a:ln>
        </p:spPr>
      </p:sp>
      <p:sp>
        <p:nvSpPr>
          <p:cNvPr id="17" name="card-170"/>
          <p:cNvSpPr/>
          <p:nvPr/>
        </p:nvSpPr>
        <p:spPr>
          <a:xfrm>
            <a:off x="5111496" y="1371600"/>
            <a:ext cx="1965960" cy="2560320"/>
          </a:xfrm>
          <a:prstGeom prst="roundRect">
            <a:avLst>
              <a:gd name="adj" fmla="val 4651"/>
            </a:avLst>
          </a:prstGeom>
          <a:solidFill>
            <a:schemeClr val="bg2"/>
          </a:solidFill>
          <a:ln w="9525">
            <a:solidFill>
              <a:schemeClr val="bg2"/>
            </a:solidFill>
            <a:prstDash val="solid"/>
          </a:ln>
        </p:spPr>
      </p:sp>
      <p:sp>
        <p:nvSpPr>
          <p:cNvPr id="18" name="icon-bg-171"/>
          <p:cNvSpPr/>
          <p:nvPr/>
        </p:nvSpPr>
        <p:spPr>
          <a:xfrm>
            <a:off x="5294376" y="1554480"/>
            <a:ext cx="530352" cy="530352"/>
          </a:xfrm>
          <a:prstGeom prst="ellipse">
            <a:avLst/>
          </a:prstGeom>
          <a:solidFill>
            <a:schemeClr val="accent1"/>
          </a:solidFill>
          <a:ln w="12700">
            <a:solidFill>
              <a:schemeClr val="accent1"/>
            </a:solidFill>
            <a:prstDash val="solid"/>
          </a:ln>
        </p:spPr>
      </p:sp>
      <p:pic>
        <p:nvPicPr>
          <p:cNvPr id="19" name="icon-172" descr="preencoded.png">    </p:cNvPr>
          <p:cNvPicPr>
            <a:picLocks noChangeAspect="1"/>
          </p:cNvPicPr>
          <p:nvPr/>
        </p:nvPicPr>
        <p:blipFill>
          <a:blip r:embed="rId3"/>
          <a:stretch>
            <a:fillRect/>
          </a:stretch>
        </p:blipFill>
        <p:spPr>
          <a:xfrm>
            <a:off x="5416357" y="1676461"/>
            <a:ext cx="286390" cy="286390"/>
          </a:xfrm>
          <a:prstGeom prst="rect">
            <a:avLst/>
          </a:prstGeom>
        </p:spPr>
      </p:pic>
      <p:sp>
        <p:nvSpPr>
          <p:cNvPr id="20" name="text-173"/>
          <p:cNvSpPr txBox="1"/>
          <p:nvPr/>
        </p:nvSpPr>
        <p:spPr>
          <a:xfrm>
            <a:off x="6574536" y="1554480"/>
            <a:ext cx="320040" cy="365760"/>
          </a:xfrm>
          <a:prstGeom prst="rect">
            <a:avLst/>
          </a:prstGeom>
          <a:noFill/>
          <a:ln/>
        </p:spPr>
        <p:txBody>
          <a:bodyPr wrap="square" lIns="0" tIns="0" rIns="0" bIns="0" rtlCol="0" anchor="t"/>
          <a:lstStyle/>
          <a:p>
            <a:pPr algn="r" indent="0" marL="0">
              <a:buNone/>
            </a:pPr>
            <a:r>
              <a:rPr lang="en-US" sz="1800" b="1" dirty="0">
                <a:solidFill>
                  <a:schemeClr val="accent6"/>
                </a:solidFill>
              </a:rPr>
              <a:t>3</a:t>
            </a:r>
            <a:endParaRPr lang="en-US" sz="1800" dirty="0"/>
          </a:p>
        </p:txBody>
      </p:sp>
      <p:sp>
        <p:nvSpPr>
          <p:cNvPr id="21" name="text-174"/>
          <p:cNvSpPr txBox="1"/>
          <p:nvPr/>
        </p:nvSpPr>
        <p:spPr>
          <a:xfrm>
            <a:off x="5294376" y="2194560"/>
            <a:ext cx="1600200" cy="384048"/>
          </a:xfrm>
          <a:prstGeom prst="rect">
            <a:avLst/>
          </a:prstGeom>
          <a:noFill/>
          <a:ln/>
        </p:spPr>
        <p:txBody>
          <a:bodyPr wrap="square" lIns="0" tIns="0" rIns="0" bIns="0" rtlCol="0" anchor="t"/>
          <a:lstStyle/>
          <a:p>
            <a:pPr indent="0" marL="0">
              <a:buNone/>
            </a:pPr>
            <a:r>
              <a:rPr lang="en-US" sz="1900" b="1" dirty="0">
                <a:solidFill>
                  <a:schemeClr val="tx1"/>
                </a:solidFill>
              </a:rPr>
              <a:t>Scan</a:t>
            </a:r>
            <a:endParaRPr lang="en-US" sz="1900" dirty="0"/>
          </a:p>
        </p:txBody>
      </p:sp>
      <p:sp>
        <p:nvSpPr>
          <p:cNvPr id="22" name="text-175"/>
          <p:cNvSpPr txBox="1"/>
          <p:nvPr/>
        </p:nvSpPr>
        <p:spPr>
          <a:xfrm>
            <a:off x="5294376" y="2651760"/>
            <a:ext cx="1691640" cy="11887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2"/>
                </a:solidFill>
              </a:rPr>
              <a:t>Trivy</a:t>
            </a:r>
            <a:endParaRPr lang="en-US" sz="1400" dirty="0"/>
          </a:p>
          <a:p>
            <a:pPr marL="152400" indent="-152400">
              <a:spcAft>
                <a:spcPts val="400"/>
              </a:spcAft>
              <a:buSzPct val="100000"/>
              <a:buChar char="•"/>
            </a:pPr>
            <a:r>
              <a:rPr lang="en-US" sz="1400" dirty="0">
                <a:solidFill>
                  <a:schemeClr val="tx2"/>
                </a:solidFill>
              </a:rPr>
              <a:t>Fails on CRITICAL</a:t>
            </a:r>
            <a:endParaRPr lang="en-US" sz="1400" dirty="0"/>
          </a:p>
          <a:p>
            <a:pPr marL="152400" indent="-152400">
              <a:spcAft>
                <a:spcPts val="400"/>
              </a:spcAft>
              <a:buSzPct val="100000"/>
              <a:buChar char="•"/>
            </a:pPr>
            <a:r>
              <a:rPr lang="en-US" sz="1400" dirty="0">
                <a:solidFill>
                  <a:schemeClr val="tx2"/>
                </a:solidFill>
              </a:rPr>
              <a:t>SARIF report</a:t>
            </a:r>
            <a:endParaRPr lang="en-US" sz="1400" dirty="0"/>
          </a:p>
        </p:txBody>
      </p:sp>
      <p:sp>
        <p:nvSpPr>
          <p:cNvPr id="23" name="arrow-176"/>
          <p:cNvSpPr/>
          <p:nvPr/>
        </p:nvSpPr>
        <p:spPr>
          <a:xfrm>
            <a:off x="7114032" y="2651760"/>
            <a:ext cx="242316" cy="0"/>
          </a:xfrm>
          <a:prstGeom prst="line">
            <a:avLst/>
          </a:prstGeom>
          <a:noFill/>
          <a:ln w="19050">
            <a:solidFill>
              <a:schemeClr val="accent6"/>
            </a:solidFill>
            <a:prstDash val="solid"/>
            <a:tailEnd type="triangle"/>
          </a:ln>
        </p:spPr>
      </p:sp>
      <p:sp>
        <p:nvSpPr>
          <p:cNvPr id="24" name="card-177"/>
          <p:cNvSpPr/>
          <p:nvPr/>
        </p:nvSpPr>
        <p:spPr>
          <a:xfrm>
            <a:off x="7392924" y="1371600"/>
            <a:ext cx="1965960" cy="2560320"/>
          </a:xfrm>
          <a:prstGeom prst="roundRect">
            <a:avLst>
              <a:gd name="adj" fmla="val 4651"/>
            </a:avLst>
          </a:prstGeom>
          <a:solidFill>
            <a:schemeClr val="bg2"/>
          </a:solidFill>
          <a:ln w="9525">
            <a:solidFill>
              <a:schemeClr val="bg2"/>
            </a:solidFill>
            <a:prstDash val="solid"/>
          </a:ln>
        </p:spPr>
      </p:sp>
      <p:sp>
        <p:nvSpPr>
          <p:cNvPr id="25" name="icon-bg-178"/>
          <p:cNvSpPr/>
          <p:nvPr/>
        </p:nvSpPr>
        <p:spPr>
          <a:xfrm>
            <a:off x="7575804" y="1554480"/>
            <a:ext cx="530352" cy="530352"/>
          </a:xfrm>
          <a:prstGeom prst="ellipse">
            <a:avLst/>
          </a:prstGeom>
          <a:solidFill>
            <a:schemeClr val="accent1"/>
          </a:solidFill>
          <a:ln w="12700">
            <a:solidFill>
              <a:schemeClr val="accent1"/>
            </a:solidFill>
            <a:prstDash val="solid"/>
          </a:ln>
        </p:spPr>
      </p:sp>
      <p:pic>
        <p:nvPicPr>
          <p:cNvPr id="26" name="icon-179" descr="preencoded.png">    </p:cNvPr>
          <p:cNvPicPr>
            <a:picLocks noChangeAspect="1"/>
          </p:cNvPicPr>
          <p:nvPr/>
        </p:nvPicPr>
        <p:blipFill>
          <a:blip r:embed="rId4"/>
          <a:stretch>
            <a:fillRect/>
          </a:stretch>
        </p:blipFill>
        <p:spPr>
          <a:xfrm>
            <a:off x="7697785" y="1676461"/>
            <a:ext cx="286390" cy="286390"/>
          </a:xfrm>
          <a:prstGeom prst="rect">
            <a:avLst/>
          </a:prstGeom>
        </p:spPr>
      </p:pic>
      <p:sp>
        <p:nvSpPr>
          <p:cNvPr id="27" name="text-180"/>
          <p:cNvSpPr txBox="1"/>
          <p:nvPr/>
        </p:nvSpPr>
        <p:spPr>
          <a:xfrm>
            <a:off x="8855964" y="1554480"/>
            <a:ext cx="320040" cy="365760"/>
          </a:xfrm>
          <a:prstGeom prst="rect">
            <a:avLst/>
          </a:prstGeom>
          <a:noFill/>
          <a:ln/>
        </p:spPr>
        <p:txBody>
          <a:bodyPr wrap="square" lIns="0" tIns="0" rIns="0" bIns="0" rtlCol="0" anchor="t"/>
          <a:lstStyle/>
          <a:p>
            <a:pPr algn="r" indent="0" marL="0">
              <a:buNone/>
            </a:pPr>
            <a:r>
              <a:rPr lang="en-US" sz="1800" b="1" dirty="0">
                <a:solidFill>
                  <a:schemeClr val="accent6"/>
                </a:solidFill>
              </a:rPr>
              <a:t>4</a:t>
            </a:r>
            <a:endParaRPr lang="en-US" sz="1800" dirty="0"/>
          </a:p>
        </p:txBody>
      </p:sp>
      <p:sp>
        <p:nvSpPr>
          <p:cNvPr id="28" name="text-181"/>
          <p:cNvSpPr txBox="1"/>
          <p:nvPr/>
        </p:nvSpPr>
        <p:spPr>
          <a:xfrm>
            <a:off x="7575804" y="2194560"/>
            <a:ext cx="1600200" cy="384048"/>
          </a:xfrm>
          <a:prstGeom prst="rect">
            <a:avLst/>
          </a:prstGeom>
          <a:noFill/>
          <a:ln/>
        </p:spPr>
        <p:txBody>
          <a:bodyPr wrap="square" lIns="0" tIns="0" rIns="0" bIns="0" rtlCol="0" anchor="t"/>
          <a:lstStyle/>
          <a:p>
            <a:pPr indent="0" marL="0">
              <a:buNone/>
            </a:pPr>
            <a:r>
              <a:rPr lang="en-US" sz="1900" b="1" dirty="0">
                <a:solidFill>
                  <a:schemeClr val="tx1"/>
                </a:solidFill>
              </a:rPr>
              <a:t>Push</a:t>
            </a:r>
            <a:endParaRPr lang="en-US" sz="1900" dirty="0"/>
          </a:p>
        </p:txBody>
      </p:sp>
      <p:sp>
        <p:nvSpPr>
          <p:cNvPr id="29" name="text-182"/>
          <p:cNvSpPr txBox="1"/>
          <p:nvPr/>
        </p:nvSpPr>
        <p:spPr>
          <a:xfrm>
            <a:off x="7575804" y="2651760"/>
            <a:ext cx="1691640" cy="11887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2"/>
                </a:solidFill>
              </a:rPr>
              <a:t>GHCR</a:t>
            </a:r>
            <a:endParaRPr lang="en-US" sz="1400" dirty="0"/>
          </a:p>
          <a:p>
            <a:pPr marL="152400" indent="-152400">
              <a:spcAft>
                <a:spcPts val="400"/>
              </a:spcAft>
              <a:buSzPct val="100000"/>
              <a:buChar char="•"/>
            </a:pPr>
            <a:r>
              <a:rPr lang="en-US" sz="1400" dirty="0">
                <a:solidFill>
                  <a:schemeClr val="tx2"/>
                </a:solidFill>
              </a:rPr>
              <a:t>Tag = commit SHA</a:t>
            </a:r>
            <a:endParaRPr lang="en-US" sz="1400" dirty="0"/>
          </a:p>
          <a:p>
            <a:pPr marL="152400" indent="-152400">
              <a:spcAft>
                <a:spcPts val="400"/>
              </a:spcAft>
              <a:buSzPct val="100000"/>
              <a:buChar char="•"/>
            </a:pPr>
            <a:r>
              <a:rPr lang="en-US" sz="1400" dirty="0">
                <a:solidFill>
                  <a:schemeClr val="tx2"/>
                </a:solidFill>
              </a:rPr>
              <a:t>Only from main</a:t>
            </a:r>
            <a:endParaRPr lang="en-US" sz="1400" dirty="0"/>
          </a:p>
        </p:txBody>
      </p:sp>
      <p:sp>
        <p:nvSpPr>
          <p:cNvPr id="30" name="arrow-183"/>
          <p:cNvSpPr/>
          <p:nvPr/>
        </p:nvSpPr>
        <p:spPr>
          <a:xfrm>
            <a:off x="9395460" y="2651760"/>
            <a:ext cx="242316" cy="0"/>
          </a:xfrm>
          <a:prstGeom prst="line">
            <a:avLst/>
          </a:prstGeom>
          <a:noFill/>
          <a:ln w="19050">
            <a:solidFill>
              <a:schemeClr val="accent6"/>
            </a:solidFill>
            <a:prstDash val="solid"/>
            <a:tailEnd type="triangle"/>
          </a:ln>
        </p:spPr>
      </p:sp>
      <p:sp>
        <p:nvSpPr>
          <p:cNvPr id="31" name="card-184"/>
          <p:cNvSpPr/>
          <p:nvPr/>
        </p:nvSpPr>
        <p:spPr>
          <a:xfrm>
            <a:off x="9674352" y="1371600"/>
            <a:ext cx="1965960" cy="2560320"/>
          </a:xfrm>
          <a:prstGeom prst="roundRect">
            <a:avLst>
              <a:gd name="adj" fmla="val 4651"/>
            </a:avLst>
          </a:prstGeom>
          <a:solidFill>
            <a:schemeClr val="bg2"/>
          </a:solidFill>
          <a:ln w="9525">
            <a:solidFill>
              <a:schemeClr val="bg2"/>
            </a:solidFill>
            <a:prstDash val="solid"/>
          </a:ln>
        </p:spPr>
      </p:sp>
      <p:sp>
        <p:nvSpPr>
          <p:cNvPr id="32" name="icon-bg-185"/>
          <p:cNvSpPr/>
          <p:nvPr/>
        </p:nvSpPr>
        <p:spPr>
          <a:xfrm>
            <a:off x="9857232" y="1554480"/>
            <a:ext cx="530352" cy="530352"/>
          </a:xfrm>
          <a:prstGeom prst="ellipse">
            <a:avLst/>
          </a:prstGeom>
          <a:solidFill>
            <a:schemeClr val="accent1"/>
          </a:solidFill>
          <a:ln w="12700">
            <a:solidFill>
              <a:schemeClr val="accent1"/>
            </a:solidFill>
            <a:prstDash val="solid"/>
          </a:ln>
        </p:spPr>
      </p:sp>
      <p:pic>
        <p:nvPicPr>
          <p:cNvPr id="33" name="icon-186" descr="preencoded.png">    </p:cNvPr>
          <p:cNvPicPr>
            <a:picLocks noChangeAspect="1"/>
          </p:cNvPicPr>
          <p:nvPr/>
        </p:nvPicPr>
        <p:blipFill>
          <a:blip r:embed="rId5"/>
          <a:stretch>
            <a:fillRect/>
          </a:stretch>
        </p:blipFill>
        <p:spPr>
          <a:xfrm>
            <a:off x="9979213" y="1676461"/>
            <a:ext cx="286390" cy="286390"/>
          </a:xfrm>
          <a:prstGeom prst="rect">
            <a:avLst/>
          </a:prstGeom>
        </p:spPr>
      </p:pic>
      <p:sp>
        <p:nvSpPr>
          <p:cNvPr id="34" name="text-187"/>
          <p:cNvSpPr txBox="1"/>
          <p:nvPr/>
        </p:nvSpPr>
        <p:spPr>
          <a:xfrm>
            <a:off x="11137392" y="1554480"/>
            <a:ext cx="320040" cy="365760"/>
          </a:xfrm>
          <a:prstGeom prst="rect">
            <a:avLst/>
          </a:prstGeom>
          <a:noFill/>
          <a:ln/>
        </p:spPr>
        <p:txBody>
          <a:bodyPr wrap="square" lIns="0" tIns="0" rIns="0" bIns="0" rtlCol="0" anchor="t"/>
          <a:lstStyle/>
          <a:p>
            <a:pPr algn="r" indent="0" marL="0">
              <a:buNone/>
            </a:pPr>
            <a:r>
              <a:rPr lang="en-US" sz="1800" b="1" dirty="0">
                <a:solidFill>
                  <a:schemeClr val="accent6"/>
                </a:solidFill>
              </a:rPr>
              <a:t>5</a:t>
            </a:r>
            <a:endParaRPr lang="en-US" sz="1800" dirty="0"/>
          </a:p>
        </p:txBody>
      </p:sp>
      <p:sp>
        <p:nvSpPr>
          <p:cNvPr id="35" name="text-188"/>
          <p:cNvSpPr txBox="1"/>
          <p:nvPr/>
        </p:nvSpPr>
        <p:spPr>
          <a:xfrm>
            <a:off x="9857232" y="2194560"/>
            <a:ext cx="1600200" cy="384048"/>
          </a:xfrm>
          <a:prstGeom prst="rect">
            <a:avLst/>
          </a:prstGeom>
          <a:noFill/>
          <a:ln/>
        </p:spPr>
        <p:txBody>
          <a:bodyPr wrap="square" lIns="0" tIns="0" rIns="0" bIns="0" rtlCol="0" anchor="t"/>
          <a:lstStyle/>
          <a:p>
            <a:pPr indent="0" marL="0">
              <a:buNone/>
            </a:pPr>
            <a:r>
              <a:rPr lang="en-US" sz="1900" b="1" dirty="0">
                <a:solidFill>
                  <a:schemeClr val="tx1"/>
                </a:solidFill>
              </a:rPr>
              <a:t>Deploy</a:t>
            </a:r>
            <a:endParaRPr lang="en-US" sz="1900" dirty="0"/>
          </a:p>
        </p:txBody>
      </p:sp>
      <p:sp>
        <p:nvSpPr>
          <p:cNvPr id="36" name="text-189"/>
          <p:cNvSpPr txBox="1"/>
          <p:nvPr/>
        </p:nvSpPr>
        <p:spPr>
          <a:xfrm>
            <a:off x="9857232" y="2651760"/>
            <a:ext cx="1691640" cy="11887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2"/>
                </a:solidFill>
              </a:rPr>
              <a:t>helm upgrade</a:t>
            </a:r>
            <a:endParaRPr lang="en-US" sz="1400" dirty="0"/>
          </a:p>
          <a:p>
            <a:pPr marL="152400" indent="-152400">
              <a:spcAft>
                <a:spcPts val="400"/>
              </a:spcAft>
              <a:buSzPct val="100000"/>
              <a:buChar char="•"/>
            </a:pPr>
            <a:r>
              <a:rPr lang="en-US" sz="1400" dirty="0">
                <a:solidFill>
                  <a:schemeClr val="tx2"/>
                </a:solidFill>
              </a:rPr>
              <a:t>Same SHA</a:t>
            </a:r>
            <a:endParaRPr lang="en-US" sz="1400" dirty="0"/>
          </a:p>
          <a:p>
            <a:pPr marL="152400" indent="-152400">
              <a:spcAft>
                <a:spcPts val="400"/>
              </a:spcAft>
              <a:buSzPct val="100000"/>
              <a:buChar char="•"/>
            </a:pPr>
            <a:r>
              <a:rPr lang="en-US" sz="1400" dirty="0">
                <a:solidFill>
                  <a:schemeClr val="tx2"/>
                </a:solidFill>
              </a:rPr>
              <a:t>Repo toggle</a:t>
            </a:r>
            <a:endParaRPr lang="en-US" sz="1400" dirty="0"/>
          </a:p>
        </p:txBody>
      </p:sp>
      <p:sp>
        <p:nvSpPr>
          <p:cNvPr id="37" name="shot-frame-190"/>
          <p:cNvSpPr/>
          <p:nvPr/>
        </p:nvSpPr>
        <p:spPr>
          <a:xfrm>
            <a:off x="548640" y="4206240"/>
            <a:ext cx="6035040" cy="1929384"/>
          </a:xfrm>
          <a:prstGeom prst="rect">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38" name="screenshot-191" descr="/home/cryo/Code/devops/finalProject/screenshots/19-ci-runs-list.png">    </p:cNvPr>
          <p:cNvPicPr>
            <a:picLocks noChangeAspect="1"/>
          </p:cNvPicPr>
          <p:nvPr/>
        </p:nvPicPr>
        <p:blipFill>
          <a:blip r:embed="rId6"/>
          <a:stretch>
            <a:fillRect/>
          </a:stretch>
        </p:blipFill>
        <p:spPr>
          <a:xfrm>
            <a:off x="548640" y="4206240"/>
            <a:ext cx="6035040" cy="1929384"/>
          </a:xfrm>
          <a:prstGeom prst="rect">
            <a:avLst/>
          </a:prstGeom>
        </p:spPr>
      </p:pic>
      <p:sp>
        <p:nvSpPr>
          <p:cNvPr id="39" name="icon-bg-192"/>
          <p:cNvSpPr/>
          <p:nvPr/>
        </p:nvSpPr>
        <p:spPr>
          <a:xfrm>
            <a:off x="6949440" y="4251960"/>
            <a:ext cx="502920" cy="502920"/>
          </a:xfrm>
          <a:prstGeom prst="ellipse">
            <a:avLst/>
          </a:prstGeom>
          <a:solidFill>
            <a:schemeClr val="accent4"/>
          </a:solidFill>
          <a:ln w="12700">
            <a:solidFill>
              <a:schemeClr val="accent4"/>
            </a:solidFill>
            <a:prstDash val="solid"/>
          </a:ln>
        </p:spPr>
      </p:sp>
      <p:pic>
        <p:nvPicPr>
          <p:cNvPr id="40" name="icon-193" descr="preencoded.png">    </p:cNvPr>
          <p:cNvPicPr>
            <a:picLocks noChangeAspect="1"/>
          </p:cNvPicPr>
          <p:nvPr/>
        </p:nvPicPr>
        <p:blipFill>
          <a:blip r:embed="rId7"/>
          <a:stretch>
            <a:fillRect/>
          </a:stretch>
        </p:blipFill>
        <p:spPr>
          <a:xfrm>
            <a:off x="7065112" y="4367632"/>
            <a:ext cx="271577" cy="271577"/>
          </a:xfrm>
          <a:prstGeom prst="rect">
            <a:avLst/>
          </a:prstGeom>
        </p:spPr>
      </p:pic>
      <p:sp>
        <p:nvSpPr>
          <p:cNvPr id="41" name="text-194"/>
          <p:cNvSpPr txBox="1"/>
          <p:nvPr/>
        </p:nvSpPr>
        <p:spPr>
          <a:xfrm>
            <a:off x="7589520" y="4224528"/>
            <a:ext cx="4050792" cy="685800"/>
          </a:xfrm>
          <a:prstGeom prst="rect">
            <a:avLst/>
          </a:prstGeom>
          <a:noFill/>
          <a:ln/>
        </p:spPr>
        <p:txBody>
          <a:bodyPr wrap="square" lIns="0" tIns="0" rIns="0" bIns="0" rtlCol="0" anchor="t"/>
          <a:lstStyle/>
          <a:p>
            <a:pPr indent="0" marL="0">
              <a:buNone/>
            </a:pPr>
            <a:r>
              <a:rPr lang="en-US" sz="1500" b="1" dirty="0">
                <a:solidFill>
                  <a:schemeClr val="tx1"/>
                </a:solidFill>
              </a:rPr>
              <a:t>Run #1 failed in the build stage</a:t>
            </a:r>
            <a:endParaRPr lang="en-US" sz="1500" dirty="0"/>
          </a:p>
          <a:p>
            <a:pPr indent="0" marL="0">
              <a:buNone/>
            </a:pPr>
            <a:r>
              <a:rPr lang="en-US" sz="1500" dirty="0">
                <a:solidFill>
                  <a:schemeClr val="tx2"/>
                </a:solidFill>
              </a:rPr>
              <a:t>so no image was pushed. The gate worked.</a:t>
            </a:r>
            <a:endParaRPr lang="en-US" sz="1500" dirty="0"/>
          </a:p>
        </p:txBody>
      </p:sp>
      <p:sp>
        <p:nvSpPr>
          <p:cNvPr id="42" name="icon-bg-195"/>
          <p:cNvSpPr/>
          <p:nvPr/>
        </p:nvSpPr>
        <p:spPr>
          <a:xfrm>
            <a:off x="6949440" y="5257800"/>
            <a:ext cx="502920" cy="502920"/>
          </a:xfrm>
          <a:prstGeom prst="ellipse">
            <a:avLst/>
          </a:prstGeom>
          <a:solidFill>
            <a:schemeClr val="accent2"/>
          </a:solidFill>
          <a:ln w="12700">
            <a:solidFill>
              <a:schemeClr val="accent2"/>
            </a:solidFill>
            <a:prstDash val="solid"/>
          </a:ln>
        </p:spPr>
      </p:sp>
      <p:pic>
        <p:nvPicPr>
          <p:cNvPr id="43" name="icon-196" descr="preencoded.png">    </p:cNvPr>
          <p:cNvPicPr>
            <a:picLocks noChangeAspect="1"/>
          </p:cNvPicPr>
          <p:nvPr/>
        </p:nvPicPr>
        <p:blipFill>
          <a:blip r:embed="rId8"/>
          <a:stretch>
            <a:fillRect/>
          </a:stretch>
        </p:blipFill>
        <p:spPr>
          <a:xfrm>
            <a:off x="7065112" y="5373472"/>
            <a:ext cx="271577" cy="271577"/>
          </a:xfrm>
          <a:prstGeom prst="rect">
            <a:avLst/>
          </a:prstGeom>
        </p:spPr>
      </p:pic>
      <p:sp>
        <p:nvSpPr>
          <p:cNvPr id="44" name="text-197"/>
          <p:cNvSpPr txBox="1"/>
          <p:nvPr/>
        </p:nvSpPr>
        <p:spPr>
          <a:xfrm>
            <a:off x="7589520" y="5230368"/>
            <a:ext cx="4050792" cy="685800"/>
          </a:xfrm>
          <a:prstGeom prst="rect">
            <a:avLst/>
          </a:prstGeom>
          <a:noFill/>
          <a:ln/>
        </p:spPr>
        <p:txBody>
          <a:bodyPr wrap="square" lIns="0" tIns="0" rIns="0" bIns="0" rtlCol="0" anchor="t"/>
          <a:lstStyle/>
          <a:p>
            <a:pPr indent="0" marL="0">
              <a:buNone/>
            </a:pPr>
            <a:r>
              <a:rPr lang="en-US" sz="1500" b="1" dirty="0">
                <a:solidFill>
                  <a:schemeClr val="tx1"/>
                </a:solidFill>
              </a:rPr>
              <a:t>Runs #2 and #3 green</a:t>
            </a:r>
            <a:endParaRPr lang="en-US" sz="1500" dirty="0"/>
          </a:p>
          <a:p>
            <a:pPr indent="0" marL="0">
              <a:buNone/>
            </a:pPr>
            <a:r>
              <a:rPr lang="en-US" sz="1500" dirty="0">
                <a:solidFill>
                  <a:schemeClr val="tx2"/>
                </a:solidFill>
              </a:rPr>
              <a:t>#3 deployed to EKS in 59 seconds.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Containers and the security gate</a:t>
            </a:r>
            <a:endParaRPr lang="en-US" sz="3600" dirty="0"/>
          </a:p>
        </p:txBody>
      </p:sp>
      <p:sp>
        <p:nvSpPr>
          <p:cNvPr id="3" name="text-198"/>
          <p:cNvSpPr txBox="1"/>
          <p:nvPr/>
        </p:nvSpPr>
        <p:spPr>
          <a:xfrm>
            <a:off x="548640" y="1371600"/>
            <a:ext cx="5486400" cy="411480"/>
          </a:xfrm>
          <a:prstGeom prst="rect">
            <a:avLst/>
          </a:prstGeom>
          <a:noFill/>
          <a:ln/>
        </p:spPr>
        <p:txBody>
          <a:bodyPr wrap="square" lIns="0" tIns="0" rIns="0" bIns="0" rtlCol="0" anchor="t"/>
          <a:lstStyle/>
          <a:p>
            <a:pPr indent="0" marL="0">
              <a:buNone/>
            </a:pPr>
            <a:r>
              <a:rPr lang="en-US" sz="2000" b="1" dirty="0">
                <a:solidFill>
                  <a:schemeClr val="tx1"/>
                </a:solidFill>
              </a:rPr>
              <a:t>Multi-stage builds</a:t>
            </a:r>
            <a:endParaRPr lang="en-US" sz="2000" dirty="0"/>
          </a:p>
        </p:txBody>
      </p:sp>
      <p:sp>
        <p:nvSpPr>
          <p:cNvPr id="4" name="icon-bg-199"/>
          <p:cNvSpPr/>
          <p:nvPr/>
        </p:nvSpPr>
        <p:spPr>
          <a:xfrm>
            <a:off x="548640" y="2121408"/>
            <a:ext cx="502920" cy="502920"/>
          </a:xfrm>
          <a:prstGeom prst="ellipse">
            <a:avLst/>
          </a:prstGeom>
          <a:solidFill>
            <a:schemeClr val="accent1"/>
          </a:solidFill>
          <a:ln w="12700">
            <a:solidFill>
              <a:schemeClr val="accent1"/>
            </a:solidFill>
            <a:prstDash val="solid"/>
          </a:ln>
        </p:spPr>
      </p:sp>
      <p:pic>
        <p:nvPicPr>
          <p:cNvPr id="5" name="icon-200" descr="preencoded.png">    </p:cNvPr>
          <p:cNvPicPr>
            <a:picLocks noChangeAspect="1"/>
          </p:cNvPicPr>
          <p:nvPr/>
        </p:nvPicPr>
        <p:blipFill>
          <a:blip r:embed="rId1"/>
          <a:stretch>
            <a:fillRect/>
          </a:stretch>
        </p:blipFill>
        <p:spPr>
          <a:xfrm>
            <a:off x="664312" y="2237080"/>
            <a:ext cx="271577" cy="271577"/>
          </a:xfrm>
          <a:prstGeom prst="rect">
            <a:avLst/>
          </a:prstGeom>
        </p:spPr>
      </p:pic>
      <p:sp>
        <p:nvSpPr>
          <p:cNvPr id="6" name="text-201"/>
          <p:cNvSpPr txBox="1"/>
          <p:nvPr/>
        </p:nvSpPr>
        <p:spPr>
          <a:xfrm>
            <a:off x="548640" y="2697480"/>
            <a:ext cx="822960" cy="274320"/>
          </a:xfrm>
          <a:prstGeom prst="rect">
            <a:avLst/>
          </a:prstGeom>
          <a:noFill/>
          <a:ln/>
        </p:spPr>
        <p:txBody>
          <a:bodyPr wrap="square" lIns="0" tIns="0" rIns="0" bIns="0" rtlCol="0" anchor="t"/>
          <a:lstStyle/>
          <a:p>
            <a:pPr indent="0" marL="0">
              <a:buNone/>
            </a:pPr>
            <a:r>
              <a:rPr lang="en-US" sz="1200" b="1" dirty="0">
                <a:solidFill>
                  <a:schemeClr val="tx1"/>
                </a:solidFill>
              </a:rPr>
              <a:t>Frontend</a:t>
            </a:r>
            <a:endParaRPr lang="en-US" sz="1200" dirty="0"/>
          </a:p>
        </p:txBody>
      </p:sp>
      <p:sp>
        <p:nvSpPr>
          <p:cNvPr id="7" name="card-202"/>
          <p:cNvSpPr/>
          <p:nvPr/>
        </p:nvSpPr>
        <p:spPr>
          <a:xfrm>
            <a:off x="1417320" y="1920240"/>
            <a:ext cx="2148840" cy="1143000"/>
          </a:xfrm>
          <a:prstGeom prst="roundRect">
            <a:avLst>
              <a:gd name="adj" fmla="val 8000"/>
            </a:avLst>
          </a:prstGeom>
          <a:solidFill>
            <a:schemeClr val="bg2"/>
          </a:solidFill>
          <a:ln w="9525">
            <a:solidFill>
              <a:schemeClr val="bg2"/>
            </a:solidFill>
            <a:prstDash val="solid"/>
          </a:ln>
        </p:spPr>
      </p:sp>
      <p:sp>
        <p:nvSpPr>
          <p:cNvPr id="8" name="text-203"/>
          <p:cNvSpPr txBox="1"/>
          <p:nvPr/>
        </p:nvSpPr>
        <p:spPr>
          <a:xfrm>
            <a:off x="1554480" y="2057400"/>
            <a:ext cx="1920240" cy="320040"/>
          </a:xfrm>
          <a:prstGeom prst="rect">
            <a:avLst/>
          </a:prstGeom>
          <a:noFill/>
          <a:ln/>
        </p:spPr>
        <p:txBody>
          <a:bodyPr wrap="square" lIns="0" tIns="0" rIns="0" bIns="0" rtlCol="0" anchor="t"/>
          <a:lstStyle/>
          <a:p>
            <a:pPr indent="0" marL="0">
              <a:buNone/>
            </a:pPr>
            <a:r>
              <a:rPr lang="en-US" sz="1500" b="1" dirty="0">
                <a:solidFill>
                  <a:schemeClr val="tx1"/>
                </a:solidFill>
              </a:rPr>
              <a:t>node:22 build</a:t>
            </a:r>
            <a:endParaRPr lang="en-US" sz="1500" dirty="0"/>
          </a:p>
        </p:txBody>
      </p:sp>
      <p:sp>
        <p:nvSpPr>
          <p:cNvPr id="9" name="text-204"/>
          <p:cNvSpPr txBox="1"/>
          <p:nvPr/>
        </p:nvSpPr>
        <p:spPr>
          <a:xfrm>
            <a:off x="1554480" y="2395728"/>
            <a:ext cx="1920240" cy="594360"/>
          </a:xfrm>
          <a:prstGeom prst="rect">
            <a:avLst/>
          </a:prstGeom>
          <a:noFill/>
          <a:ln/>
        </p:spPr>
        <p:txBody>
          <a:bodyPr wrap="square" lIns="0" tIns="0" rIns="0" bIns="0" rtlCol="0" anchor="t"/>
          <a:lstStyle/>
          <a:p>
            <a:pPr indent="0" marL="0">
              <a:buNone/>
            </a:pPr>
            <a:r>
              <a:rPr lang="en-US" sz="1300" dirty="0">
                <a:solidFill>
                  <a:schemeClr val="tx2"/>
                </a:solidFill>
              </a:rPr>
              <a:t>npm ci, vite build</a:t>
            </a:r>
            <a:endParaRPr lang="en-US" sz="1300" dirty="0"/>
          </a:p>
        </p:txBody>
      </p:sp>
      <p:sp>
        <p:nvSpPr>
          <p:cNvPr id="10" name="arrow-205"/>
          <p:cNvSpPr/>
          <p:nvPr/>
        </p:nvSpPr>
        <p:spPr>
          <a:xfrm>
            <a:off x="3611880" y="2491740"/>
            <a:ext cx="411480" cy="0"/>
          </a:xfrm>
          <a:prstGeom prst="line">
            <a:avLst/>
          </a:prstGeom>
          <a:noFill/>
          <a:ln w="19050">
            <a:solidFill>
              <a:schemeClr val="accent6"/>
            </a:solidFill>
            <a:prstDash val="solid"/>
            <a:tailEnd type="triangle"/>
          </a:ln>
        </p:spPr>
      </p:sp>
      <p:sp>
        <p:nvSpPr>
          <p:cNvPr id="11" name="box-206"/>
          <p:cNvSpPr/>
          <p:nvPr/>
        </p:nvSpPr>
        <p:spPr>
          <a:xfrm>
            <a:off x="4069080" y="1920240"/>
            <a:ext cx="2286000" cy="1143000"/>
          </a:xfrm>
          <a:prstGeom prst="roundRect">
            <a:avLst>
              <a:gd name="adj" fmla="val 6400"/>
            </a:avLst>
          </a:prstGeom>
          <a:solidFill>
            <a:schemeClr val="bg1"/>
          </a:solidFill>
          <a:ln w="12700">
            <a:solidFill>
              <a:schemeClr val="accent2"/>
            </a:solidFill>
            <a:prstDash val="solid"/>
          </a:ln>
          <a:effectLst>
            <a:outerShdw sx="100000" sy="100000" kx="0" ky="0" algn="bl" rotWithShape="0" blurRad="101600" dist="25400" dir="5400000">
              <a:srgbClr val="0F172A">
                <a:alpha val="12000"/>
              </a:srgbClr>
            </a:outerShdw>
          </a:effectLst>
        </p:spPr>
      </p:sp>
      <p:sp>
        <p:nvSpPr>
          <p:cNvPr id="12" name="text-207"/>
          <p:cNvSpPr txBox="1"/>
          <p:nvPr/>
        </p:nvSpPr>
        <p:spPr>
          <a:xfrm>
            <a:off x="4206240" y="2057400"/>
            <a:ext cx="2057400" cy="320040"/>
          </a:xfrm>
          <a:prstGeom prst="rect">
            <a:avLst/>
          </a:prstGeom>
          <a:noFill/>
          <a:ln/>
        </p:spPr>
        <p:txBody>
          <a:bodyPr wrap="square" lIns="0" tIns="0" rIns="0" bIns="0" rtlCol="0" anchor="t"/>
          <a:lstStyle/>
          <a:p>
            <a:pPr indent="0" marL="0">
              <a:buNone/>
            </a:pPr>
            <a:r>
              <a:rPr lang="en-US" sz="1500" b="1" dirty="0">
                <a:solidFill>
                  <a:schemeClr val="tx1"/>
                </a:solidFill>
              </a:rPr>
              <a:t>Nginx unprivileged</a:t>
            </a:r>
            <a:endParaRPr lang="en-US" sz="1500" dirty="0"/>
          </a:p>
        </p:txBody>
      </p:sp>
      <p:sp>
        <p:nvSpPr>
          <p:cNvPr id="13" name="text-208"/>
          <p:cNvSpPr txBox="1"/>
          <p:nvPr/>
        </p:nvSpPr>
        <p:spPr>
          <a:xfrm>
            <a:off x="4206240" y="2395728"/>
            <a:ext cx="2057400" cy="594360"/>
          </a:xfrm>
          <a:prstGeom prst="rect">
            <a:avLst/>
          </a:prstGeom>
          <a:noFill/>
          <a:ln/>
        </p:spPr>
        <p:txBody>
          <a:bodyPr wrap="square" lIns="0" tIns="0" rIns="0" bIns="0" rtlCol="0" anchor="t"/>
          <a:lstStyle/>
          <a:p>
            <a:pPr indent="0" marL="0">
              <a:buNone/>
            </a:pPr>
            <a:r>
              <a:rPr lang="en-US" sz="1300" dirty="0">
                <a:solidFill>
                  <a:schemeClr val="tx2"/>
                </a:solidFill>
              </a:rPr>
              <a:t>static files only, port 8080</a:t>
            </a:r>
            <a:endParaRPr lang="en-US" sz="1300" dirty="0"/>
          </a:p>
        </p:txBody>
      </p:sp>
      <p:sp>
        <p:nvSpPr>
          <p:cNvPr id="14" name="icon-bg-209"/>
          <p:cNvSpPr/>
          <p:nvPr/>
        </p:nvSpPr>
        <p:spPr>
          <a:xfrm>
            <a:off x="548640" y="3538728"/>
            <a:ext cx="502920" cy="502920"/>
          </a:xfrm>
          <a:prstGeom prst="ellipse">
            <a:avLst/>
          </a:prstGeom>
          <a:solidFill>
            <a:schemeClr val="accent1"/>
          </a:solidFill>
          <a:ln w="12700">
            <a:solidFill>
              <a:schemeClr val="accent1"/>
            </a:solidFill>
            <a:prstDash val="solid"/>
          </a:ln>
        </p:spPr>
      </p:sp>
      <p:pic>
        <p:nvPicPr>
          <p:cNvPr id="15" name="icon-210" descr="preencoded.png">    </p:cNvPr>
          <p:cNvPicPr>
            <a:picLocks noChangeAspect="1"/>
          </p:cNvPicPr>
          <p:nvPr/>
        </p:nvPicPr>
        <p:blipFill>
          <a:blip r:embed="rId2"/>
          <a:stretch>
            <a:fillRect/>
          </a:stretch>
        </p:blipFill>
        <p:spPr>
          <a:xfrm>
            <a:off x="664312" y="3654400"/>
            <a:ext cx="271577" cy="271577"/>
          </a:xfrm>
          <a:prstGeom prst="rect">
            <a:avLst/>
          </a:prstGeom>
        </p:spPr>
      </p:pic>
      <p:sp>
        <p:nvSpPr>
          <p:cNvPr id="16" name="text-211"/>
          <p:cNvSpPr txBox="1"/>
          <p:nvPr/>
        </p:nvSpPr>
        <p:spPr>
          <a:xfrm>
            <a:off x="548640" y="4114800"/>
            <a:ext cx="822960" cy="274320"/>
          </a:xfrm>
          <a:prstGeom prst="rect">
            <a:avLst/>
          </a:prstGeom>
          <a:noFill/>
          <a:ln/>
        </p:spPr>
        <p:txBody>
          <a:bodyPr wrap="square" lIns="0" tIns="0" rIns="0" bIns="0" rtlCol="0" anchor="t"/>
          <a:lstStyle/>
          <a:p>
            <a:pPr indent="0" marL="0">
              <a:buNone/>
            </a:pPr>
            <a:r>
              <a:rPr lang="en-US" sz="1200" b="1" dirty="0">
                <a:solidFill>
                  <a:schemeClr val="tx1"/>
                </a:solidFill>
              </a:rPr>
              <a:t>Backend</a:t>
            </a:r>
            <a:endParaRPr lang="en-US" sz="1200" dirty="0"/>
          </a:p>
        </p:txBody>
      </p:sp>
      <p:sp>
        <p:nvSpPr>
          <p:cNvPr id="17" name="card-212"/>
          <p:cNvSpPr/>
          <p:nvPr/>
        </p:nvSpPr>
        <p:spPr>
          <a:xfrm>
            <a:off x="1417320" y="3337560"/>
            <a:ext cx="2148840" cy="1143000"/>
          </a:xfrm>
          <a:prstGeom prst="roundRect">
            <a:avLst>
              <a:gd name="adj" fmla="val 8000"/>
            </a:avLst>
          </a:prstGeom>
          <a:solidFill>
            <a:schemeClr val="bg2"/>
          </a:solidFill>
          <a:ln w="9525">
            <a:solidFill>
              <a:schemeClr val="bg2"/>
            </a:solidFill>
            <a:prstDash val="solid"/>
          </a:ln>
        </p:spPr>
      </p:sp>
      <p:sp>
        <p:nvSpPr>
          <p:cNvPr id="18" name="text-213"/>
          <p:cNvSpPr txBox="1"/>
          <p:nvPr/>
        </p:nvSpPr>
        <p:spPr>
          <a:xfrm>
            <a:off x="1554480" y="3474720"/>
            <a:ext cx="1920240" cy="320040"/>
          </a:xfrm>
          <a:prstGeom prst="rect">
            <a:avLst/>
          </a:prstGeom>
          <a:noFill/>
          <a:ln/>
        </p:spPr>
        <p:txBody>
          <a:bodyPr wrap="square" lIns="0" tIns="0" rIns="0" bIns="0" rtlCol="0" anchor="t"/>
          <a:lstStyle/>
          <a:p>
            <a:pPr indent="0" marL="0">
              <a:buNone/>
            </a:pPr>
            <a:r>
              <a:rPr lang="en-US" sz="1500" b="1" dirty="0">
                <a:solidFill>
                  <a:schemeClr val="tx1"/>
                </a:solidFill>
              </a:rPr>
              <a:t>Python builder</a:t>
            </a:r>
            <a:endParaRPr lang="en-US" sz="1500" dirty="0"/>
          </a:p>
        </p:txBody>
      </p:sp>
      <p:sp>
        <p:nvSpPr>
          <p:cNvPr id="19" name="text-214"/>
          <p:cNvSpPr txBox="1"/>
          <p:nvPr/>
        </p:nvSpPr>
        <p:spPr>
          <a:xfrm>
            <a:off x="1554480" y="3813048"/>
            <a:ext cx="1920240" cy="594360"/>
          </a:xfrm>
          <a:prstGeom prst="rect">
            <a:avLst/>
          </a:prstGeom>
          <a:noFill/>
          <a:ln/>
        </p:spPr>
        <p:txBody>
          <a:bodyPr wrap="square" lIns="0" tIns="0" rIns="0" bIns="0" rtlCol="0" anchor="t"/>
          <a:lstStyle/>
          <a:p>
            <a:pPr indent="0" marL="0">
              <a:buNone/>
            </a:pPr>
            <a:r>
              <a:rPr lang="en-US" sz="1300" dirty="0">
                <a:solidFill>
                  <a:schemeClr val="tx2"/>
                </a:solidFill>
              </a:rPr>
              <a:t>deps into /opt/venv</a:t>
            </a:r>
            <a:endParaRPr lang="en-US" sz="1300" dirty="0"/>
          </a:p>
        </p:txBody>
      </p:sp>
      <p:sp>
        <p:nvSpPr>
          <p:cNvPr id="20" name="arrow-215"/>
          <p:cNvSpPr/>
          <p:nvPr/>
        </p:nvSpPr>
        <p:spPr>
          <a:xfrm>
            <a:off x="3611880" y="3909060"/>
            <a:ext cx="411480" cy="0"/>
          </a:xfrm>
          <a:prstGeom prst="line">
            <a:avLst/>
          </a:prstGeom>
          <a:noFill/>
          <a:ln w="19050">
            <a:solidFill>
              <a:schemeClr val="accent6"/>
            </a:solidFill>
            <a:prstDash val="solid"/>
            <a:tailEnd type="triangle"/>
          </a:ln>
        </p:spPr>
      </p:sp>
      <p:sp>
        <p:nvSpPr>
          <p:cNvPr id="21" name="box-216"/>
          <p:cNvSpPr/>
          <p:nvPr/>
        </p:nvSpPr>
        <p:spPr>
          <a:xfrm>
            <a:off x="4069080" y="3337560"/>
            <a:ext cx="2286000" cy="1143000"/>
          </a:xfrm>
          <a:prstGeom prst="roundRect">
            <a:avLst>
              <a:gd name="adj" fmla="val 6400"/>
            </a:avLst>
          </a:prstGeom>
          <a:solidFill>
            <a:schemeClr val="bg1"/>
          </a:solidFill>
          <a:ln w="12700">
            <a:solidFill>
              <a:schemeClr val="accent2"/>
            </a:solidFill>
            <a:prstDash val="solid"/>
          </a:ln>
          <a:effectLst>
            <a:outerShdw sx="100000" sy="100000" kx="0" ky="0" algn="bl" rotWithShape="0" blurRad="101600" dist="25400" dir="5400000">
              <a:srgbClr val="0F172A">
                <a:alpha val="12000"/>
              </a:srgbClr>
            </a:outerShdw>
          </a:effectLst>
        </p:spPr>
      </p:sp>
      <p:sp>
        <p:nvSpPr>
          <p:cNvPr id="22" name="text-217"/>
          <p:cNvSpPr txBox="1"/>
          <p:nvPr/>
        </p:nvSpPr>
        <p:spPr>
          <a:xfrm>
            <a:off x="4206240" y="3474720"/>
            <a:ext cx="2057400" cy="320040"/>
          </a:xfrm>
          <a:prstGeom prst="rect">
            <a:avLst/>
          </a:prstGeom>
          <a:noFill/>
          <a:ln/>
        </p:spPr>
        <p:txBody>
          <a:bodyPr wrap="square" lIns="0" tIns="0" rIns="0" bIns="0" rtlCol="0" anchor="t"/>
          <a:lstStyle/>
          <a:p>
            <a:pPr indent="0" marL="0">
              <a:buNone/>
            </a:pPr>
            <a:r>
              <a:rPr lang="en-US" sz="1500" b="1" dirty="0">
                <a:solidFill>
                  <a:schemeClr val="tx1"/>
                </a:solidFill>
              </a:rPr>
              <a:t>python:3.12-slim</a:t>
            </a:r>
            <a:endParaRPr lang="en-US" sz="1500" dirty="0"/>
          </a:p>
        </p:txBody>
      </p:sp>
      <p:sp>
        <p:nvSpPr>
          <p:cNvPr id="23" name="text-218"/>
          <p:cNvSpPr txBox="1"/>
          <p:nvPr/>
        </p:nvSpPr>
        <p:spPr>
          <a:xfrm>
            <a:off x="4206240" y="3813048"/>
            <a:ext cx="2057400" cy="594360"/>
          </a:xfrm>
          <a:prstGeom prst="rect">
            <a:avLst/>
          </a:prstGeom>
          <a:noFill/>
          <a:ln/>
        </p:spPr>
        <p:txBody>
          <a:bodyPr wrap="square" lIns="0" tIns="0" rIns="0" bIns="0" rtlCol="0" anchor="t"/>
          <a:lstStyle/>
          <a:p>
            <a:pPr indent="0" marL="0">
              <a:buNone/>
            </a:pPr>
            <a:r>
              <a:rPr lang="en-US" sz="1300" dirty="0">
                <a:solidFill>
                  <a:schemeClr val="tx2"/>
                </a:solidFill>
              </a:rPr>
              <a:t>venv only, no pip, uid 10001</a:t>
            </a:r>
            <a:endParaRPr lang="en-US" sz="1300" dirty="0"/>
          </a:p>
        </p:txBody>
      </p:sp>
      <p:sp>
        <p:nvSpPr>
          <p:cNvPr id="24" name="text-219"/>
          <p:cNvSpPr txBox="1"/>
          <p:nvPr/>
        </p:nvSpPr>
        <p:spPr>
          <a:xfrm>
            <a:off x="548640" y="4709160"/>
            <a:ext cx="5806440" cy="320040"/>
          </a:xfrm>
          <a:prstGeom prst="rect">
            <a:avLst/>
          </a:prstGeom>
          <a:noFill/>
          <a:ln/>
        </p:spPr>
        <p:txBody>
          <a:bodyPr wrap="square" lIns="0" tIns="0" rIns="0" bIns="0" rtlCol="0" anchor="t"/>
          <a:lstStyle/>
          <a:p>
            <a:pPr indent="0" marL="0">
              <a:buNone/>
            </a:pPr>
            <a:r>
              <a:rPr lang="en-US" sz="1400" i="1" dirty="0">
                <a:solidFill>
                  <a:schemeClr val="tx2"/>
                </a:solidFill>
              </a:rPr>
              <a:t>Build tools never reach the runtime image.</a:t>
            </a:r>
            <a:endParaRPr lang="en-US" sz="1400" dirty="0"/>
          </a:p>
        </p:txBody>
      </p:sp>
      <p:sp>
        <p:nvSpPr>
          <p:cNvPr id="25" name="text-220"/>
          <p:cNvSpPr txBox="1"/>
          <p:nvPr/>
        </p:nvSpPr>
        <p:spPr>
          <a:xfrm>
            <a:off x="6858000" y="1371600"/>
            <a:ext cx="4754880" cy="411480"/>
          </a:xfrm>
          <a:prstGeom prst="rect">
            <a:avLst/>
          </a:prstGeom>
          <a:noFill/>
          <a:ln/>
        </p:spPr>
        <p:txBody>
          <a:bodyPr wrap="square" lIns="0" tIns="0" rIns="0" bIns="0" rtlCol="0" anchor="t"/>
          <a:lstStyle/>
          <a:p>
            <a:pPr indent="0" marL="0">
              <a:buNone/>
            </a:pPr>
            <a:r>
              <a:rPr lang="en-US" sz="2000" b="1" dirty="0">
                <a:solidFill>
                  <a:schemeClr val="tx1"/>
                </a:solidFill>
              </a:rPr>
              <a:t>Trivy: first scan vs fixed</a:t>
            </a:r>
            <a:endParaRPr lang="en-US" sz="2000" dirty="0"/>
          </a:p>
        </p:txBody>
      </p:sp>
      <p:sp>
        <p:nvSpPr>
          <p:cNvPr id="26" name="card-221"/>
          <p:cNvSpPr/>
          <p:nvPr/>
        </p:nvSpPr>
        <p:spPr>
          <a:xfrm>
            <a:off x="6858000" y="1920240"/>
            <a:ext cx="2194560" cy="1600200"/>
          </a:xfrm>
          <a:prstGeom prst="roundRect">
            <a:avLst>
              <a:gd name="adj" fmla="val 5714"/>
            </a:avLst>
          </a:prstGeom>
          <a:solidFill>
            <a:schemeClr val="bg2"/>
          </a:solidFill>
          <a:ln w="9525">
            <a:solidFill>
              <a:schemeClr val="bg2"/>
            </a:solidFill>
            <a:prstDash val="solid"/>
          </a:ln>
        </p:spPr>
      </p:sp>
      <p:sp>
        <p:nvSpPr>
          <p:cNvPr id="27" name="text-222"/>
          <p:cNvSpPr txBox="1"/>
          <p:nvPr/>
        </p:nvSpPr>
        <p:spPr>
          <a:xfrm>
            <a:off x="6858000" y="1965960"/>
            <a:ext cx="2194560" cy="914400"/>
          </a:xfrm>
          <a:prstGeom prst="rect">
            <a:avLst/>
          </a:prstGeom>
          <a:noFill/>
          <a:ln/>
        </p:spPr>
        <p:txBody>
          <a:bodyPr wrap="square" lIns="0" tIns="0" rIns="0" bIns="0" rtlCol="0" anchor="ctr"/>
          <a:lstStyle/>
          <a:p>
            <a:pPr algn="ctr" indent="0" marL="0">
              <a:buNone/>
            </a:pPr>
            <a:r>
              <a:rPr lang="en-US" sz="6000" b="1" dirty="0">
                <a:solidFill>
                  <a:schemeClr val="accent4"/>
                </a:solidFill>
                <a:latin typeface="Arial" pitchFamily="34" charset="0"/>
                <a:ea typeface="Arial" pitchFamily="34" charset="-122"/>
                <a:cs typeface="Arial" pitchFamily="34" charset="-120"/>
              </a:rPr>
              <a:t>9</a:t>
            </a:r>
            <a:endParaRPr lang="en-US" sz="6000" dirty="0"/>
          </a:p>
        </p:txBody>
      </p:sp>
      <p:sp>
        <p:nvSpPr>
          <p:cNvPr id="28" name="text-223"/>
          <p:cNvSpPr txBox="1"/>
          <p:nvPr/>
        </p:nvSpPr>
        <p:spPr>
          <a:xfrm>
            <a:off x="6949440" y="2926080"/>
            <a:ext cx="2011680" cy="457200"/>
          </a:xfrm>
          <a:prstGeom prst="rect">
            <a:avLst/>
          </a:prstGeom>
          <a:noFill/>
          <a:ln/>
        </p:spPr>
        <p:txBody>
          <a:bodyPr wrap="square" lIns="0" tIns="0" rIns="0" bIns="0" rtlCol="0" anchor="t"/>
          <a:lstStyle/>
          <a:p>
            <a:pPr algn="ctr" indent="0" marL="0">
              <a:buNone/>
            </a:pPr>
            <a:r>
              <a:rPr lang="en-US" sz="1300" dirty="0">
                <a:solidFill>
                  <a:schemeClr val="tx2"/>
                </a:solidFill>
              </a:rPr>
              <a:t>fixable HIGH, first scan</a:t>
            </a:r>
            <a:endParaRPr lang="en-US" sz="1300" dirty="0"/>
          </a:p>
        </p:txBody>
      </p:sp>
      <p:sp>
        <p:nvSpPr>
          <p:cNvPr id="29" name="arrow-224"/>
          <p:cNvSpPr/>
          <p:nvPr/>
        </p:nvSpPr>
        <p:spPr>
          <a:xfrm>
            <a:off x="9144000" y="2720340"/>
            <a:ext cx="457200" cy="0"/>
          </a:xfrm>
          <a:prstGeom prst="line">
            <a:avLst/>
          </a:prstGeom>
          <a:noFill/>
          <a:ln w="19050">
            <a:solidFill>
              <a:schemeClr val="accent6"/>
            </a:solidFill>
            <a:prstDash val="solid"/>
            <a:tailEnd type="triangle"/>
          </a:ln>
        </p:spPr>
      </p:sp>
      <p:sp>
        <p:nvSpPr>
          <p:cNvPr id="30" name="card-225"/>
          <p:cNvSpPr/>
          <p:nvPr/>
        </p:nvSpPr>
        <p:spPr>
          <a:xfrm>
            <a:off x="9692640" y="1920240"/>
            <a:ext cx="1947672" cy="1600200"/>
          </a:xfrm>
          <a:prstGeom prst="roundRect">
            <a:avLst>
              <a:gd name="adj" fmla="val 5714"/>
            </a:avLst>
          </a:prstGeom>
          <a:solidFill>
            <a:schemeClr val="bg2"/>
          </a:solidFill>
          <a:ln w="9525">
            <a:solidFill>
              <a:schemeClr val="bg2"/>
            </a:solidFill>
            <a:prstDash val="solid"/>
          </a:ln>
        </p:spPr>
      </p:sp>
      <p:sp>
        <p:nvSpPr>
          <p:cNvPr id="31" name="text-226"/>
          <p:cNvSpPr txBox="1"/>
          <p:nvPr/>
        </p:nvSpPr>
        <p:spPr>
          <a:xfrm>
            <a:off x="9692640" y="1965960"/>
            <a:ext cx="1947672" cy="914400"/>
          </a:xfrm>
          <a:prstGeom prst="rect">
            <a:avLst/>
          </a:prstGeom>
          <a:noFill/>
          <a:ln/>
        </p:spPr>
        <p:txBody>
          <a:bodyPr wrap="square" lIns="0" tIns="0" rIns="0" bIns="0" rtlCol="0" anchor="ctr"/>
          <a:lstStyle/>
          <a:p>
            <a:pPr algn="ctr" indent="0" marL="0">
              <a:buNone/>
            </a:pPr>
            <a:r>
              <a:rPr lang="en-US" sz="6000" b="1" dirty="0">
                <a:solidFill>
                  <a:schemeClr val="accent2"/>
                </a:solidFill>
                <a:latin typeface="Arial" pitchFamily="34" charset="0"/>
                <a:ea typeface="Arial" pitchFamily="34" charset="-122"/>
                <a:cs typeface="Arial" pitchFamily="34" charset="-120"/>
              </a:rPr>
              <a:t>0</a:t>
            </a:r>
            <a:endParaRPr lang="en-US" sz="6000" dirty="0"/>
          </a:p>
        </p:txBody>
      </p:sp>
      <p:sp>
        <p:nvSpPr>
          <p:cNvPr id="32" name="text-227"/>
          <p:cNvSpPr txBox="1"/>
          <p:nvPr/>
        </p:nvSpPr>
        <p:spPr>
          <a:xfrm>
            <a:off x="9784080" y="2926080"/>
            <a:ext cx="1764792" cy="457200"/>
          </a:xfrm>
          <a:prstGeom prst="rect">
            <a:avLst/>
          </a:prstGeom>
          <a:noFill/>
          <a:ln/>
        </p:spPr>
        <p:txBody>
          <a:bodyPr wrap="square" lIns="0" tIns="0" rIns="0" bIns="0" rtlCol="0" anchor="t"/>
          <a:lstStyle/>
          <a:p>
            <a:pPr algn="ctr" indent="0" marL="0">
              <a:buNone/>
            </a:pPr>
            <a:r>
              <a:rPr lang="en-US" sz="1300" dirty="0">
                <a:solidFill>
                  <a:schemeClr val="tx2"/>
                </a:solidFill>
              </a:rPr>
              <a:t>HIGH or CRITICAL now</a:t>
            </a:r>
            <a:endParaRPr lang="en-US" sz="1300" dirty="0"/>
          </a:p>
        </p:txBody>
      </p:sp>
      <p:sp>
        <p:nvSpPr>
          <p:cNvPr id="33" name="icon-bg-228"/>
          <p:cNvSpPr/>
          <p:nvPr/>
        </p:nvSpPr>
        <p:spPr>
          <a:xfrm>
            <a:off x="6858000" y="3794760"/>
            <a:ext cx="438912" cy="438912"/>
          </a:xfrm>
          <a:prstGeom prst="ellipse">
            <a:avLst/>
          </a:prstGeom>
          <a:solidFill>
            <a:schemeClr val="accent2"/>
          </a:solidFill>
          <a:ln w="12700">
            <a:solidFill>
              <a:schemeClr val="accent2"/>
            </a:solidFill>
            <a:prstDash val="solid"/>
          </a:ln>
        </p:spPr>
      </p:sp>
      <p:pic>
        <p:nvPicPr>
          <p:cNvPr id="34" name="icon-229" descr="preencoded.png">    </p:cNvPr>
          <p:cNvPicPr>
            <a:picLocks noChangeAspect="1"/>
          </p:cNvPicPr>
          <p:nvPr/>
        </p:nvPicPr>
        <p:blipFill>
          <a:blip r:embed="rId3"/>
          <a:stretch>
            <a:fillRect/>
          </a:stretch>
        </p:blipFill>
        <p:spPr>
          <a:xfrm>
            <a:off x="6958950" y="3895710"/>
            <a:ext cx="237012" cy="237012"/>
          </a:xfrm>
          <a:prstGeom prst="rect">
            <a:avLst/>
          </a:prstGeom>
        </p:spPr>
      </p:pic>
      <p:sp>
        <p:nvSpPr>
          <p:cNvPr id="35" name="text-230"/>
          <p:cNvSpPr txBox="1"/>
          <p:nvPr/>
        </p:nvSpPr>
        <p:spPr>
          <a:xfrm>
            <a:off x="7452360" y="3758184"/>
            <a:ext cx="4187952" cy="548640"/>
          </a:xfrm>
          <a:prstGeom prst="rect">
            <a:avLst/>
          </a:prstGeom>
          <a:noFill/>
          <a:ln/>
        </p:spPr>
        <p:txBody>
          <a:bodyPr wrap="square" lIns="0" tIns="0" rIns="0" bIns="0" rtlCol="0" anchor="ctr"/>
          <a:lstStyle/>
          <a:p>
            <a:pPr indent="0" marL="0">
              <a:buNone/>
            </a:pPr>
            <a:r>
              <a:rPr lang="en-US" sz="1400" dirty="0">
                <a:solidFill>
                  <a:schemeClr val="tx1"/>
                </a:solidFill>
              </a:rPr>
              <a:t>No pip in the runtime image (it vendored urllib3, msgpack, setuptools)</a:t>
            </a:r>
            <a:endParaRPr lang="en-US" sz="1400" dirty="0"/>
          </a:p>
        </p:txBody>
      </p:sp>
      <p:sp>
        <p:nvSpPr>
          <p:cNvPr id="36" name="icon-bg-231"/>
          <p:cNvSpPr/>
          <p:nvPr/>
        </p:nvSpPr>
        <p:spPr>
          <a:xfrm>
            <a:off x="6858000" y="4480560"/>
            <a:ext cx="438912" cy="438912"/>
          </a:xfrm>
          <a:prstGeom prst="ellipse">
            <a:avLst/>
          </a:prstGeom>
          <a:solidFill>
            <a:schemeClr val="accent2"/>
          </a:solidFill>
          <a:ln w="12700">
            <a:solidFill>
              <a:schemeClr val="accent2"/>
            </a:solidFill>
            <a:prstDash val="solid"/>
          </a:ln>
        </p:spPr>
      </p:sp>
      <p:pic>
        <p:nvPicPr>
          <p:cNvPr id="37" name="icon-232" descr="preencoded.png">    </p:cNvPr>
          <p:cNvPicPr>
            <a:picLocks noChangeAspect="1"/>
          </p:cNvPicPr>
          <p:nvPr/>
        </p:nvPicPr>
        <p:blipFill>
          <a:blip r:embed="rId4"/>
          <a:stretch>
            <a:fillRect/>
          </a:stretch>
        </p:blipFill>
        <p:spPr>
          <a:xfrm>
            <a:off x="6958950" y="4581510"/>
            <a:ext cx="237012" cy="237012"/>
          </a:xfrm>
          <a:prstGeom prst="rect">
            <a:avLst/>
          </a:prstGeom>
        </p:spPr>
      </p:pic>
      <p:sp>
        <p:nvSpPr>
          <p:cNvPr id="38" name="text-233"/>
          <p:cNvSpPr txBox="1"/>
          <p:nvPr/>
        </p:nvSpPr>
        <p:spPr>
          <a:xfrm>
            <a:off x="7452360" y="4443984"/>
            <a:ext cx="4187952" cy="548640"/>
          </a:xfrm>
          <a:prstGeom prst="rect">
            <a:avLst/>
          </a:prstGeom>
          <a:noFill/>
          <a:ln/>
        </p:spPr>
        <p:txBody>
          <a:bodyPr wrap="square" lIns="0" tIns="0" rIns="0" bIns="0" rtlCol="0" anchor="ctr"/>
          <a:lstStyle/>
          <a:p>
            <a:pPr indent="0" marL="0">
              <a:buNone/>
            </a:pPr>
            <a:r>
              <a:rPr lang="en-US" sz="1400" dirty="0">
                <a:solidFill>
                  <a:schemeClr val="tx1"/>
                </a:solidFill>
              </a:rPr>
              <a:t>Debian and Alpine security updates applied at build time</a:t>
            </a:r>
            <a:endParaRPr lang="en-US" sz="1400" dirty="0"/>
          </a:p>
        </p:txBody>
      </p:sp>
      <p:sp>
        <p:nvSpPr>
          <p:cNvPr id="39" name="icon-bg-234"/>
          <p:cNvSpPr/>
          <p:nvPr/>
        </p:nvSpPr>
        <p:spPr>
          <a:xfrm>
            <a:off x="6858000" y="5166360"/>
            <a:ext cx="438912" cy="438912"/>
          </a:xfrm>
          <a:prstGeom prst="ellipse">
            <a:avLst/>
          </a:prstGeom>
          <a:solidFill>
            <a:schemeClr val="accent2"/>
          </a:solidFill>
          <a:ln w="12700">
            <a:solidFill>
              <a:schemeClr val="accent2"/>
            </a:solidFill>
            <a:prstDash val="solid"/>
          </a:ln>
        </p:spPr>
      </p:sp>
      <p:pic>
        <p:nvPicPr>
          <p:cNvPr id="40" name="icon-235" descr="preencoded.png">    </p:cNvPr>
          <p:cNvPicPr>
            <a:picLocks noChangeAspect="1"/>
          </p:cNvPicPr>
          <p:nvPr/>
        </p:nvPicPr>
        <p:blipFill>
          <a:blip r:embed="rId5"/>
          <a:stretch>
            <a:fillRect/>
          </a:stretch>
        </p:blipFill>
        <p:spPr>
          <a:xfrm>
            <a:off x="6958950" y="5267310"/>
            <a:ext cx="237012" cy="237012"/>
          </a:xfrm>
          <a:prstGeom prst="rect">
            <a:avLst/>
          </a:prstGeom>
        </p:spPr>
      </p:pic>
      <p:sp>
        <p:nvSpPr>
          <p:cNvPr id="41" name="text-236"/>
          <p:cNvSpPr txBox="1"/>
          <p:nvPr/>
        </p:nvSpPr>
        <p:spPr>
          <a:xfrm>
            <a:off x="7452360" y="5129784"/>
            <a:ext cx="4187952" cy="548640"/>
          </a:xfrm>
          <a:prstGeom prst="rect">
            <a:avLst/>
          </a:prstGeom>
          <a:noFill/>
          <a:ln/>
        </p:spPr>
        <p:txBody>
          <a:bodyPr wrap="square" lIns="0" tIns="0" rIns="0" bIns="0" rtlCol="0" anchor="ctr"/>
          <a:lstStyle/>
          <a:p>
            <a:pPr indent="0" marL="0">
              <a:buNone/>
            </a:pPr>
            <a:r>
              <a:rPr lang="en-US" sz="1400" dirty="0">
                <a:solidFill>
                  <a:schemeClr val="tx1"/>
                </a:solidFill>
              </a:rPr>
              <a:t>pytest and httpx moved out of the production image</a:t>
            </a:r>
            <a:endParaRPr lang="en-US" sz="1400" dirty="0"/>
          </a:p>
        </p:txBody>
      </p:sp>
      <p:sp>
        <p:nvSpPr>
          <p:cNvPr id="42" name="card-237"/>
          <p:cNvSpPr/>
          <p:nvPr/>
        </p:nvSpPr>
        <p:spPr>
          <a:xfrm>
            <a:off x="548640" y="5349240"/>
            <a:ext cx="5806440" cy="777240"/>
          </a:xfrm>
          <a:prstGeom prst="roundRect">
            <a:avLst>
              <a:gd name="adj" fmla="val 11765"/>
            </a:avLst>
          </a:prstGeom>
          <a:solidFill>
            <a:schemeClr val="bg2"/>
          </a:solidFill>
          <a:ln w="9525">
            <a:solidFill>
              <a:schemeClr val="bg2"/>
            </a:solidFill>
            <a:prstDash val="solid"/>
          </a:ln>
        </p:spPr>
      </p:sp>
      <p:sp>
        <p:nvSpPr>
          <p:cNvPr id="43" name="icon-bg-238"/>
          <p:cNvSpPr/>
          <p:nvPr/>
        </p:nvSpPr>
        <p:spPr>
          <a:xfrm>
            <a:off x="713232" y="5486400"/>
            <a:ext cx="502920" cy="502920"/>
          </a:xfrm>
          <a:prstGeom prst="ellipse">
            <a:avLst/>
          </a:prstGeom>
          <a:solidFill>
            <a:schemeClr val="accent1"/>
          </a:solidFill>
          <a:ln w="12700">
            <a:solidFill>
              <a:schemeClr val="accent1"/>
            </a:solidFill>
            <a:prstDash val="solid"/>
          </a:ln>
        </p:spPr>
      </p:sp>
      <p:pic>
        <p:nvPicPr>
          <p:cNvPr id="44" name="icon-239" descr="preencoded.png">    </p:cNvPr>
          <p:cNvPicPr>
            <a:picLocks noChangeAspect="1"/>
          </p:cNvPicPr>
          <p:nvPr/>
        </p:nvPicPr>
        <p:blipFill>
          <a:blip r:embed="rId6"/>
          <a:stretch>
            <a:fillRect/>
          </a:stretch>
        </p:blipFill>
        <p:spPr>
          <a:xfrm>
            <a:off x="828904" y="5602072"/>
            <a:ext cx="271577" cy="271577"/>
          </a:xfrm>
          <a:prstGeom prst="rect">
            <a:avLst/>
          </a:prstGeom>
        </p:spPr>
      </p:pic>
      <p:sp>
        <p:nvSpPr>
          <p:cNvPr id="45" name="text-240"/>
          <p:cNvSpPr txBox="1"/>
          <p:nvPr/>
        </p:nvSpPr>
        <p:spPr>
          <a:xfrm>
            <a:off x="1371600" y="5349240"/>
            <a:ext cx="4892040" cy="777240"/>
          </a:xfrm>
          <a:prstGeom prst="rect">
            <a:avLst/>
          </a:prstGeom>
          <a:noFill/>
          <a:ln/>
        </p:spPr>
        <p:txBody>
          <a:bodyPr wrap="square" lIns="0" tIns="0" rIns="0" bIns="0" rtlCol="0" anchor="ctr"/>
          <a:lstStyle/>
          <a:p>
            <a:pPr indent="0" marL="0">
              <a:buNone/>
            </a:pPr>
            <a:r>
              <a:rPr lang="en-US" sz="1400" dirty="0">
                <a:solidFill>
                  <a:schemeClr val="tx1"/>
                </a:solidFill>
              </a:rPr>
              <a:t>In CI: the pipeline fails on any fixable CRITICAL, and the full report goes to GitHub's Security tab.</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Infrastructure as Code</a:t>
            </a:r>
            <a:endParaRPr lang="en-US" sz="3600" dirty="0"/>
          </a:p>
        </p:txBody>
      </p:sp>
      <p:sp>
        <p:nvSpPr>
          <p:cNvPr id="3" name="tf-vpc"/>
          <p:cNvSpPr/>
          <p:nvPr/>
        </p:nvSpPr>
        <p:spPr>
          <a:xfrm>
            <a:off x="548640" y="1371600"/>
            <a:ext cx="6217920" cy="4709160"/>
          </a:xfrm>
          <a:prstGeom prst="roundRect">
            <a:avLst>
              <a:gd name="adj" fmla="val 1942"/>
            </a:avLst>
          </a:prstGeom>
          <a:solidFill>
            <a:schemeClr val="bg2"/>
          </a:solidFill>
          <a:ln w="12700">
            <a:solidFill>
              <a:schemeClr val="accent1"/>
            </a:solidFill>
            <a:prstDash val="solid"/>
          </a:ln>
        </p:spPr>
      </p:sp>
      <p:pic>
        <p:nvPicPr>
          <p:cNvPr id="4" name="tf-logo" descr="preencoded.png">    </p:cNvPr>
          <p:cNvPicPr>
            <a:picLocks noChangeAspect="1"/>
          </p:cNvPicPr>
          <p:nvPr/>
        </p:nvPicPr>
        <p:blipFill>
          <a:blip r:embed="rId1"/>
          <a:stretch>
            <a:fillRect/>
          </a:stretch>
        </p:blipFill>
        <p:spPr>
          <a:xfrm>
            <a:off x="713232" y="1481328"/>
            <a:ext cx="347472" cy="347472"/>
          </a:xfrm>
          <a:prstGeom prst="rect">
            <a:avLst/>
          </a:prstGeom>
        </p:spPr>
      </p:pic>
      <p:sp>
        <p:nvSpPr>
          <p:cNvPr id="5" name="text-241"/>
          <p:cNvSpPr txBox="1"/>
          <p:nvPr/>
        </p:nvSpPr>
        <p:spPr>
          <a:xfrm>
            <a:off x="1143000" y="1481328"/>
            <a:ext cx="2743200" cy="347472"/>
          </a:xfrm>
          <a:prstGeom prst="rect">
            <a:avLst/>
          </a:prstGeom>
          <a:noFill/>
          <a:ln/>
        </p:spPr>
        <p:txBody>
          <a:bodyPr wrap="square" lIns="0" tIns="0" rIns="0" bIns="0" rtlCol="0" anchor="ctr"/>
          <a:lstStyle/>
          <a:p>
            <a:pPr indent="0" marL="0">
              <a:buNone/>
            </a:pPr>
            <a:r>
              <a:rPr lang="en-US" sz="1400" b="1" dirty="0">
                <a:solidFill>
                  <a:schemeClr val="accent1"/>
                </a:solidFill>
              </a:rPr>
              <a:t>VPC 10.0.0.0/16</a:t>
            </a:r>
            <a:endParaRPr lang="en-US" sz="1400" dirty="0"/>
          </a:p>
        </p:txBody>
      </p:sp>
      <p:sp>
        <p:nvSpPr>
          <p:cNvPr id="6" name="box-242"/>
          <p:cNvSpPr/>
          <p:nvPr/>
        </p:nvSpPr>
        <p:spPr>
          <a:xfrm>
            <a:off x="4160520" y="1481328"/>
            <a:ext cx="2423160" cy="411480"/>
          </a:xfrm>
          <a:prstGeom prst="roundRect">
            <a:avLst>
              <a:gd name="adj" fmla="val 17778"/>
            </a:avLst>
          </a:prstGeom>
          <a:solidFill>
            <a:schemeClr val="bg1"/>
          </a:solidFill>
          <a:ln w="12700">
            <a:solidFill>
              <a:schemeClr val="accent6"/>
            </a:solidFill>
            <a:prstDash val="solid"/>
          </a:ln>
          <a:effectLst>
            <a:outerShdw sx="100000" sy="100000" kx="0" ky="0" algn="bl" rotWithShape="0" blurRad="101600" dist="25400" dir="5400000">
              <a:srgbClr val="0F172A">
                <a:alpha val="12000"/>
              </a:srgbClr>
            </a:outerShdw>
          </a:effectLst>
        </p:spPr>
      </p:sp>
      <p:sp>
        <p:nvSpPr>
          <p:cNvPr id="7" name="text-243"/>
          <p:cNvSpPr txBox="1"/>
          <p:nvPr/>
        </p:nvSpPr>
        <p:spPr>
          <a:xfrm>
            <a:off x="4160520" y="1481328"/>
            <a:ext cx="2423160" cy="411480"/>
          </a:xfrm>
          <a:prstGeom prst="rect">
            <a:avLst/>
          </a:prstGeom>
          <a:noFill/>
          <a:ln/>
        </p:spPr>
        <p:txBody>
          <a:bodyPr wrap="square" lIns="0" tIns="0" rIns="0" bIns="0" rtlCol="0" anchor="ctr"/>
          <a:lstStyle/>
          <a:p>
            <a:pPr algn="ctr" indent="0" marL="0">
              <a:buNone/>
            </a:pPr>
            <a:r>
              <a:rPr lang="en-US" sz="1200" b="1" dirty="0">
                <a:solidFill>
                  <a:schemeClr val="tx1"/>
                </a:solidFill>
              </a:rPr>
              <a:t>Internet gateway</a:t>
            </a:r>
            <a:endParaRPr lang="en-US" sz="1200" dirty="0"/>
          </a:p>
        </p:txBody>
      </p:sp>
      <p:sp>
        <p:nvSpPr>
          <p:cNvPr id="8" name="az-244"/>
          <p:cNvSpPr/>
          <p:nvPr/>
        </p:nvSpPr>
        <p:spPr>
          <a:xfrm>
            <a:off x="685800" y="2057400"/>
            <a:ext cx="2834640" cy="3840480"/>
          </a:xfrm>
          <a:prstGeom prst="roundRect">
            <a:avLst>
              <a:gd name="adj" fmla="val 2581"/>
            </a:avLst>
          </a:prstGeom>
          <a:solidFill>
            <a:schemeClr val="bg2"/>
          </a:solidFill>
          <a:ln w="9525">
            <a:solidFill>
              <a:schemeClr val="accent6"/>
            </a:solidFill>
            <a:prstDash val="dash"/>
          </a:ln>
        </p:spPr>
      </p:sp>
      <p:sp>
        <p:nvSpPr>
          <p:cNvPr id="9" name="text-245"/>
          <p:cNvSpPr txBox="1"/>
          <p:nvPr/>
        </p:nvSpPr>
        <p:spPr>
          <a:xfrm>
            <a:off x="822960" y="2121408"/>
            <a:ext cx="2560320" cy="274320"/>
          </a:xfrm>
          <a:prstGeom prst="rect">
            <a:avLst/>
          </a:prstGeom>
          <a:noFill/>
          <a:ln/>
        </p:spPr>
        <p:txBody>
          <a:bodyPr wrap="square" lIns="0" tIns="0" rIns="0" bIns="0" rtlCol="0" anchor="t"/>
          <a:lstStyle/>
          <a:p>
            <a:pPr indent="0" marL="0">
              <a:buNone/>
            </a:pPr>
            <a:r>
              <a:rPr lang="en-US" sz="1200" b="1" dirty="0">
                <a:solidFill>
                  <a:schemeClr val="tx2"/>
                </a:solidFill>
              </a:rPr>
              <a:t>ap-south-1a</a:t>
            </a:r>
            <a:endParaRPr lang="en-US" sz="1200" dirty="0"/>
          </a:p>
        </p:txBody>
      </p:sp>
      <p:sp>
        <p:nvSpPr>
          <p:cNvPr id="10" name="box-246"/>
          <p:cNvSpPr/>
          <p:nvPr/>
        </p:nvSpPr>
        <p:spPr>
          <a:xfrm>
            <a:off x="822960" y="2468880"/>
            <a:ext cx="2560320" cy="1051560"/>
          </a:xfrm>
          <a:prstGeom prst="roundRect">
            <a:avLst>
              <a:gd name="adj" fmla="val 6957"/>
            </a:avLst>
          </a:prstGeom>
          <a:solidFill>
            <a:schemeClr val="bg1"/>
          </a:solidFill>
          <a:ln w="12700">
            <a:solidFill>
              <a:schemeClr val="accent5"/>
            </a:solidFill>
            <a:prstDash val="solid"/>
          </a:ln>
          <a:effectLst>
            <a:outerShdw sx="100000" sy="100000" kx="0" ky="0" algn="bl" rotWithShape="0" blurRad="101600" dist="25400" dir="5400000">
              <a:srgbClr val="0F172A">
                <a:alpha val="12000"/>
              </a:srgbClr>
            </a:outerShdw>
          </a:effectLst>
        </p:spPr>
      </p:sp>
      <p:sp>
        <p:nvSpPr>
          <p:cNvPr id="11" name="text-247"/>
          <p:cNvSpPr txBox="1"/>
          <p:nvPr/>
        </p:nvSpPr>
        <p:spPr>
          <a:xfrm>
            <a:off x="960120" y="2560320"/>
            <a:ext cx="2331720" cy="292608"/>
          </a:xfrm>
          <a:prstGeom prst="rect">
            <a:avLst/>
          </a:prstGeom>
          <a:noFill/>
          <a:ln/>
        </p:spPr>
        <p:txBody>
          <a:bodyPr wrap="square" lIns="0" tIns="0" rIns="0" bIns="0" rtlCol="0" anchor="t"/>
          <a:lstStyle/>
          <a:p>
            <a:pPr indent="0" marL="0">
              <a:buNone/>
            </a:pPr>
            <a:r>
              <a:rPr lang="en-US" sz="1300" b="1" dirty="0">
                <a:solidFill>
                  <a:schemeClr val="tx1"/>
                </a:solidFill>
              </a:rPr>
              <a:t>Public  </a:t>
            </a:r>
            <a:pPr indent="0" marL="0">
              <a:buNone/>
            </a:pPr>
            <a:r>
              <a:rPr lang="en-US" sz="1300" dirty="0">
                <a:solidFill>
                  <a:schemeClr val="tx2"/>
                </a:solidFill>
              </a:rPr>
              <a:t>10.0.101.0/24</a:t>
            </a:r>
            <a:endParaRPr lang="en-US" sz="1300" dirty="0"/>
          </a:p>
        </p:txBody>
      </p:sp>
      <p:sp>
        <p:nvSpPr>
          <p:cNvPr id="12" name="text-248"/>
          <p:cNvSpPr txBox="1"/>
          <p:nvPr/>
        </p:nvSpPr>
        <p:spPr>
          <a:xfrm>
            <a:off x="960120" y="2880360"/>
            <a:ext cx="2331720" cy="548640"/>
          </a:xfrm>
          <a:prstGeom prst="rect">
            <a:avLst/>
          </a:prstGeom>
          <a:noFill/>
          <a:ln/>
        </p:spPr>
        <p:txBody>
          <a:bodyPr wrap="square" lIns="0" tIns="0" rIns="0" bIns="0" rtlCol="0" anchor="t"/>
          <a:lstStyle/>
          <a:p>
            <a:pPr indent="0" marL="0">
              <a:buNone/>
            </a:pPr>
            <a:r>
              <a:rPr lang="en-US" sz="1200" dirty="0">
                <a:solidFill>
                  <a:schemeClr val="tx2"/>
                </a:solidFill>
              </a:rPr>
              <a:t>NAT gateway, NLB node</a:t>
            </a:r>
            <a:endParaRPr lang="en-US" sz="1200" dirty="0"/>
          </a:p>
        </p:txBody>
      </p:sp>
      <p:sp>
        <p:nvSpPr>
          <p:cNvPr id="13" name="box-249"/>
          <p:cNvSpPr/>
          <p:nvPr/>
        </p:nvSpPr>
        <p:spPr>
          <a:xfrm>
            <a:off x="822960" y="3703320"/>
            <a:ext cx="2560320" cy="2057400"/>
          </a:xfrm>
          <a:prstGeom prst="roundRect">
            <a:avLst>
              <a:gd name="adj" fmla="val 3556"/>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sp>
        <p:nvSpPr>
          <p:cNvPr id="14" name="text-250"/>
          <p:cNvSpPr txBox="1"/>
          <p:nvPr/>
        </p:nvSpPr>
        <p:spPr>
          <a:xfrm>
            <a:off x="960120" y="3794760"/>
            <a:ext cx="2331720" cy="292608"/>
          </a:xfrm>
          <a:prstGeom prst="rect">
            <a:avLst/>
          </a:prstGeom>
          <a:noFill/>
          <a:ln/>
        </p:spPr>
        <p:txBody>
          <a:bodyPr wrap="square" lIns="0" tIns="0" rIns="0" bIns="0" rtlCol="0" anchor="t"/>
          <a:lstStyle/>
          <a:p>
            <a:pPr indent="0" marL="0">
              <a:buNone/>
            </a:pPr>
            <a:r>
              <a:rPr lang="en-US" sz="1300" b="1" dirty="0">
                <a:solidFill>
                  <a:schemeClr val="tx1"/>
                </a:solidFill>
              </a:rPr>
              <a:t>Private  </a:t>
            </a:r>
            <a:pPr indent="0" marL="0">
              <a:buNone/>
            </a:pPr>
            <a:r>
              <a:rPr lang="en-US" sz="1300" dirty="0">
                <a:solidFill>
                  <a:schemeClr val="tx2"/>
                </a:solidFill>
              </a:rPr>
              <a:t>10.0.1.0/24</a:t>
            </a:r>
            <a:endParaRPr lang="en-US" sz="1300" dirty="0"/>
          </a:p>
        </p:txBody>
      </p:sp>
      <p:sp>
        <p:nvSpPr>
          <p:cNvPr id="15" name="card-251"/>
          <p:cNvSpPr/>
          <p:nvPr/>
        </p:nvSpPr>
        <p:spPr>
          <a:xfrm>
            <a:off x="960120" y="4206240"/>
            <a:ext cx="2286000" cy="548640"/>
          </a:xfrm>
          <a:prstGeom prst="roundRect">
            <a:avLst>
              <a:gd name="adj" fmla="val 16667"/>
            </a:avLst>
          </a:prstGeom>
          <a:solidFill>
            <a:schemeClr val="bg2"/>
          </a:solidFill>
          <a:ln w="9525">
            <a:solidFill>
              <a:schemeClr val="bg2"/>
            </a:solidFill>
            <a:prstDash val="solid"/>
          </a:ln>
        </p:spPr>
      </p:sp>
      <p:pic>
        <p:nvPicPr>
          <p:cNvPr id="16" name="node-ic-252" descr="preencoded.png">    </p:cNvPr>
          <p:cNvPicPr>
            <a:picLocks noChangeAspect="1"/>
          </p:cNvPicPr>
          <p:nvPr/>
        </p:nvPicPr>
        <p:blipFill>
          <a:blip r:embed="rId2"/>
          <a:stretch>
            <a:fillRect/>
          </a:stretch>
        </p:blipFill>
        <p:spPr>
          <a:xfrm>
            <a:off x="1069848" y="4315968"/>
            <a:ext cx="329184" cy="329184"/>
          </a:xfrm>
          <a:prstGeom prst="rect">
            <a:avLst/>
          </a:prstGeom>
        </p:spPr>
      </p:pic>
      <p:sp>
        <p:nvSpPr>
          <p:cNvPr id="17" name="text-253"/>
          <p:cNvSpPr txBox="1"/>
          <p:nvPr/>
        </p:nvSpPr>
        <p:spPr>
          <a:xfrm>
            <a:off x="1508760" y="4206240"/>
            <a:ext cx="1691640" cy="548640"/>
          </a:xfrm>
          <a:prstGeom prst="rect">
            <a:avLst/>
          </a:prstGeom>
          <a:noFill/>
          <a:ln/>
        </p:spPr>
        <p:txBody>
          <a:bodyPr wrap="square" lIns="0" tIns="0" rIns="0" bIns="0" rtlCol="0" anchor="ctr"/>
          <a:lstStyle/>
          <a:p>
            <a:pPr indent="0" marL="0">
              <a:buNone/>
            </a:pPr>
            <a:r>
              <a:rPr lang="en-US" sz="1200" dirty="0">
                <a:solidFill>
                  <a:schemeClr val="tx1"/>
                </a:solidFill>
              </a:rPr>
              <a:t>EKS node 10.0.1.60</a:t>
            </a:r>
            <a:endParaRPr lang="en-US" sz="1200" dirty="0"/>
          </a:p>
        </p:txBody>
      </p:sp>
      <p:sp>
        <p:nvSpPr>
          <p:cNvPr id="18" name="az-254"/>
          <p:cNvSpPr/>
          <p:nvPr/>
        </p:nvSpPr>
        <p:spPr>
          <a:xfrm>
            <a:off x="3794760" y="2057400"/>
            <a:ext cx="2834640" cy="3840480"/>
          </a:xfrm>
          <a:prstGeom prst="roundRect">
            <a:avLst>
              <a:gd name="adj" fmla="val 2581"/>
            </a:avLst>
          </a:prstGeom>
          <a:solidFill>
            <a:schemeClr val="bg2"/>
          </a:solidFill>
          <a:ln w="9525">
            <a:solidFill>
              <a:schemeClr val="accent6"/>
            </a:solidFill>
            <a:prstDash val="dash"/>
          </a:ln>
        </p:spPr>
      </p:sp>
      <p:sp>
        <p:nvSpPr>
          <p:cNvPr id="19" name="text-255"/>
          <p:cNvSpPr txBox="1"/>
          <p:nvPr/>
        </p:nvSpPr>
        <p:spPr>
          <a:xfrm>
            <a:off x="3931920" y="2121408"/>
            <a:ext cx="2560320" cy="274320"/>
          </a:xfrm>
          <a:prstGeom prst="rect">
            <a:avLst/>
          </a:prstGeom>
          <a:noFill/>
          <a:ln/>
        </p:spPr>
        <p:txBody>
          <a:bodyPr wrap="square" lIns="0" tIns="0" rIns="0" bIns="0" rtlCol="0" anchor="t"/>
          <a:lstStyle/>
          <a:p>
            <a:pPr indent="0" marL="0">
              <a:buNone/>
            </a:pPr>
            <a:r>
              <a:rPr lang="en-US" sz="1200" b="1" dirty="0">
                <a:solidFill>
                  <a:schemeClr val="tx2"/>
                </a:solidFill>
              </a:rPr>
              <a:t>ap-south-1b</a:t>
            </a:r>
            <a:endParaRPr lang="en-US" sz="1200" dirty="0"/>
          </a:p>
        </p:txBody>
      </p:sp>
      <p:sp>
        <p:nvSpPr>
          <p:cNvPr id="20" name="box-256"/>
          <p:cNvSpPr/>
          <p:nvPr/>
        </p:nvSpPr>
        <p:spPr>
          <a:xfrm>
            <a:off x="3931920" y="2468880"/>
            <a:ext cx="2560320" cy="1051560"/>
          </a:xfrm>
          <a:prstGeom prst="roundRect">
            <a:avLst>
              <a:gd name="adj" fmla="val 6957"/>
            </a:avLst>
          </a:prstGeom>
          <a:solidFill>
            <a:schemeClr val="bg1"/>
          </a:solidFill>
          <a:ln w="12700">
            <a:solidFill>
              <a:schemeClr val="accent5"/>
            </a:solidFill>
            <a:prstDash val="solid"/>
          </a:ln>
          <a:effectLst>
            <a:outerShdw sx="100000" sy="100000" kx="0" ky="0" algn="bl" rotWithShape="0" blurRad="101600" dist="25400" dir="5400000">
              <a:srgbClr val="0F172A">
                <a:alpha val="12000"/>
              </a:srgbClr>
            </a:outerShdw>
          </a:effectLst>
        </p:spPr>
      </p:sp>
      <p:sp>
        <p:nvSpPr>
          <p:cNvPr id="21" name="text-257"/>
          <p:cNvSpPr txBox="1"/>
          <p:nvPr/>
        </p:nvSpPr>
        <p:spPr>
          <a:xfrm>
            <a:off x="4069080" y="2560320"/>
            <a:ext cx="2331720" cy="292608"/>
          </a:xfrm>
          <a:prstGeom prst="rect">
            <a:avLst/>
          </a:prstGeom>
          <a:noFill/>
          <a:ln/>
        </p:spPr>
        <p:txBody>
          <a:bodyPr wrap="square" lIns="0" tIns="0" rIns="0" bIns="0" rtlCol="0" anchor="t"/>
          <a:lstStyle/>
          <a:p>
            <a:pPr indent="0" marL="0">
              <a:buNone/>
            </a:pPr>
            <a:r>
              <a:rPr lang="en-US" sz="1300" b="1" dirty="0">
                <a:solidFill>
                  <a:schemeClr val="tx1"/>
                </a:solidFill>
              </a:rPr>
              <a:t>Public  </a:t>
            </a:r>
            <a:pPr indent="0" marL="0">
              <a:buNone/>
            </a:pPr>
            <a:r>
              <a:rPr lang="en-US" sz="1300" dirty="0">
                <a:solidFill>
                  <a:schemeClr val="tx2"/>
                </a:solidFill>
              </a:rPr>
              <a:t>10.0.102.0/24</a:t>
            </a:r>
            <a:endParaRPr lang="en-US" sz="1300" dirty="0"/>
          </a:p>
        </p:txBody>
      </p:sp>
      <p:sp>
        <p:nvSpPr>
          <p:cNvPr id="22" name="text-258"/>
          <p:cNvSpPr txBox="1"/>
          <p:nvPr/>
        </p:nvSpPr>
        <p:spPr>
          <a:xfrm>
            <a:off x="4069080" y="2880360"/>
            <a:ext cx="2331720" cy="548640"/>
          </a:xfrm>
          <a:prstGeom prst="rect">
            <a:avLst/>
          </a:prstGeom>
          <a:noFill/>
          <a:ln/>
        </p:spPr>
        <p:txBody>
          <a:bodyPr wrap="square" lIns="0" tIns="0" rIns="0" bIns="0" rtlCol="0" anchor="t"/>
          <a:lstStyle/>
          <a:p>
            <a:pPr indent="0" marL="0">
              <a:buNone/>
            </a:pPr>
            <a:r>
              <a:rPr lang="en-US" sz="1200" dirty="0">
                <a:solidFill>
                  <a:schemeClr val="tx2"/>
                </a:solidFill>
              </a:rPr>
              <a:t>NLB node</a:t>
            </a:r>
            <a:endParaRPr lang="en-US" sz="1200" dirty="0"/>
          </a:p>
        </p:txBody>
      </p:sp>
      <p:sp>
        <p:nvSpPr>
          <p:cNvPr id="23" name="box-259"/>
          <p:cNvSpPr/>
          <p:nvPr/>
        </p:nvSpPr>
        <p:spPr>
          <a:xfrm>
            <a:off x="3931920" y="3703320"/>
            <a:ext cx="2560320" cy="2057400"/>
          </a:xfrm>
          <a:prstGeom prst="roundRect">
            <a:avLst>
              <a:gd name="adj" fmla="val 3556"/>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sp>
        <p:nvSpPr>
          <p:cNvPr id="24" name="text-260"/>
          <p:cNvSpPr txBox="1"/>
          <p:nvPr/>
        </p:nvSpPr>
        <p:spPr>
          <a:xfrm>
            <a:off x="4069080" y="3794760"/>
            <a:ext cx="2331720" cy="292608"/>
          </a:xfrm>
          <a:prstGeom prst="rect">
            <a:avLst/>
          </a:prstGeom>
          <a:noFill/>
          <a:ln/>
        </p:spPr>
        <p:txBody>
          <a:bodyPr wrap="square" lIns="0" tIns="0" rIns="0" bIns="0" rtlCol="0" anchor="t"/>
          <a:lstStyle/>
          <a:p>
            <a:pPr indent="0" marL="0">
              <a:buNone/>
            </a:pPr>
            <a:r>
              <a:rPr lang="en-US" sz="1300" b="1" dirty="0">
                <a:solidFill>
                  <a:schemeClr val="tx1"/>
                </a:solidFill>
              </a:rPr>
              <a:t>Private  </a:t>
            </a:r>
            <a:pPr indent="0" marL="0">
              <a:buNone/>
            </a:pPr>
            <a:r>
              <a:rPr lang="en-US" sz="1300" dirty="0">
                <a:solidFill>
                  <a:schemeClr val="tx2"/>
                </a:solidFill>
              </a:rPr>
              <a:t>10.0.2.0/24</a:t>
            </a:r>
            <a:endParaRPr lang="en-US" sz="1300" dirty="0"/>
          </a:p>
        </p:txBody>
      </p:sp>
      <p:sp>
        <p:nvSpPr>
          <p:cNvPr id="25" name="card-261"/>
          <p:cNvSpPr/>
          <p:nvPr/>
        </p:nvSpPr>
        <p:spPr>
          <a:xfrm>
            <a:off x="4069080" y="4206240"/>
            <a:ext cx="2286000" cy="548640"/>
          </a:xfrm>
          <a:prstGeom prst="roundRect">
            <a:avLst>
              <a:gd name="adj" fmla="val 16667"/>
            </a:avLst>
          </a:prstGeom>
          <a:solidFill>
            <a:schemeClr val="bg2"/>
          </a:solidFill>
          <a:ln w="9525">
            <a:solidFill>
              <a:schemeClr val="bg2"/>
            </a:solidFill>
            <a:prstDash val="solid"/>
          </a:ln>
        </p:spPr>
      </p:sp>
      <p:pic>
        <p:nvPicPr>
          <p:cNvPr id="26" name="node-ic-262" descr="preencoded.png">    </p:cNvPr>
          <p:cNvPicPr>
            <a:picLocks noChangeAspect="1"/>
          </p:cNvPicPr>
          <p:nvPr/>
        </p:nvPicPr>
        <p:blipFill>
          <a:blip r:embed="rId3"/>
          <a:stretch>
            <a:fillRect/>
          </a:stretch>
        </p:blipFill>
        <p:spPr>
          <a:xfrm>
            <a:off x="4178808" y="4315968"/>
            <a:ext cx="329184" cy="329184"/>
          </a:xfrm>
          <a:prstGeom prst="rect">
            <a:avLst/>
          </a:prstGeom>
        </p:spPr>
      </p:pic>
      <p:sp>
        <p:nvSpPr>
          <p:cNvPr id="27" name="text-263"/>
          <p:cNvSpPr txBox="1"/>
          <p:nvPr/>
        </p:nvSpPr>
        <p:spPr>
          <a:xfrm>
            <a:off x="4617720" y="4206240"/>
            <a:ext cx="1691640" cy="548640"/>
          </a:xfrm>
          <a:prstGeom prst="rect">
            <a:avLst/>
          </a:prstGeom>
          <a:noFill/>
          <a:ln/>
        </p:spPr>
        <p:txBody>
          <a:bodyPr wrap="square" lIns="0" tIns="0" rIns="0" bIns="0" rtlCol="0" anchor="ctr"/>
          <a:lstStyle/>
          <a:p>
            <a:pPr indent="0" marL="0">
              <a:buNone/>
            </a:pPr>
            <a:r>
              <a:rPr lang="en-US" sz="1200" dirty="0">
                <a:solidFill>
                  <a:schemeClr val="tx1"/>
                </a:solidFill>
              </a:rPr>
              <a:t>EKS node 10.0.2.140</a:t>
            </a:r>
            <a:endParaRPr lang="en-US" sz="1200" dirty="0"/>
          </a:p>
        </p:txBody>
      </p:sp>
      <p:sp>
        <p:nvSpPr>
          <p:cNvPr id="28" name="card-264"/>
          <p:cNvSpPr/>
          <p:nvPr/>
        </p:nvSpPr>
        <p:spPr>
          <a:xfrm>
            <a:off x="4069080" y="4892040"/>
            <a:ext cx="2286000" cy="548640"/>
          </a:xfrm>
          <a:prstGeom prst="roundRect">
            <a:avLst>
              <a:gd name="adj" fmla="val 16667"/>
            </a:avLst>
          </a:prstGeom>
          <a:solidFill>
            <a:schemeClr val="bg2"/>
          </a:solidFill>
          <a:ln w="9525">
            <a:solidFill>
              <a:schemeClr val="bg2"/>
            </a:solidFill>
            <a:prstDash val="solid"/>
          </a:ln>
        </p:spPr>
      </p:sp>
      <p:pic>
        <p:nvPicPr>
          <p:cNvPr id="29" name="node-ic-265" descr="preencoded.png">    </p:cNvPr>
          <p:cNvPicPr>
            <a:picLocks noChangeAspect="1"/>
          </p:cNvPicPr>
          <p:nvPr/>
        </p:nvPicPr>
        <p:blipFill>
          <a:blip r:embed="rId4"/>
          <a:stretch>
            <a:fillRect/>
          </a:stretch>
        </p:blipFill>
        <p:spPr>
          <a:xfrm>
            <a:off x="4178808" y="5001768"/>
            <a:ext cx="329184" cy="329184"/>
          </a:xfrm>
          <a:prstGeom prst="rect">
            <a:avLst/>
          </a:prstGeom>
        </p:spPr>
      </p:pic>
      <p:sp>
        <p:nvSpPr>
          <p:cNvPr id="30" name="text-266"/>
          <p:cNvSpPr txBox="1"/>
          <p:nvPr/>
        </p:nvSpPr>
        <p:spPr>
          <a:xfrm>
            <a:off x="4617720" y="4892040"/>
            <a:ext cx="1691640" cy="548640"/>
          </a:xfrm>
          <a:prstGeom prst="rect">
            <a:avLst/>
          </a:prstGeom>
          <a:noFill/>
          <a:ln/>
        </p:spPr>
        <p:txBody>
          <a:bodyPr wrap="square" lIns="0" tIns="0" rIns="0" bIns="0" rtlCol="0" anchor="ctr"/>
          <a:lstStyle/>
          <a:p>
            <a:pPr indent="0" marL="0">
              <a:buNone/>
            </a:pPr>
            <a:r>
              <a:rPr lang="en-US" sz="1200" dirty="0">
                <a:solidFill>
                  <a:schemeClr val="tx1"/>
                </a:solidFill>
              </a:rPr>
              <a:t>EKS node 10.0.2.196</a:t>
            </a:r>
            <a:endParaRPr lang="en-US" sz="1200" dirty="0"/>
          </a:p>
        </p:txBody>
      </p:sp>
      <p:sp>
        <p:nvSpPr>
          <p:cNvPr id="31" name="text-267"/>
          <p:cNvSpPr txBox="1"/>
          <p:nvPr/>
        </p:nvSpPr>
        <p:spPr>
          <a:xfrm>
            <a:off x="7132320" y="1371600"/>
            <a:ext cx="2011680" cy="73152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63</a:t>
            </a:r>
            <a:endParaRPr lang="en-US" sz="3600" dirty="0"/>
          </a:p>
        </p:txBody>
      </p:sp>
      <p:sp>
        <p:nvSpPr>
          <p:cNvPr id="32" name="text-268"/>
          <p:cNvSpPr txBox="1"/>
          <p:nvPr/>
        </p:nvSpPr>
        <p:spPr>
          <a:xfrm>
            <a:off x="9189720" y="1371600"/>
            <a:ext cx="2450592" cy="731520"/>
          </a:xfrm>
          <a:prstGeom prst="rect">
            <a:avLst/>
          </a:prstGeom>
          <a:noFill/>
          <a:ln/>
        </p:spPr>
        <p:txBody>
          <a:bodyPr wrap="square" lIns="0" tIns="0" rIns="0" bIns="0" rtlCol="0" anchor="ctr"/>
          <a:lstStyle/>
          <a:p>
            <a:pPr indent="0" marL="0">
              <a:buNone/>
            </a:pPr>
            <a:r>
              <a:rPr lang="en-US" sz="1400" dirty="0">
                <a:solidFill>
                  <a:schemeClr val="tx2"/>
                </a:solidFill>
              </a:rPr>
              <a:t>resources planned and created</a:t>
            </a:r>
            <a:endParaRPr lang="en-US" sz="1400" dirty="0"/>
          </a:p>
        </p:txBody>
      </p:sp>
      <p:sp>
        <p:nvSpPr>
          <p:cNvPr id="33" name="text-269"/>
          <p:cNvSpPr txBox="1"/>
          <p:nvPr/>
        </p:nvSpPr>
        <p:spPr>
          <a:xfrm>
            <a:off x="7132320" y="2286000"/>
            <a:ext cx="2011680" cy="731520"/>
          </a:xfrm>
          <a:prstGeom prst="rect">
            <a:avLst/>
          </a:prstGeom>
          <a:noFill/>
          <a:ln/>
        </p:spPr>
        <p:txBody>
          <a:bodyPr wrap="square" lIns="0" tIns="0" rIns="0" bIns="0" rtlCol="0" anchor="ctr"/>
          <a:lstStyle/>
          <a:p>
            <a:pPr indent="0" marL="0">
              <a:buNone/>
            </a:pPr>
            <a:r>
              <a:rPr lang="en-US" sz="3600" b="1" dirty="0">
                <a:solidFill>
                  <a:schemeClr val="accent5"/>
                </a:solidFill>
                <a:latin typeface="Arial" pitchFamily="34" charset="0"/>
                <a:ea typeface="Arial" pitchFamily="34" charset="-122"/>
                <a:cs typeface="Arial" pitchFamily="34" charset="-120"/>
              </a:rPr>
              <a:t>~15 min</a:t>
            </a:r>
            <a:endParaRPr lang="en-US" sz="3600" dirty="0"/>
          </a:p>
        </p:txBody>
      </p:sp>
      <p:sp>
        <p:nvSpPr>
          <p:cNvPr id="34" name="text-270"/>
          <p:cNvSpPr txBox="1"/>
          <p:nvPr/>
        </p:nvSpPr>
        <p:spPr>
          <a:xfrm>
            <a:off x="9189720" y="2286000"/>
            <a:ext cx="2450592" cy="731520"/>
          </a:xfrm>
          <a:prstGeom prst="rect">
            <a:avLst/>
          </a:prstGeom>
          <a:noFill/>
          <a:ln/>
        </p:spPr>
        <p:txBody>
          <a:bodyPr wrap="square" lIns="0" tIns="0" rIns="0" bIns="0" rtlCol="0" anchor="ctr"/>
          <a:lstStyle/>
          <a:p>
            <a:pPr indent="0" marL="0">
              <a:buNone/>
            </a:pPr>
            <a:r>
              <a:rPr lang="en-US" sz="1400" dirty="0">
                <a:solidFill>
                  <a:schemeClr val="tx2"/>
                </a:solidFill>
              </a:rPr>
              <a:t>to create (EKS control plane ~10)</a:t>
            </a:r>
            <a:endParaRPr lang="en-US" sz="1400" dirty="0"/>
          </a:p>
        </p:txBody>
      </p:sp>
      <p:sp>
        <p:nvSpPr>
          <p:cNvPr id="35" name="text-271"/>
          <p:cNvSpPr txBox="1"/>
          <p:nvPr/>
        </p:nvSpPr>
        <p:spPr>
          <a:xfrm>
            <a:off x="7132320" y="3200400"/>
            <a:ext cx="2011680" cy="73152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64</a:t>
            </a:r>
            <a:endParaRPr lang="en-US" sz="3600" dirty="0"/>
          </a:p>
        </p:txBody>
      </p:sp>
      <p:sp>
        <p:nvSpPr>
          <p:cNvPr id="36" name="text-272"/>
          <p:cNvSpPr txBox="1"/>
          <p:nvPr/>
        </p:nvSpPr>
        <p:spPr>
          <a:xfrm>
            <a:off x="9189720" y="3200400"/>
            <a:ext cx="2450592" cy="731520"/>
          </a:xfrm>
          <a:prstGeom prst="rect">
            <a:avLst/>
          </a:prstGeom>
          <a:noFill/>
          <a:ln/>
        </p:spPr>
        <p:txBody>
          <a:bodyPr wrap="square" lIns="0" tIns="0" rIns="0" bIns="0" rtlCol="0" anchor="ctr"/>
          <a:lstStyle/>
          <a:p>
            <a:pPr indent="0" marL="0">
              <a:buNone/>
            </a:pPr>
            <a:r>
              <a:rPr lang="en-US" sz="1400" dirty="0">
                <a:solidFill>
                  <a:schemeClr val="tx2"/>
                </a:solidFill>
              </a:rPr>
              <a:t>destroyed at teardown, incl. the SG fix</a:t>
            </a:r>
            <a:endParaRPr lang="en-US" sz="1400" dirty="0"/>
          </a:p>
        </p:txBody>
      </p:sp>
      <p:sp>
        <p:nvSpPr>
          <p:cNvPr id="37" name="card-273"/>
          <p:cNvSpPr/>
          <p:nvPr/>
        </p:nvSpPr>
        <p:spPr>
          <a:xfrm>
            <a:off x="7132320" y="4251960"/>
            <a:ext cx="4507992" cy="1828800"/>
          </a:xfrm>
          <a:prstGeom prst="roundRect">
            <a:avLst>
              <a:gd name="adj" fmla="val 5000"/>
            </a:avLst>
          </a:prstGeom>
          <a:solidFill>
            <a:schemeClr val="bg2"/>
          </a:solidFill>
          <a:ln w="9525">
            <a:solidFill>
              <a:schemeClr val="bg2"/>
            </a:solidFill>
            <a:prstDash val="solid"/>
          </a:ln>
        </p:spPr>
      </p:sp>
      <p:sp>
        <p:nvSpPr>
          <p:cNvPr id="38" name="text-274"/>
          <p:cNvSpPr txBox="1"/>
          <p:nvPr/>
        </p:nvSpPr>
        <p:spPr>
          <a:xfrm>
            <a:off x="7315200" y="4370832"/>
            <a:ext cx="4114800" cy="320040"/>
          </a:xfrm>
          <a:prstGeom prst="rect">
            <a:avLst/>
          </a:prstGeom>
          <a:noFill/>
          <a:ln/>
        </p:spPr>
        <p:txBody>
          <a:bodyPr wrap="square" lIns="0" tIns="0" rIns="0" bIns="0" rtlCol="0" anchor="t"/>
          <a:lstStyle/>
          <a:p>
            <a:pPr indent="0" marL="0">
              <a:buNone/>
            </a:pPr>
            <a:r>
              <a:rPr lang="en-US" sz="1500" b="1" dirty="0">
                <a:solidFill>
                  <a:schemeClr val="tx1"/>
                </a:solidFill>
              </a:rPr>
              <a:t>Community modules</a:t>
            </a:r>
            <a:endParaRPr lang="en-US" sz="1500" dirty="0"/>
          </a:p>
        </p:txBody>
      </p:sp>
      <p:sp>
        <p:nvSpPr>
          <p:cNvPr id="39" name="text-275"/>
          <p:cNvSpPr txBox="1"/>
          <p:nvPr/>
        </p:nvSpPr>
        <p:spPr>
          <a:xfrm>
            <a:off x="7315200" y="4736592"/>
            <a:ext cx="420624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terraform-aws-modules/vpc</a:t>
            </a:r>
            <a:endParaRPr lang="en-US" sz="1300" dirty="0"/>
          </a:p>
          <a:p>
            <a:pPr marL="342900" indent="-342900">
              <a:spcAft>
                <a:spcPts val="400"/>
              </a:spcAft>
              <a:buSzPct val="100000"/>
              <a:buChar char="•"/>
            </a:pPr>
            <a:r>
              <a:rPr lang="en-US" sz="1300" dirty="0">
                <a:solidFill>
                  <a:schemeClr val="tx2"/>
                </a:solidFill>
              </a:rPr>
              <a:t>terraform-aws-modules/eks + add-ons (VPC CNI, CoreDNS, EBS CSI, metrics-server)</a:t>
            </a:r>
            <a:endParaRPr lang="en-US" sz="1300" dirty="0"/>
          </a:p>
          <a:p>
            <a:pPr marL="342900" indent="-342900">
              <a:spcAft>
                <a:spcPts val="400"/>
              </a:spcAft>
              <a:buSzPct val="100000"/>
              <a:buChar char="•"/>
            </a:pPr>
            <a:r>
              <a:rPr lang="en-US" sz="1300" dirty="0">
                <a:solidFill>
                  <a:schemeClr val="tx2"/>
                </a:solidFill>
              </a:rPr>
              <a:t>terraform-aws-modules/iam (IRSA role for EBS CSI)</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Packaged with Helm</a:t>
            </a:r>
            <a:endParaRPr lang="en-US" sz="3600" dirty="0"/>
          </a:p>
        </p:txBody>
      </p:sp>
      <p:sp>
        <p:nvSpPr>
          <p:cNvPr id="3" name="card-276"/>
          <p:cNvSpPr/>
          <p:nvPr/>
        </p:nvSpPr>
        <p:spPr>
          <a:xfrm>
            <a:off x="548640" y="1371600"/>
            <a:ext cx="2560320" cy="1737360"/>
          </a:xfrm>
          <a:prstGeom prst="roundRect">
            <a:avLst>
              <a:gd name="adj" fmla="val 5263"/>
            </a:avLst>
          </a:prstGeom>
          <a:solidFill>
            <a:schemeClr val="bg2"/>
          </a:solidFill>
          <a:ln w="9525">
            <a:solidFill>
              <a:schemeClr val="bg2"/>
            </a:solidFill>
            <a:prstDash val="solid"/>
          </a:ln>
        </p:spPr>
      </p:sp>
      <p:sp>
        <p:nvSpPr>
          <p:cNvPr id="4" name="icon-bg-277"/>
          <p:cNvSpPr/>
          <p:nvPr/>
        </p:nvSpPr>
        <p:spPr>
          <a:xfrm>
            <a:off x="731520" y="1554480"/>
            <a:ext cx="502920" cy="502920"/>
          </a:xfrm>
          <a:prstGeom prst="ellipse">
            <a:avLst/>
          </a:prstGeom>
          <a:solidFill>
            <a:schemeClr val="accent1"/>
          </a:solidFill>
          <a:ln w="12700">
            <a:solidFill>
              <a:schemeClr val="accent1"/>
            </a:solidFill>
            <a:prstDash val="solid"/>
          </a:ln>
        </p:spPr>
      </p:sp>
      <p:pic>
        <p:nvPicPr>
          <p:cNvPr id="5" name="icon-278" descr="preencoded.png">    </p:cNvPr>
          <p:cNvPicPr>
            <a:picLocks noChangeAspect="1"/>
          </p:cNvPicPr>
          <p:nvPr/>
        </p:nvPicPr>
        <p:blipFill>
          <a:blip r:embed="rId1"/>
          <a:stretch>
            <a:fillRect/>
          </a:stretch>
        </p:blipFill>
        <p:spPr>
          <a:xfrm>
            <a:off x="847192" y="1670152"/>
            <a:ext cx="271577" cy="271577"/>
          </a:xfrm>
          <a:prstGeom prst="rect">
            <a:avLst/>
          </a:prstGeom>
        </p:spPr>
      </p:pic>
      <p:sp>
        <p:nvSpPr>
          <p:cNvPr id="6" name="text-279"/>
          <p:cNvSpPr txBox="1"/>
          <p:nvPr/>
        </p:nvSpPr>
        <p:spPr>
          <a:xfrm>
            <a:off x="1353312" y="1554480"/>
            <a:ext cx="1645920" cy="502920"/>
          </a:xfrm>
          <a:prstGeom prst="rect">
            <a:avLst/>
          </a:prstGeom>
          <a:noFill/>
          <a:ln/>
        </p:spPr>
        <p:txBody>
          <a:bodyPr wrap="square" lIns="0" tIns="0" rIns="0" bIns="0" rtlCol="0" anchor="ctr"/>
          <a:lstStyle/>
          <a:p>
            <a:pPr indent="0" marL="0">
              <a:buNone/>
            </a:pPr>
            <a:r>
              <a:rPr lang="en-US" sz="1500" b="1" dirty="0">
                <a:solidFill>
                  <a:schemeClr val="tx1"/>
                </a:solidFill>
              </a:rPr>
              <a:t>Deployment: backend</a:t>
            </a:r>
            <a:endParaRPr lang="en-US" sz="1500" dirty="0"/>
          </a:p>
        </p:txBody>
      </p:sp>
      <p:sp>
        <p:nvSpPr>
          <p:cNvPr id="7" name="text-280"/>
          <p:cNvSpPr txBox="1"/>
          <p:nvPr/>
        </p:nvSpPr>
        <p:spPr>
          <a:xfrm>
            <a:off x="731520" y="2194560"/>
            <a:ext cx="2194560" cy="822960"/>
          </a:xfrm>
          <a:prstGeom prst="rect">
            <a:avLst/>
          </a:prstGeom>
          <a:noFill/>
          <a:ln/>
        </p:spPr>
        <p:txBody>
          <a:bodyPr wrap="square" lIns="0" tIns="0" rIns="0" bIns="0" rtlCol="0" anchor="t"/>
          <a:lstStyle/>
          <a:p>
            <a:pPr indent="0" marL="0">
              <a:buNone/>
            </a:pPr>
            <a:r>
              <a:rPr lang="en-US" sz="1400" dirty="0">
                <a:solidFill>
                  <a:schemeClr val="tx2"/>
                </a:solidFill>
              </a:rPr>
              <a:t>FastAPI with probes and CPU requests for the HPA</a:t>
            </a:r>
            <a:endParaRPr lang="en-US" sz="1400" dirty="0"/>
          </a:p>
        </p:txBody>
      </p:sp>
      <p:sp>
        <p:nvSpPr>
          <p:cNvPr id="8" name="card-281"/>
          <p:cNvSpPr/>
          <p:nvPr/>
        </p:nvSpPr>
        <p:spPr>
          <a:xfrm>
            <a:off x="3392424" y="1371600"/>
            <a:ext cx="2560320" cy="1737360"/>
          </a:xfrm>
          <a:prstGeom prst="roundRect">
            <a:avLst>
              <a:gd name="adj" fmla="val 5263"/>
            </a:avLst>
          </a:prstGeom>
          <a:solidFill>
            <a:schemeClr val="bg2"/>
          </a:solidFill>
          <a:ln w="9525">
            <a:solidFill>
              <a:schemeClr val="bg2"/>
            </a:solidFill>
            <a:prstDash val="solid"/>
          </a:ln>
        </p:spPr>
      </p:sp>
      <p:sp>
        <p:nvSpPr>
          <p:cNvPr id="9" name="icon-bg-282"/>
          <p:cNvSpPr/>
          <p:nvPr/>
        </p:nvSpPr>
        <p:spPr>
          <a:xfrm>
            <a:off x="3575304" y="1554480"/>
            <a:ext cx="502920" cy="502920"/>
          </a:xfrm>
          <a:prstGeom prst="ellipse">
            <a:avLst/>
          </a:prstGeom>
          <a:solidFill>
            <a:schemeClr val="accent1"/>
          </a:solidFill>
          <a:ln w="12700">
            <a:solidFill>
              <a:schemeClr val="accent1"/>
            </a:solidFill>
            <a:prstDash val="solid"/>
          </a:ln>
        </p:spPr>
      </p:sp>
      <p:pic>
        <p:nvPicPr>
          <p:cNvPr id="10" name="icon-283" descr="preencoded.png">    </p:cNvPr>
          <p:cNvPicPr>
            <a:picLocks noChangeAspect="1"/>
          </p:cNvPicPr>
          <p:nvPr/>
        </p:nvPicPr>
        <p:blipFill>
          <a:blip r:embed="rId2"/>
          <a:stretch>
            <a:fillRect/>
          </a:stretch>
        </p:blipFill>
        <p:spPr>
          <a:xfrm>
            <a:off x="3690976" y="1670152"/>
            <a:ext cx="271577" cy="271577"/>
          </a:xfrm>
          <a:prstGeom prst="rect">
            <a:avLst/>
          </a:prstGeom>
        </p:spPr>
      </p:pic>
      <p:sp>
        <p:nvSpPr>
          <p:cNvPr id="11" name="text-284"/>
          <p:cNvSpPr txBox="1"/>
          <p:nvPr/>
        </p:nvSpPr>
        <p:spPr>
          <a:xfrm>
            <a:off x="4197096" y="1554480"/>
            <a:ext cx="1645920" cy="502920"/>
          </a:xfrm>
          <a:prstGeom prst="rect">
            <a:avLst/>
          </a:prstGeom>
          <a:noFill/>
          <a:ln/>
        </p:spPr>
        <p:txBody>
          <a:bodyPr wrap="square" lIns="0" tIns="0" rIns="0" bIns="0" rtlCol="0" anchor="ctr"/>
          <a:lstStyle/>
          <a:p>
            <a:pPr indent="0" marL="0">
              <a:buNone/>
            </a:pPr>
            <a:r>
              <a:rPr lang="en-US" sz="1500" b="1" dirty="0">
                <a:solidFill>
                  <a:schemeClr val="tx1"/>
                </a:solidFill>
              </a:rPr>
              <a:t>Deployment: frontend</a:t>
            </a:r>
            <a:endParaRPr lang="en-US" sz="1500" dirty="0"/>
          </a:p>
        </p:txBody>
      </p:sp>
      <p:sp>
        <p:nvSpPr>
          <p:cNvPr id="12" name="text-285"/>
          <p:cNvSpPr txBox="1"/>
          <p:nvPr/>
        </p:nvSpPr>
        <p:spPr>
          <a:xfrm>
            <a:off x="3575304" y="2194560"/>
            <a:ext cx="2194560" cy="822960"/>
          </a:xfrm>
          <a:prstGeom prst="rect">
            <a:avLst/>
          </a:prstGeom>
          <a:noFill/>
          <a:ln/>
        </p:spPr>
        <p:txBody>
          <a:bodyPr wrap="square" lIns="0" tIns="0" rIns="0" bIns="0" rtlCol="0" anchor="t"/>
          <a:lstStyle/>
          <a:p>
            <a:pPr indent="0" marL="0">
              <a:buNone/>
            </a:pPr>
            <a:r>
              <a:rPr lang="en-US" sz="1400" dirty="0">
                <a:solidFill>
                  <a:schemeClr val="tx2"/>
                </a:solidFill>
              </a:rPr>
              <a:t>Nginx serving React, proxies /api</a:t>
            </a:r>
            <a:endParaRPr lang="en-US" sz="1400" dirty="0"/>
          </a:p>
        </p:txBody>
      </p:sp>
      <p:sp>
        <p:nvSpPr>
          <p:cNvPr id="13" name="card-286"/>
          <p:cNvSpPr/>
          <p:nvPr/>
        </p:nvSpPr>
        <p:spPr>
          <a:xfrm>
            <a:off x="6236208" y="1371600"/>
            <a:ext cx="2560320" cy="1737360"/>
          </a:xfrm>
          <a:prstGeom prst="roundRect">
            <a:avLst>
              <a:gd name="adj" fmla="val 5263"/>
            </a:avLst>
          </a:prstGeom>
          <a:solidFill>
            <a:schemeClr val="bg2"/>
          </a:solidFill>
          <a:ln w="9525">
            <a:solidFill>
              <a:schemeClr val="bg2"/>
            </a:solidFill>
            <a:prstDash val="solid"/>
          </a:ln>
        </p:spPr>
      </p:sp>
      <p:sp>
        <p:nvSpPr>
          <p:cNvPr id="14" name="icon-bg-287"/>
          <p:cNvSpPr/>
          <p:nvPr/>
        </p:nvSpPr>
        <p:spPr>
          <a:xfrm>
            <a:off x="6419088" y="1554480"/>
            <a:ext cx="502920" cy="502920"/>
          </a:xfrm>
          <a:prstGeom prst="ellipse">
            <a:avLst/>
          </a:prstGeom>
          <a:solidFill>
            <a:schemeClr val="accent1"/>
          </a:solidFill>
          <a:ln w="12700">
            <a:solidFill>
              <a:schemeClr val="accent1"/>
            </a:solidFill>
            <a:prstDash val="solid"/>
          </a:ln>
        </p:spPr>
      </p:sp>
      <p:pic>
        <p:nvPicPr>
          <p:cNvPr id="15" name="icon-288" descr="preencoded.png">    </p:cNvPr>
          <p:cNvPicPr>
            <a:picLocks noChangeAspect="1"/>
          </p:cNvPicPr>
          <p:nvPr/>
        </p:nvPicPr>
        <p:blipFill>
          <a:blip r:embed="rId3"/>
          <a:stretch>
            <a:fillRect/>
          </a:stretch>
        </p:blipFill>
        <p:spPr>
          <a:xfrm>
            <a:off x="6534760" y="1670152"/>
            <a:ext cx="271577" cy="271577"/>
          </a:xfrm>
          <a:prstGeom prst="rect">
            <a:avLst/>
          </a:prstGeom>
        </p:spPr>
      </p:pic>
      <p:sp>
        <p:nvSpPr>
          <p:cNvPr id="16" name="text-289"/>
          <p:cNvSpPr txBox="1"/>
          <p:nvPr/>
        </p:nvSpPr>
        <p:spPr>
          <a:xfrm>
            <a:off x="7040880" y="1554480"/>
            <a:ext cx="1645920" cy="502920"/>
          </a:xfrm>
          <a:prstGeom prst="rect">
            <a:avLst/>
          </a:prstGeom>
          <a:noFill/>
          <a:ln/>
        </p:spPr>
        <p:txBody>
          <a:bodyPr wrap="square" lIns="0" tIns="0" rIns="0" bIns="0" rtlCol="0" anchor="ctr"/>
          <a:lstStyle/>
          <a:p>
            <a:pPr indent="0" marL="0">
              <a:buNone/>
            </a:pPr>
            <a:r>
              <a:rPr lang="en-US" sz="1500" b="1" dirty="0">
                <a:solidFill>
                  <a:schemeClr val="tx1"/>
                </a:solidFill>
              </a:rPr>
              <a:t>StatefulSet: postgres</a:t>
            </a:r>
            <a:endParaRPr lang="en-US" sz="1500" dirty="0"/>
          </a:p>
        </p:txBody>
      </p:sp>
      <p:sp>
        <p:nvSpPr>
          <p:cNvPr id="17" name="text-290"/>
          <p:cNvSpPr txBox="1"/>
          <p:nvPr/>
        </p:nvSpPr>
        <p:spPr>
          <a:xfrm>
            <a:off x="6419088" y="2194560"/>
            <a:ext cx="2194560" cy="822960"/>
          </a:xfrm>
          <a:prstGeom prst="rect">
            <a:avLst/>
          </a:prstGeom>
          <a:noFill/>
          <a:ln/>
        </p:spPr>
        <p:txBody>
          <a:bodyPr wrap="square" lIns="0" tIns="0" rIns="0" bIns="0" rtlCol="0" anchor="t"/>
          <a:lstStyle/>
          <a:p>
            <a:pPr indent="0" marL="0">
              <a:buNone/>
            </a:pPr>
            <a:r>
              <a:rPr lang="en-US" sz="1400" dirty="0">
                <a:solidFill>
                  <a:schemeClr val="tx2"/>
                </a:solidFill>
              </a:rPr>
              <a:t>1 Gi gp3 EBS volume through a PVC</a:t>
            </a:r>
            <a:endParaRPr lang="en-US" sz="1400" dirty="0"/>
          </a:p>
        </p:txBody>
      </p:sp>
      <p:sp>
        <p:nvSpPr>
          <p:cNvPr id="18" name="card-291"/>
          <p:cNvSpPr/>
          <p:nvPr/>
        </p:nvSpPr>
        <p:spPr>
          <a:xfrm>
            <a:off x="9079992" y="1371600"/>
            <a:ext cx="2560320" cy="1737360"/>
          </a:xfrm>
          <a:prstGeom prst="roundRect">
            <a:avLst>
              <a:gd name="adj" fmla="val 5263"/>
            </a:avLst>
          </a:prstGeom>
          <a:solidFill>
            <a:schemeClr val="bg2"/>
          </a:solidFill>
          <a:ln w="9525">
            <a:solidFill>
              <a:schemeClr val="bg2"/>
            </a:solidFill>
            <a:prstDash val="solid"/>
          </a:ln>
        </p:spPr>
      </p:sp>
      <p:sp>
        <p:nvSpPr>
          <p:cNvPr id="19" name="icon-bg-292"/>
          <p:cNvSpPr/>
          <p:nvPr/>
        </p:nvSpPr>
        <p:spPr>
          <a:xfrm>
            <a:off x="9262872" y="1554480"/>
            <a:ext cx="502920" cy="502920"/>
          </a:xfrm>
          <a:prstGeom prst="ellipse">
            <a:avLst/>
          </a:prstGeom>
          <a:solidFill>
            <a:schemeClr val="accent1"/>
          </a:solidFill>
          <a:ln w="12700">
            <a:solidFill>
              <a:schemeClr val="accent1"/>
            </a:solidFill>
            <a:prstDash val="solid"/>
          </a:ln>
        </p:spPr>
      </p:sp>
      <p:pic>
        <p:nvPicPr>
          <p:cNvPr id="20" name="icon-293" descr="preencoded.png">    </p:cNvPr>
          <p:cNvPicPr>
            <a:picLocks noChangeAspect="1"/>
          </p:cNvPicPr>
          <p:nvPr/>
        </p:nvPicPr>
        <p:blipFill>
          <a:blip r:embed="rId4"/>
          <a:stretch>
            <a:fillRect/>
          </a:stretch>
        </p:blipFill>
        <p:spPr>
          <a:xfrm>
            <a:off x="9378544" y="1670152"/>
            <a:ext cx="271577" cy="271577"/>
          </a:xfrm>
          <a:prstGeom prst="rect">
            <a:avLst/>
          </a:prstGeom>
        </p:spPr>
      </p:pic>
      <p:sp>
        <p:nvSpPr>
          <p:cNvPr id="21" name="text-294"/>
          <p:cNvSpPr txBox="1"/>
          <p:nvPr/>
        </p:nvSpPr>
        <p:spPr>
          <a:xfrm>
            <a:off x="9884664" y="1554480"/>
            <a:ext cx="1645920" cy="502920"/>
          </a:xfrm>
          <a:prstGeom prst="rect">
            <a:avLst/>
          </a:prstGeom>
          <a:noFill/>
          <a:ln/>
        </p:spPr>
        <p:txBody>
          <a:bodyPr wrap="square" lIns="0" tIns="0" rIns="0" bIns="0" rtlCol="0" anchor="ctr"/>
          <a:lstStyle/>
          <a:p>
            <a:pPr indent="0" marL="0">
              <a:buNone/>
            </a:pPr>
            <a:r>
              <a:rPr lang="en-US" sz="1500" b="1" dirty="0">
                <a:solidFill>
                  <a:schemeClr val="tx1"/>
                </a:solidFill>
              </a:rPr>
              <a:t>Services</a:t>
            </a:r>
            <a:endParaRPr lang="en-US" sz="1500" dirty="0"/>
          </a:p>
        </p:txBody>
      </p:sp>
      <p:sp>
        <p:nvSpPr>
          <p:cNvPr id="22" name="text-295"/>
          <p:cNvSpPr txBox="1"/>
          <p:nvPr/>
        </p:nvSpPr>
        <p:spPr>
          <a:xfrm>
            <a:off x="9262872" y="2194560"/>
            <a:ext cx="2194560" cy="822960"/>
          </a:xfrm>
          <a:prstGeom prst="rect">
            <a:avLst/>
          </a:prstGeom>
          <a:noFill/>
          <a:ln/>
        </p:spPr>
        <p:txBody>
          <a:bodyPr wrap="square" lIns="0" tIns="0" rIns="0" bIns="0" rtlCol="0" anchor="t"/>
          <a:lstStyle/>
          <a:p>
            <a:pPr indent="0" marL="0">
              <a:buNone/>
            </a:pPr>
            <a:r>
              <a:rPr lang="en-US" sz="1400" dirty="0">
                <a:solidFill>
                  <a:schemeClr val="tx2"/>
                </a:solidFill>
              </a:rPr>
              <a:t>Stable names for backend, frontend, postgres</a:t>
            </a:r>
            <a:endParaRPr lang="en-US" sz="1400" dirty="0"/>
          </a:p>
        </p:txBody>
      </p:sp>
      <p:sp>
        <p:nvSpPr>
          <p:cNvPr id="23" name="card-296"/>
          <p:cNvSpPr/>
          <p:nvPr/>
        </p:nvSpPr>
        <p:spPr>
          <a:xfrm>
            <a:off x="548640" y="3383280"/>
            <a:ext cx="2560320" cy="1737360"/>
          </a:xfrm>
          <a:prstGeom prst="roundRect">
            <a:avLst>
              <a:gd name="adj" fmla="val 5263"/>
            </a:avLst>
          </a:prstGeom>
          <a:solidFill>
            <a:schemeClr val="bg2"/>
          </a:solidFill>
          <a:ln w="9525">
            <a:solidFill>
              <a:schemeClr val="bg2"/>
            </a:solidFill>
            <a:prstDash val="solid"/>
          </a:ln>
        </p:spPr>
      </p:sp>
      <p:sp>
        <p:nvSpPr>
          <p:cNvPr id="24" name="icon-bg-297"/>
          <p:cNvSpPr/>
          <p:nvPr/>
        </p:nvSpPr>
        <p:spPr>
          <a:xfrm>
            <a:off x="731520" y="3566160"/>
            <a:ext cx="502920" cy="502920"/>
          </a:xfrm>
          <a:prstGeom prst="ellipse">
            <a:avLst/>
          </a:prstGeom>
          <a:solidFill>
            <a:schemeClr val="accent1"/>
          </a:solidFill>
          <a:ln w="12700">
            <a:solidFill>
              <a:schemeClr val="accent1"/>
            </a:solidFill>
            <a:prstDash val="solid"/>
          </a:ln>
        </p:spPr>
      </p:sp>
      <p:pic>
        <p:nvPicPr>
          <p:cNvPr id="25" name="icon-298" descr="preencoded.png">    </p:cNvPr>
          <p:cNvPicPr>
            <a:picLocks noChangeAspect="1"/>
          </p:cNvPicPr>
          <p:nvPr/>
        </p:nvPicPr>
        <p:blipFill>
          <a:blip r:embed="rId5"/>
          <a:stretch>
            <a:fillRect/>
          </a:stretch>
        </p:blipFill>
        <p:spPr>
          <a:xfrm>
            <a:off x="847192" y="3681832"/>
            <a:ext cx="271577" cy="271577"/>
          </a:xfrm>
          <a:prstGeom prst="rect">
            <a:avLst/>
          </a:prstGeom>
        </p:spPr>
      </p:pic>
      <p:sp>
        <p:nvSpPr>
          <p:cNvPr id="26" name="text-299"/>
          <p:cNvSpPr txBox="1"/>
          <p:nvPr/>
        </p:nvSpPr>
        <p:spPr>
          <a:xfrm>
            <a:off x="1353312" y="3566160"/>
            <a:ext cx="1645920" cy="502920"/>
          </a:xfrm>
          <a:prstGeom prst="rect">
            <a:avLst/>
          </a:prstGeom>
          <a:noFill/>
          <a:ln/>
        </p:spPr>
        <p:txBody>
          <a:bodyPr wrap="square" lIns="0" tIns="0" rIns="0" bIns="0" rtlCol="0" anchor="ctr"/>
          <a:lstStyle/>
          <a:p>
            <a:pPr indent="0" marL="0">
              <a:buNone/>
            </a:pPr>
            <a:r>
              <a:rPr lang="en-US" sz="1500" b="1" dirty="0">
                <a:solidFill>
                  <a:schemeClr val="tx1"/>
                </a:solidFill>
              </a:rPr>
              <a:t>Ingress</a:t>
            </a:r>
            <a:endParaRPr lang="en-US" sz="1500" dirty="0"/>
          </a:p>
        </p:txBody>
      </p:sp>
      <p:sp>
        <p:nvSpPr>
          <p:cNvPr id="27" name="text-300"/>
          <p:cNvSpPr txBox="1"/>
          <p:nvPr/>
        </p:nvSpPr>
        <p:spPr>
          <a:xfrm>
            <a:off x="731520" y="4206240"/>
            <a:ext cx="2194560" cy="822960"/>
          </a:xfrm>
          <a:prstGeom prst="rect">
            <a:avLst/>
          </a:prstGeom>
          <a:noFill/>
          <a:ln/>
        </p:spPr>
        <p:txBody>
          <a:bodyPr wrap="square" lIns="0" tIns="0" rIns="0" bIns="0" rtlCol="0" anchor="t"/>
          <a:lstStyle/>
          <a:p>
            <a:pPr indent="0" marL="0">
              <a:buNone/>
            </a:pPr>
            <a:r>
              <a:rPr lang="en-US" sz="1400" dirty="0">
                <a:solidFill>
                  <a:schemeClr val="tx2"/>
                </a:solidFill>
              </a:rPr>
              <a:t>/api to backend, / to frontend</a:t>
            </a:r>
            <a:endParaRPr lang="en-US" sz="1400" dirty="0"/>
          </a:p>
        </p:txBody>
      </p:sp>
      <p:sp>
        <p:nvSpPr>
          <p:cNvPr id="28" name="card-301"/>
          <p:cNvSpPr/>
          <p:nvPr/>
        </p:nvSpPr>
        <p:spPr>
          <a:xfrm>
            <a:off x="3392424" y="3383280"/>
            <a:ext cx="2560320" cy="1737360"/>
          </a:xfrm>
          <a:prstGeom prst="roundRect">
            <a:avLst>
              <a:gd name="adj" fmla="val 5263"/>
            </a:avLst>
          </a:prstGeom>
          <a:solidFill>
            <a:schemeClr val="bg2"/>
          </a:solidFill>
          <a:ln w="9525">
            <a:solidFill>
              <a:schemeClr val="bg2"/>
            </a:solidFill>
            <a:prstDash val="solid"/>
          </a:ln>
        </p:spPr>
      </p:sp>
      <p:sp>
        <p:nvSpPr>
          <p:cNvPr id="29" name="icon-bg-302"/>
          <p:cNvSpPr/>
          <p:nvPr/>
        </p:nvSpPr>
        <p:spPr>
          <a:xfrm>
            <a:off x="3575304" y="3566160"/>
            <a:ext cx="502920" cy="502920"/>
          </a:xfrm>
          <a:prstGeom prst="ellipse">
            <a:avLst/>
          </a:prstGeom>
          <a:solidFill>
            <a:schemeClr val="accent1"/>
          </a:solidFill>
          <a:ln w="12700">
            <a:solidFill>
              <a:schemeClr val="accent1"/>
            </a:solidFill>
            <a:prstDash val="solid"/>
          </a:ln>
        </p:spPr>
      </p:sp>
      <p:pic>
        <p:nvPicPr>
          <p:cNvPr id="30" name="icon-303" descr="preencoded.png">    </p:cNvPr>
          <p:cNvPicPr>
            <a:picLocks noChangeAspect="1"/>
          </p:cNvPicPr>
          <p:nvPr/>
        </p:nvPicPr>
        <p:blipFill>
          <a:blip r:embed="rId6"/>
          <a:stretch>
            <a:fillRect/>
          </a:stretch>
        </p:blipFill>
        <p:spPr>
          <a:xfrm>
            <a:off x="3690976" y="3681832"/>
            <a:ext cx="271577" cy="271577"/>
          </a:xfrm>
          <a:prstGeom prst="rect">
            <a:avLst/>
          </a:prstGeom>
        </p:spPr>
      </p:pic>
      <p:sp>
        <p:nvSpPr>
          <p:cNvPr id="31" name="text-304"/>
          <p:cNvSpPr txBox="1"/>
          <p:nvPr/>
        </p:nvSpPr>
        <p:spPr>
          <a:xfrm>
            <a:off x="4197096" y="3566160"/>
            <a:ext cx="1645920" cy="502920"/>
          </a:xfrm>
          <a:prstGeom prst="rect">
            <a:avLst/>
          </a:prstGeom>
          <a:noFill/>
          <a:ln/>
        </p:spPr>
        <p:txBody>
          <a:bodyPr wrap="square" lIns="0" tIns="0" rIns="0" bIns="0" rtlCol="0" anchor="ctr"/>
          <a:lstStyle/>
          <a:p>
            <a:pPr indent="0" marL="0">
              <a:buNone/>
            </a:pPr>
            <a:r>
              <a:rPr lang="en-US" sz="1500" b="1" dirty="0">
                <a:solidFill>
                  <a:schemeClr val="tx1"/>
                </a:solidFill>
              </a:rPr>
              <a:t>HPA</a:t>
            </a:r>
            <a:endParaRPr lang="en-US" sz="1500" dirty="0"/>
          </a:p>
        </p:txBody>
      </p:sp>
      <p:sp>
        <p:nvSpPr>
          <p:cNvPr id="32" name="text-305"/>
          <p:cNvSpPr txBox="1"/>
          <p:nvPr/>
        </p:nvSpPr>
        <p:spPr>
          <a:xfrm>
            <a:off x="3575304" y="4206240"/>
            <a:ext cx="2194560" cy="822960"/>
          </a:xfrm>
          <a:prstGeom prst="rect">
            <a:avLst/>
          </a:prstGeom>
          <a:noFill/>
          <a:ln/>
        </p:spPr>
        <p:txBody>
          <a:bodyPr wrap="square" lIns="0" tIns="0" rIns="0" bIns="0" rtlCol="0" anchor="t"/>
          <a:lstStyle/>
          <a:p>
            <a:pPr indent="0" marL="0">
              <a:buNone/>
            </a:pPr>
            <a:r>
              <a:rPr lang="en-US" sz="1400" dirty="0">
                <a:solidFill>
                  <a:schemeClr val="tx2"/>
                </a:solidFill>
              </a:rPr>
              <a:t>2 to 6 backend replicas at 50% CPU</a:t>
            </a:r>
            <a:endParaRPr lang="en-US" sz="1400" dirty="0"/>
          </a:p>
        </p:txBody>
      </p:sp>
      <p:sp>
        <p:nvSpPr>
          <p:cNvPr id="33" name="card-306"/>
          <p:cNvSpPr/>
          <p:nvPr/>
        </p:nvSpPr>
        <p:spPr>
          <a:xfrm>
            <a:off x="6236208" y="3383280"/>
            <a:ext cx="2560320" cy="1737360"/>
          </a:xfrm>
          <a:prstGeom prst="roundRect">
            <a:avLst>
              <a:gd name="adj" fmla="val 5263"/>
            </a:avLst>
          </a:prstGeom>
          <a:solidFill>
            <a:schemeClr val="bg2"/>
          </a:solidFill>
          <a:ln w="9525">
            <a:solidFill>
              <a:schemeClr val="bg2"/>
            </a:solidFill>
            <a:prstDash val="solid"/>
          </a:ln>
        </p:spPr>
      </p:sp>
      <p:sp>
        <p:nvSpPr>
          <p:cNvPr id="34" name="icon-bg-307"/>
          <p:cNvSpPr/>
          <p:nvPr/>
        </p:nvSpPr>
        <p:spPr>
          <a:xfrm>
            <a:off x="6419088" y="3566160"/>
            <a:ext cx="502920" cy="502920"/>
          </a:xfrm>
          <a:prstGeom prst="ellipse">
            <a:avLst/>
          </a:prstGeom>
          <a:solidFill>
            <a:schemeClr val="accent1"/>
          </a:solidFill>
          <a:ln w="12700">
            <a:solidFill>
              <a:schemeClr val="accent1"/>
            </a:solidFill>
            <a:prstDash val="solid"/>
          </a:ln>
        </p:spPr>
      </p:sp>
      <p:pic>
        <p:nvPicPr>
          <p:cNvPr id="35" name="icon-308" descr="preencoded.png">    </p:cNvPr>
          <p:cNvPicPr>
            <a:picLocks noChangeAspect="1"/>
          </p:cNvPicPr>
          <p:nvPr/>
        </p:nvPicPr>
        <p:blipFill>
          <a:blip r:embed="rId7"/>
          <a:stretch>
            <a:fillRect/>
          </a:stretch>
        </p:blipFill>
        <p:spPr>
          <a:xfrm>
            <a:off x="6534760" y="3681832"/>
            <a:ext cx="271577" cy="271577"/>
          </a:xfrm>
          <a:prstGeom prst="rect">
            <a:avLst/>
          </a:prstGeom>
        </p:spPr>
      </p:pic>
      <p:sp>
        <p:nvSpPr>
          <p:cNvPr id="36" name="text-309"/>
          <p:cNvSpPr txBox="1"/>
          <p:nvPr/>
        </p:nvSpPr>
        <p:spPr>
          <a:xfrm>
            <a:off x="7040880" y="3566160"/>
            <a:ext cx="1645920" cy="502920"/>
          </a:xfrm>
          <a:prstGeom prst="rect">
            <a:avLst/>
          </a:prstGeom>
          <a:noFill/>
          <a:ln/>
        </p:spPr>
        <p:txBody>
          <a:bodyPr wrap="square" lIns="0" tIns="0" rIns="0" bIns="0" rtlCol="0" anchor="ctr"/>
          <a:lstStyle/>
          <a:p>
            <a:pPr indent="0" marL="0">
              <a:buNone/>
            </a:pPr>
            <a:r>
              <a:rPr lang="en-US" sz="1500" b="1" dirty="0">
                <a:solidFill>
                  <a:schemeClr val="tx1"/>
                </a:solidFill>
              </a:rPr>
              <a:t>ServiceMonitor</a:t>
            </a:r>
            <a:endParaRPr lang="en-US" sz="1500" dirty="0"/>
          </a:p>
        </p:txBody>
      </p:sp>
      <p:sp>
        <p:nvSpPr>
          <p:cNvPr id="37" name="text-310"/>
          <p:cNvSpPr txBox="1"/>
          <p:nvPr/>
        </p:nvSpPr>
        <p:spPr>
          <a:xfrm>
            <a:off x="6419088" y="4206240"/>
            <a:ext cx="2194560" cy="822960"/>
          </a:xfrm>
          <a:prstGeom prst="rect">
            <a:avLst/>
          </a:prstGeom>
          <a:noFill/>
          <a:ln/>
        </p:spPr>
        <p:txBody>
          <a:bodyPr wrap="square" lIns="0" tIns="0" rIns="0" bIns="0" rtlCol="0" anchor="t"/>
          <a:lstStyle/>
          <a:p>
            <a:pPr indent="0" marL="0">
              <a:buNone/>
            </a:pPr>
            <a:r>
              <a:rPr lang="en-US" sz="1400" dirty="0">
                <a:solidFill>
                  <a:schemeClr val="tx2"/>
                </a:solidFill>
              </a:rPr>
              <a:t>Prometheus scrapes /metrics every 15 s</a:t>
            </a:r>
            <a:endParaRPr lang="en-US" sz="1400" dirty="0"/>
          </a:p>
        </p:txBody>
      </p:sp>
      <p:sp>
        <p:nvSpPr>
          <p:cNvPr id="38" name="card-311"/>
          <p:cNvSpPr/>
          <p:nvPr/>
        </p:nvSpPr>
        <p:spPr>
          <a:xfrm>
            <a:off x="9079992" y="3383280"/>
            <a:ext cx="2560320" cy="1737360"/>
          </a:xfrm>
          <a:prstGeom prst="roundRect">
            <a:avLst>
              <a:gd name="adj" fmla="val 5263"/>
            </a:avLst>
          </a:prstGeom>
          <a:solidFill>
            <a:schemeClr val="bg2"/>
          </a:solidFill>
          <a:ln w="9525">
            <a:solidFill>
              <a:schemeClr val="bg2"/>
            </a:solidFill>
            <a:prstDash val="solid"/>
          </a:ln>
        </p:spPr>
      </p:sp>
      <p:sp>
        <p:nvSpPr>
          <p:cNvPr id="39" name="icon-bg-312"/>
          <p:cNvSpPr/>
          <p:nvPr/>
        </p:nvSpPr>
        <p:spPr>
          <a:xfrm>
            <a:off x="9262872" y="3566160"/>
            <a:ext cx="502920" cy="502920"/>
          </a:xfrm>
          <a:prstGeom prst="ellipse">
            <a:avLst/>
          </a:prstGeom>
          <a:solidFill>
            <a:schemeClr val="accent1"/>
          </a:solidFill>
          <a:ln w="12700">
            <a:solidFill>
              <a:schemeClr val="accent1"/>
            </a:solidFill>
            <a:prstDash val="solid"/>
          </a:ln>
        </p:spPr>
      </p:sp>
      <p:pic>
        <p:nvPicPr>
          <p:cNvPr id="40" name="icon-313" descr="preencoded.png">    </p:cNvPr>
          <p:cNvPicPr>
            <a:picLocks noChangeAspect="1"/>
          </p:cNvPicPr>
          <p:nvPr/>
        </p:nvPicPr>
        <p:blipFill>
          <a:blip r:embed="rId8"/>
          <a:stretch>
            <a:fillRect/>
          </a:stretch>
        </p:blipFill>
        <p:spPr>
          <a:xfrm>
            <a:off x="9378544" y="3681832"/>
            <a:ext cx="271577" cy="271577"/>
          </a:xfrm>
          <a:prstGeom prst="rect">
            <a:avLst/>
          </a:prstGeom>
        </p:spPr>
      </p:pic>
      <p:sp>
        <p:nvSpPr>
          <p:cNvPr id="41" name="text-314"/>
          <p:cNvSpPr txBox="1"/>
          <p:nvPr/>
        </p:nvSpPr>
        <p:spPr>
          <a:xfrm>
            <a:off x="9884664" y="3566160"/>
            <a:ext cx="1645920" cy="502920"/>
          </a:xfrm>
          <a:prstGeom prst="rect">
            <a:avLst/>
          </a:prstGeom>
          <a:noFill/>
          <a:ln/>
        </p:spPr>
        <p:txBody>
          <a:bodyPr wrap="square" lIns="0" tIns="0" rIns="0" bIns="0" rtlCol="0" anchor="ctr"/>
          <a:lstStyle/>
          <a:p>
            <a:pPr indent="0" marL="0">
              <a:buNone/>
            </a:pPr>
            <a:r>
              <a:rPr lang="en-US" sz="1500" b="1" dirty="0">
                <a:solidFill>
                  <a:schemeClr val="tx1"/>
                </a:solidFill>
              </a:rPr>
              <a:t>Dashboard ConfigMap</a:t>
            </a:r>
            <a:endParaRPr lang="en-US" sz="1500" dirty="0"/>
          </a:p>
        </p:txBody>
      </p:sp>
      <p:sp>
        <p:nvSpPr>
          <p:cNvPr id="42" name="text-315"/>
          <p:cNvSpPr txBox="1"/>
          <p:nvPr/>
        </p:nvSpPr>
        <p:spPr>
          <a:xfrm>
            <a:off x="9262872" y="4206240"/>
            <a:ext cx="2194560" cy="822960"/>
          </a:xfrm>
          <a:prstGeom prst="rect">
            <a:avLst/>
          </a:prstGeom>
          <a:noFill/>
          <a:ln/>
        </p:spPr>
        <p:txBody>
          <a:bodyPr wrap="square" lIns="0" tIns="0" rIns="0" bIns="0" rtlCol="0" anchor="t"/>
          <a:lstStyle/>
          <a:p>
            <a:pPr indent="0" marL="0">
              <a:buNone/>
            </a:pPr>
            <a:r>
              <a:rPr lang="en-US" sz="1400" dirty="0">
                <a:solidFill>
                  <a:schemeClr val="tx2"/>
                </a:solidFill>
              </a:rPr>
              <a:t>Grafana sidecar loads it automatically</a:t>
            </a:r>
            <a:endParaRPr lang="en-US" sz="1400" dirty="0"/>
          </a:p>
        </p:txBody>
      </p:sp>
      <p:sp>
        <p:nvSpPr>
          <p:cNvPr id="43" name="box-316"/>
          <p:cNvSpPr/>
          <p:nvPr/>
        </p:nvSpPr>
        <p:spPr>
          <a:xfrm>
            <a:off x="548640" y="5349240"/>
            <a:ext cx="3514344" cy="731520"/>
          </a:xfrm>
          <a:prstGeom prst="roundRect">
            <a:avLst>
              <a:gd name="adj" fmla="val 10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44" name="file-ic-317" descr="preencoded.png">    </p:cNvPr>
          <p:cNvPicPr>
            <a:picLocks noChangeAspect="1"/>
          </p:cNvPicPr>
          <p:nvPr/>
        </p:nvPicPr>
        <p:blipFill>
          <a:blip r:embed="rId9"/>
          <a:stretch>
            <a:fillRect/>
          </a:stretch>
        </p:blipFill>
        <p:spPr>
          <a:xfrm>
            <a:off x="713232" y="5532120"/>
            <a:ext cx="365760" cy="365760"/>
          </a:xfrm>
          <a:prstGeom prst="rect">
            <a:avLst/>
          </a:prstGeom>
        </p:spPr>
      </p:pic>
      <p:sp>
        <p:nvSpPr>
          <p:cNvPr id="45" name="text-318"/>
          <p:cNvSpPr txBox="1"/>
          <p:nvPr/>
        </p:nvSpPr>
        <p:spPr>
          <a:xfrm>
            <a:off x="1207008" y="5376672"/>
            <a:ext cx="2737104" cy="676656"/>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values.yaml</a:t>
            </a:r>
            <a:endParaRPr lang="en-US" sz="1300" dirty="0"/>
          </a:p>
          <a:p>
            <a:pPr indent="0" marL="0">
              <a:buNone/>
            </a:pPr>
            <a:r>
              <a:rPr lang="en-US" sz="1300" dirty="0">
                <a:solidFill>
                  <a:schemeClr val="tx2"/>
                </a:solidFill>
              </a:rPr>
              <a:t>defaults for every environment</a:t>
            </a:r>
            <a:endParaRPr lang="en-US" sz="1300" dirty="0"/>
          </a:p>
        </p:txBody>
      </p:sp>
      <p:sp>
        <p:nvSpPr>
          <p:cNvPr id="46" name="box-319"/>
          <p:cNvSpPr/>
          <p:nvPr/>
        </p:nvSpPr>
        <p:spPr>
          <a:xfrm>
            <a:off x="4337304" y="5349240"/>
            <a:ext cx="3514344" cy="731520"/>
          </a:xfrm>
          <a:prstGeom prst="roundRect">
            <a:avLst>
              <a:gd name="adj" fmla="val 10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47" name="file-ic-320" descr="preencoded.png">    </p:cNvPr>
          <p:cNvPicPr>
            <a:picLocks noChangeAspect="1"/>
          </p:cNvPicPr>
          <p:nvPr/>
        </p:nvPicPr>
        <p:blipFill>
          <a:blip r:embed="rId10"/>
          <a:stretch>
            <a:fillRect/>
          </a:stretch>
        </p:blipFill>
        <p:spPr>
          <a:xfrm>
            <a:off x="4501896" y="5532120"/>
            <a:ext cx="365760" cy="365760"/>
          </a:xfrm>
          <a:prstGeom prst="rect">
            <a:avLst/>
          </a:prstGeom>
        </p:spPr>
      </p:pic>
      <p:sp>
        <p:nvSpPr>
          <p:cNvPr id="48" name="text-321"/>
          <p:cNvSpPr txBox="1"/>
          <p:nvPr/>
        </p:nvSpPr>
        <p:spPr>
          <a:xfrm>
            <a:off x="4995672" y="5376672"/>
            <a:ext cx="2737104" cy="676656"/>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values-dev.yaml</a:t>
            </a:r>
            <a:endParaRPr lang="en-US" sz="1300" dirty="0"/>
          </a:p>
          <a:p>
            <a:pPr indent="0" marL="0">
              <a:buNone/>
            </a:pPr>
            <a:r>
              <a:rPr lang="en-US" sz="1300" dirty="0">
                <a:solidFill>
                  <a:schemeClr val="tx2"/>
                </a:solidFill>
              </a:rPr>
              <a:t>local cluster, host taskboard.local</a:t>
            </a:r>
            <a:endParaRPr lang="en-US" sz="1300" dirty="0"/>
          </a:p>
        </p:txBody>
      </p:sp>
      <p:sp>
        <p:nvSpPr>
          <p:cNvPr id="49" name="box-322"/>
          <p:cNvSpPr/>
          <p:nvPr/>
        </p:nvSpPr>
        <p:spPr>
          <a:xfrm>
            <a:off x="8125968" y="5349240"/>
            <a:ext cx="3514344" cy="731520"/>
          </a:xfrm>
          <a:prstGeom prst="roundRect">
            <a:avLst>
              <a:gd name="adj" fmla="val 10000"/>
            </a:avLst>
          </a:prstGeom>
          <a:solidFill>
            <a:schemeClr val="bg1"/>
          </a:solidFill>
          <a:ln w="12700">
            <a:solidFill>
              <a:schemeClr val="accent1"/>
            </a:solidFill>
            <a:prstDash val="solid"/>
          </a:ln>
          <a:effectLst>
            <a:outerShdw sx="100000" sy="100000" kx="0" ky="0" algn="bl" rotWithShape="0" blurRad="101600" dist="25400" dir="5400000">
              <a:srgbClr val="0F172A">
                <a:alpha val="12000"/>
              </a:srgbClr>
            </a:outerShdw>
          </a:effectLst>
        </p:spPr>
      </p:sp>
      <p:pic>
        <p:nvPicPr>
          <p:cNvPr id="50" name="file-ic-323" descr="preencoded.png">    </p:cNvPr>
          <p:cNvPicPr>
            <a:picLocks noChangeAspect="1"/>
          </p:cNvPicPr>
          <p:nvPr/>
        </p:nvPicPr>
        <p:blipFill>
          <a:blip r:embed="rId11"/>
          <a:stretch>
            <a:fillRect/>
          </a:stretch>
        </p:blipFill>
        <p:spPr>
          <a:xfrm>
            <a:off x="8290560" y="5532120"/>
            <a:ext cx="365760" cy="365760"/>
          </a:xfrm>
          <a:prstGeom prst="rect">
            <a:avLst/>
          </a:prstGeom>
        </p:spPr>
      </p:pic>
      <p:sp>
        <p:nvSpPr>
          <p:cNvPr id="51" name="text-324"/>
          <p:cNvSpPr txBox="1"/>
          <p:nvPr/>
        </p:nvSpPr>
        <p:spPr>
          <a:xfrm>
            <a:off x="8784336" y="5376672"/>
            <a:ext cx="2737104" cy="676656"/>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values-eks.yaml</a:t>
            </a:r>
            <a:endParaRPr lang="en-US" sz="1300" dirty="0"/>
          </a:p>
          <a:p>
            <a:pPr indent="0" marL="0">
              <a:buNone/>
            </a:pPr>
            <a:r>
              <a:rPr lang="en-US" sz="1300" dirty="0">
                <a:solidFill>
                  <a:schemeClr val="tx2"/>
                </a:solidFill>
              </a:rPr>
              <a:t>gp3, ingress, monitoring on</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commit, traced to the pod</a:t>
            </a:r>
            <a:endParaRPr lang="en-US" sz="3600" dirty="0"/>
          </a:p>
        </p:txBody>
      </p:sp>
      <p:sp>
        <p:nvSpPr>
          <p:cNvPr id="3" name="card-325"/>
          <p:cNvSpPr/>
          <p:nvPr/>
        </p:nvSpPr>
        <p:spPr>
          <a:xfrm>
            <a:off x="548640" y="1371600"/>
            <a:ext cx="1965960" cy="1783080"/>
          </a:xfrm>
          <a:prstGeom prst="roundRect">
            <a:avLst>
              <a:gd name="adj" fmla="val 5128"/>
            </a:avLst>
          </a:prstGeom>
          <a:solidFill>
            <a:schemeClr val="bg2"/>
          </a:solidFill>
          <a:ln w="9525">
            <a:solidFill>
              <a:schemeClr val="bg2"/>
            </a:solidFill>
            <a:prstDash val="solid"/>
          </a:ln>
        </p:spPr>
      </p:sp>
      <p:sp>
        <p:nvSpPr>
          <p:cNvPr id="4" name="icon-bg-326"/>
          <p:cNvSpPr/>
          <p:nvPr/>
        </p:nvSpPr>
        <p:spPr>
          <a:xfrm>
            <a:off x="731520" y="1554480"/>
            <a:ext cx="502920" cy="502920"/>
          </a:xfrm>
          <a:prstGeom prst="ellipse">
            <a:avLst/>
          </a:prstGeom>
          <a:solidFill>
            <a:schemeClr val="accent1"/>
          </a:solidFill>
          <a:ln w="12700">
            <a:solidFill>
              <a:schemeClr val="accent1"/>
            </a:solidFill>
            <a:prstDash val="solid"/>
          </a:ln>
        </p:spPr>
      </p:sp>
      <p:pic>
        <p:nvPicPr>
          <p:cNvPr id="5" name="icon-327" descr="preencoded.png">    </p:cNvPr>
          <p:cNvPicPr>
            <a:picLocks noChangeAspect="1"/>
          </p:cNvPicPr>
          <p:nvPr/>
        </p:nvPicPr>
        <p:blipFill>
          <a:blip r:embed="rId1"/>
          <a:stretch>
            <a:fillRect/>
          </a:stretch>
        </p:blipFill>
        <p:spPr>
          <a:xfrm>
            <a:off x="847192" y="1670152"/>
            <a:ext cx="271577" cy="271577"/>
          </a:xfrm>
          <a:prstGeom prst="rect">
            <a:avLst/>
          </a:prstGeom>
        </p:spPr>
      </p:pic>
      <p:sp>
        <p:nvSpPr>
          <p:cNvPr id="6" name="text-328"/>
          <p:cNvSpPr txBox="1"/>
          <p:nvPr/>
        </p:nvSpPr>
        <p:spPr>
          <a:xfrm>
            <a:off x="1353312" y="1618488"/>
            <a:ext cx="1051560" cy="365760"/>
          </a:xfrm>
          <a:prstGeom prst="rect">
            <a:avLst/>
          </a:prstGeom>
          <a:noFill/>
          <a:ln/>
        </p:spPr>
        <p:txBody>
          <a:bodyPr wrap="square" lIns="0" tIns="0" rIns="0" bIns="0" rtlCol="0" anchor="ctr"/>
          <a:lstStyle/>
          <a:p>
            <a:pPr indent="0" marL="0">
              <a:buNone/>
            </a:pPr>
            <a:r>
              <a:rPr lang="en-US" sz="1400" b="1" dirty="0">
                <a:solidFill>
                  <a:schemeClr val="accent1"/>
                </a:solidFill>
              </a:rPr>
              <a:t>Commit</a:t>
            </a:r>
            <a:endParaRPr lang="en-US" sz="1400" dirty="0"/>
          </a:p>
        </p:txBody>
      </p:sp>
      <p:sp>
        <p:nvSpPr>
          <p:cNvPr id="7" name="text-329"/>
          <p:cNvSpPr txBox="1"/>
          <p:nvPr/>
        </p:nvSpPr>
        <p:spPr>
          <a:xfrm>
            <a:off x="731520" y="2176272"/>
            <a:ext cx="1691640" cy="411480"/>
          </a:xfrm>
          <a:prstGeom prst="rect">
            <a:avLst/>
          </a:prstGeom>
          <a:noFill/>
          <a:ln/>
        </p:spPr>
        <p:txBody>
          <a:bodyPr wrap="square" lIns="0" tIns="0" rIns="0" bIns="0" rtlCol="0" anchor="t"/>
          <a:lstStyle/>
          <a:p>
            <a:pPr indent="0" marL="0">
              <a:buNone/>
            </a:pPr>
            <a:r>
              <a:rPr lang="en-US" sz="1900" b="1" dirty="0">
                <a:solidFill>
                  <a:schemeClr val="tx1"/>
                </a:solidFill>
                <a:latin typeface="Courier New" pitchFamily="34" charset="0"/>
                <a:ea typeface="Courier New" pitchFamily="34" charset="-122"/>
                <a:cs typeface="Courier New" pitchFamily="34" charset="-120"/>
              </a:rPr>
              <a:t>63c7a59</a:t>
            </a:r>
            <a:endParaRPr lang="en-US" sz="1900" dirty="0"/>
          </a:p>
        </p:txBody>
      </p:sp>
      <p:sp>
        <p:nvSpPr>
          <p:cNvPr id="8" name="text-330"/>
          <p:cNvSpPr txBox="1"/>
          <p:nvPr/>
        </p:nvSpPr>
        <p:spPr>
          <a:xfrm>
            <a:off x="731520" y="2606040"/>
            <a:ext cx="1691640" cy="411480"/>
          </a:xfrm>
          <a:prstGeom prst="rect">
            <a:avLst/>
          </a:prstGeom>
          <a:noFill/>
          <a:ln/>
        </p:spPr>
        <p:txBody>
          <a:bodyPr wrap="square" lIns="0" tIns="0" rIns="0" bIns="0" rtlCol="0" anchor="t"/>
          <a:lstStyle/>
          <a:p>
            <a:pPr indent="0" marL="0">
              <a:buNone/>
            </a:pPr>
            <a:r>
              <a:rPr lang="en-US" sz="1400" dirty="0">
                <a:solidFill>
                  <a:schemeClr val="tx2"/>
                </a:solidFill>
              </a:rPr>
              <a:t>pushed to main</a:t>
            </a:r>
            <a:endParaRPr lang="en-US" sz="1400" dirty="0"/>
          </a:p>
        </p:txBody>
      </p:sp>
      <p:sp>
        <p:nvSpPr>
          <p:cNvPr id="9" name="arrow-331"/>
          <p:cNvSpPr/>
          <p:nvPr/>
        </p:nvSpPr>
        <p:spPr>
          <a:xfrm>
            <a:off x="2551176" y="2263140"/>
            <a:ext cx="242316" cy="0"/>
          </a:xfrm>
          <a:prstGeom prst="line">
            <a:avLst/>
          </a:prstGeom>
          <a:noFill/>
          <a:ln w="19050">
            <a:solidFill>
              <a:schemeClr val="accent6"/>
            </a:solidFill>
            <a:prstDash val="solid"/>
            <a:tailEnd type="triangle"/>
          </a:ln>
        </p:spPr>
      </p:sp>
      <p:sp>
        <p:nvSpPr>
          <p:cNvPr id="10" name="card-332"/>
          <p:cNvSpPr/>
          <p:nvPr/>
        </p:nvSpPr>
        <p:spPr>
          <a:xfrm>
            <a:off x="2830068" y="1371600"/>
            <a:ext cx="1965960" cy="1783080"/>
          </a:xfrm>
          <a:prstGeom prst="roundRect">
            <a:avLst>
              <a:gd name="adj" fmla="val 5128"/>
            </a:avLst>
          </a:prstGeom>
          <a:solidFill>
            <a:schemeClr val="bg2"/>
          </a:solidFill>
          <a:ln w="9525">
            <a:solidFill>
              <a:schemeClr val="bg2"/>
            </a:solidFill>
            <a:prstDash val="solid"/>
          </a:ln>
        </p:spPr>
      </p:sp>
      <p:sp>
        <p:nvSpPr>
          <p:cNvPr id="11" name="icon-bg-333"/>
          <p:cNvSpPr/>
          <p:nvPr/>
        </p:nvSpPr>
        <p:spPr>
          <a:xfrm>
            <a:off x="3012948" y="1554480"/>
            <a:ext cx="502920" cy="502920"/>
          </a:xfrm>
          <a:prstGeom prst="ellipse">
            <a:avLst/>
          </a:prstGeom>
          <a:solidFill>
            <a:schemeClr val="accent1"/>
          </a:solidFill>
          <a:ln w="12700">
            <a:solidFill>
              <a:schemeClr val="accent1"/>
            </a:solidFill>
            <a:prstDash val="solid"/>
          </a:ln>
        </p:spPr>
      </p:sp>
      <p:pic>
        <p:nvPicPr>
          <p:cNvPr id="12" name="icon-334" descr="preencoded.png">    </p:cNvPr>
          <p:cNvPicPr>
            <a:picLocks noChangeAspect="1"/>
          </p:cNvPicPr>
          <p:nvPr/>
        </p:nvPicPr>
        <p:blipFill>
          <a:blip r:embed="rId2"/>
          <a:stretch>
            <a:fillRect/>
          </a:stretch>
        </p:blipFill>
        <p:spPr>
          <a:xfrm>
            <a:off x="3128620" y="1670152"/>
            <a:ext cx="271577" cy="271577"/>
          </a:xfrm>
          <a:prstGeom prst="rect">
            <a:avLst/>
          </a:prstGeom>
        </p:spPr>
      </p:pic>
      <p:sp>
        <p:nvSpPr>
          <p:cNvPr id="13" name="text-335"/>
          <p:cNvSpPr txBox="1"/>
          <p:nvPr/>
        </p:nvSpPr>
        <p:spPr>
          <a:xfrm>
            <a:off x="3634740" y="1618488"/>
            <a:ext cx="1051560" cy="365760"/>
          </a:xfrm>
          <a:prstGeom prst="rect">
            <a:avLst/>
          </a:prstGeom>
          <a:noFill/>
          <a:ln/>
        </p:spPr>
        <p:txBody>
          <a:bodyPr wrap="square" lIns="0" tIns="0" rIns="0" bIns="0" rtlCol="0" anchor="ctr"/>
          <a:lstStyle/>
          <a:p>
            <a:pPr indent="0" marL="0">
              <a:buNone/>
            </a:pPr>
            <a:r>
              <a:rPr lang="en-US" sz="1400" b="1" dirty="0">
                <a:solidFill>
                  <a:schemeClr val="accent1"/>
                </a:solidFill>
              </a:rPr>
              <a:t>CI run</a:t>
            </a:r>
            <a:endParaRPr lang="en-US" sz="1400" dirty="0"/>
          </a:p>
        </p:txBody>
      </p:sp>
      <p:sp>
        <p:nvSpPr>
          <p:cNvPr id="14" name="text-336"/>
          <p:cNvSpPr txBox="1"/>
          <p:nvPr/>
        </p:nvSpPr>
        <p:spPr>
          <a:xfrm>
            <a:off x="3012948" y="2176272"/>
            <a:ext cx="1691640" cy="411480"/>
          </a:xfrm>
          <a:prstGeom prst="rect">
            <a:avLst/>
          </a:prstGeom>
          <a:noFill/>
          <a:ln/>
        </p:spPr>
        <p:txBody>
          <a:bodyPr wrap="square" lIns="0" tIns="0" rIns="0" bIns="0" rtlCol="0" anchor="t"/>
          <a:lstStyle/>
          <a:p>
            <a:pPr indent="0" marL="0">
              <a:buNone/>
            </a:pPr>
            <a:r>
              <a:rPr lang="en-US" sz="1900" b="1" dirty="0">
                <a:solidFill>
                  <a:schemeClr val="tx1"/>
                </a:solidFill>
                <a:latin typeface="Courier New" pitchFamily="34" charset="0"/>
                <a:ea typeface="Courier New" pitchFamily="34" charset="-122"/>
                <a:cs typeface="Courier New" pitchFamily="34" charset="-120"/>
              </a:rPr>
              <a:t>#3</a:t>
            </a:r>
            <a:endParaRPr lang="en-US" sz="1900" dirty="0"/>
          </a:p>
        </p:txBody>
      </p:sp>
      <p:sp>
        <p:nvSpPr>
          <p:cNvPr id="15" name="text-337"/>
          <p:cNvSpPr txBox="1"/>
          <p:nvPr/>
        </p:nvSpPr>
        <p:spPr>
          <a:xfrm>
            <a:off x="3012948" y="2606040"/>
            <a:ext cx="1691640" cy="411480"/>
          </a:xfrm>
          <a:prstGeom prst="rect">
            <a:avLst/>
          </a:prstGeom>
          <a:noFill/>
          <a:ln/>
        </p:spPr>
        <p:txBody>
          <a:bodyPr wrap="square" lIns="0" tIns="0" rIns="0" bIns="0" rtlCol="0" anchor="t"/>
          <a:lstStyle/>
          <a:p>
            <a:pPr indent="0" marL="0">
              <a:buNone/>
            </a:pPr>
            <a:r>
              <a:rPr lang="en-US" sz="1400" dirty="0">
                <a:solidFill>
                  <a:schemeClr val="tx2"/>
                </a:solidFill>
              </a:rPr>
              <a:t>4 of 4 jobs green</a:t>
            </a:r>
            <a:endParaRPr lang="en-US" sz="1400" dirty="0"/>
          </a:p>
        </p:txBody>
      </p:sp>
      <p:sp>
        <p:nvSpPr>
          <p:cNvPr id="16" name="arrow-338"/>
          <p:cNvSpPr/>
          <p:nvPr/>
        </p:nvSpPr>
        <p:spPr>
          <a:xfrm>
            <a:off x="4832604" y="2263140"/>
            <a:ext cx="242316" cy="0"/>
          </a:xfrm>
          <a:prstGeom prst="line">
            <a:avLst/>
          </a:prstGeom>
          <a:noFill/>
          <a:ln w="19050">
            <a:solidFill>
              <a:schemeClr val="accent6"/>
            </a:solidFill>
            <a:prstDash val="solid"/>
            <a:tailEnd type="triangle"/>
          </a:ln>
        </p:spPr>
      </p:sp>
      <p:sp>
        <p:nvSpPr>
          <p:cNvPr id="17" name="card-339"/>
          <p:cNvSpPr/>
          <p:nvPr/>
        </p:nvSpPr>
        <p:spPr>
          <a:xfrm>
            <a:off x="5111496" y="1371600"/>
            <a:ext cx="1965960" cy="1783080"/>
          </a:xfrm>
          <a:prstGeom prst="roundRect">
            <a:avLst>
              <a:gd name="adj" fmla="val 5128"/>
            </a:avLst>
          </a:prstGeom>
          <a:solidFill>
            <a:schemeClr val="bg2"/>
          </a:solidFill>
          <a:ln w="9525">
            <a:solidFill>
              <a:schemeClr val="bg2"/>
            </a:solidFill>
            <a:prstDash val="solid"/>
          </a:ln>
        </p:spPr>
      </p:sp>
      <p:sp>
        <p:nvSpPr>
          <p:cNvPr id="18" name="icon-bg-340"/>
          <p:cNvSpPr/>
          <p:nvPr/>
        </p:nvSpPr>
        <p:spPr>
          <a:xfrm>
            <a:off x="5294376" y="1554480"/>
            <a:ext cx="502920" cy="502920"/>
          </a:xfrm>
          <a:prstGeom prst="ellipse">
            <a:avLst/>
          </a:prstGeom>
          <a:solidFill>
            <a:schemeClr val="accent1"/>
          </a:solidFill>
          <a:ln w="12700">
            <a:solidFill>
              <a:schemeClr val="accent1"/>
            </a:solidFill>
            <a:prstDash val="solid"/>
          </a:ln>
        </p:spPr>
      </p:sp>
      <p:pic>
        <p:nvPicPr>
          <p:cNvPr id="19" name="icon-341" descr="preencoded.png">    </p:cNvPr>
          <p:cNvPicPr>
            <a:picLocks noChangeAspect="1"/>
          </p:cNvPicPr>
          <p:nvPr/>
        </p:nvPicPr>
        <p:blipFill>
          <a:blip r:embed="rId3"/>
          <a:stretch>
            <a:fillRect/>
          </a:stretch>
        </p:blipFill>
        <p:spPr>
          <a:xfrm>
            <a:off x="5410048" y="1670152"/>
            <a:ext cx="271577" cy="271577"/>
          </a:xfrm>
          <a:prstGeom prst="rect">
            <a:avLst/>
          </a:prstGeom>
        </p:spPr>
      </p:pic>
      <p:sp>
        <p:nvSpPr>
          <p:cNvPr id="20" name="text-342"/>
          <p:cNvSpPr txBox="1"/>
          <p:nvPr/>
        </p:nvSpPr>
        <p:spPr>
          <a:xfrm>
            <a:off x="5916168" y="1618488"/>
            <a:ext cx="1051560" cy="365760"/>
          </a:xfrm>
          <a:prstGeom prst="rect">
            <a:avLst/>
          </a:prstGeom>
          <a:noFill/>
          <a:ln/>
        </p:spPr>
        <p:txBody>
          <a:bodyPr wrap="square" lIns="0" tIns="0" rIns="0" bIns="0" rtlCol="0" anchor="ctr"/>
          <a:lstStyle/>
          <a:p>
            <a:pPr indent="0" marL="0">
              <a:buNone/>
            </a:pPr>
            <a:r>
              <a:rPr lang="en-US" sz="1400" b="1" dirty="0">
                <a:solidFill>
                  <a:schemeClr val="accent1"/>
                </a:solidFill>
              </a:rPr>
              <a:t>Image</a:t>
            </a:r>
            <a:endParaRPr lang="en-US" sz="1400" dirty="0"/>
          </a:p>
        </p:txBody>
      </p:sp>
      <p:sp>
        <p:nvSpPr>
          <p:cNvPr id="21" name="text-343"/>
          <p:cNvSpPr txBox="1"/>
          <p:nvPr/>
        </p:nvSpPr>
        <p:spPr>
          <a:xfrm>
            <a:off x="5294376" y="2176272"/>
            <a:ext cx="1691640" cy="411480"/>
          </a:xfrm>
          <a:prstGeom prst="rect">
            <a:avLst/>
          </a:prstGeom>
          <a:noFill/>
          <a:ln/>
        </p:spPr>
        <p:txBody>
          <a:bodyPr wrap="square" lIns="0" tIns="0" rIns="0" bIns="0" rtlCol="0" anchor="t"/>
          <a:lstStyle/>
          <a:p>
            <a:pPr indent="0" marL="0">
              <a:buNone/>
            </a:pPr>
            <a:r>
              <a:rPr lang="en-US" sz="1900" b="1" dirty="0">
                <a:solidFill>
                  <a:schemeClr val="tx1"/>
                </a:solidFill>
                <a:latin typeface="Courier New" pitchFamily="34" charset="0"/>
                <a:ea typeface="Courier New" pitchFamily="34" charset="-122"/>
                <a:cs typeface="Courier New" pitchFamily="34" charset="-120"/>
              </a:rPr>
              <a:t>:63c7a59…</a:t>
            </a:r>
            <a:endParaRPr lang="en-US" sz="1900" dirty="0"/>
          </a:p>
        </p:txBody>
      </p:sp>
      <p:sp>
        <p:nvSpPr>
          <p:cNvPr id="22" name="text-344"/>
          <p:cNvSpPr txBox="1"/>
          <p:nvPr/>
        </p:nvSpPr>
        <p:spPr>
          <a:xfrm>
            <a:off x="5294376" y="2606040"/>
            <a:ext cx="1691640" cy="411480"/>
          </a:xfrm>
          <a:prstGeom prst="rect">
            <a:avLst/>
          </a:prstGeom>
          <a:noFill/>
          <a:ln/>
        </p:spPr>
        <p:txBody>
          <a:bodyPr wrap="square" lIns="0" tIns="0" rIns="0" bIns="0" rtlCol="0" anchor="t"/>
          <a:lstStyle/>
          <a:p>
            <a:pPr indent="0" marL="0">
              <a:buNone/>
            </a:pPr>
            <a:r>
              <a:rPr lang="en-US" sz="1400" dirty="0">
                <a:solidFill>
                  <a:schemeClr val="tx2"/>
                </a:solidFill>
              </a:rPr>
              <a:t>pushed to GHCR</a:t>
            </a:r>
            <a:endParaRPr lang="en-US" sz="1400" dirty="0"/>
          </a:p>
        </p:txBody>
      </p:sp>
      <p:sp>
        <p:nvSpPr>
          <p:cNvPr id="23" name="arrow-345"/>
          <p:cNvSpPr/>
          <p:nvPr/>
        </p:nvSpPr>
        <p:spPr>
          <a:xfrm>
            <a:off x="7114032" y="2263140"/>
            <a:ext cx="242316" cy="0"/>
          </a:xfrm>
          <a:prstGeom prst="line">
            <a:avLst/>
          </a:prstGeom>
          <a:noFill/>
          <a:ln w="19050">
            <a:solidFill>
              <a:schemeClr val="accent6"/>
            </a:solidFill>
            <a:prstDash val="solid"/>
            <a:tailEnd type="triangle"/>
          </a:ln>
        </p:spPr>
      </p:sp>
      <p:sp>
        <p:nvSpPr>
          <p:cNvPr id="24" name="card-346"/>
          <p:cNvSpPr/>
          <p:nvPr/>
        </p:nvSpPr>
        <p:spPr>
          <a:xfrm>
            <a:off x="7392924" y="1371600"/>
            <a:ext cx="1965960" cy="1783080"/>
          </a:xfrm>
          <a:prstGeom prst="roundRect">
            <a:avLst>
              <a:gd name="adj" fmla="val 5128"/>
            </a:avLst>
          </a:prstGeom>
          <a:solidFill>
            <a:schemeClr val="bg2"/>
          </a:solidFill>
          <a:ln w="9525">
            <a:solidFill>
              <a:schemeClr val="bg2"/>
            </a:solidFill>
            <a:prstDash val="solid"/>
          </a:ln>
        </p:spPr>
      </p:sp>
      <p:sp>
        <p:nvSpPr>
          <p:cNvPr id="25" name="icon-bg-347"/>
          <p:cNvSpPr/>
          <p:nvPr/>
        </p:nvSpPr>
        <p:spPr>
          <a:xfrm>
            <a:off x="7575804" y="1554480"/>
            <a:ext cx="502920" cy="502920"/>
          </a:xfrm>
          <a:prstGeom prst="ellipse">
            <a:avLst/>
          </a:prstGeom>
          <a:solidFill>
            <a:schemeClr val="accent1"/>
          </a:solidFill>
          <a:ln w="12700">
            <a:solidFill>
              <a:schemeClr val="accent1"/>
            </a:solidFill>
            <a:prstDash val="solid"/>
          </a:ln>
        </p:spPr>
      </p:sp>
      <p:pic>
        <p:nvPicPr>
          <p:cNvPr id="26" name="icon-348" descr="preencoded.png">    </p:cNvPr>
          <p:cNvPicPr>
            <a:picLocks noChangeAspect="1"/>
          </p:cNvPicPr>
          <p:nvPr/>
        </p:nvPicPr>
        <p:blipFill>
          <a:blip r:embed="rId4"/>
          <a:stretch>
            <a:fillRect/>
          </a:stretch>
        </p:blipFill>
        <p:spPr>
          <a:xfrm>
            <a:off x="7691476" y="1670152"/>
            <a:ext cx="271577" cy="271577"/>
          </a:xfrm>
          <a:prstGeom prst="rect">
            <a:avLst/>
          </a:prstGeom>
        </p:spPr>
      </p:pic>
      <p:sp>
        <p:nvSpPr>
          <p:cNvPr id="27" name="text-349"/>
          <p:cNvSpPr txBox="1"/>
          <p:nvPr/>
        </p:nvSpPr>
        <p:spPr>
          <a:xfrm>
            <a:off x="8197596" y="1618488"/>
            <a:ext cx="1051560" cy="365760"/>
          </a:xfrm>
          <a:prstGeom prst="rect">
            <a:avLst/>
          </a:prstGeom>
          <a:noFill/>
          <a:ln/>
        </p:spPr>
        <p:txBody>
          <a:bodyPr wrap="square" lIns="0" tIns="0" rIns="0" bIns="0" rtlCol="0" anchor="ctr"/>
          <a:lstStyle/>
          <a:p>
            <a:pPr indent="0" marL="0">
              <a:buNone/>
            </a:pPr>
            <a:r>
              <a:rPr lang="en-US" sz="1400" b="1" dirty="0">
                <a:solidFill>
                  <a:schemeClr val="accent1"/>
                </a:solidFill>
              </a:rPr>
              <a:t>Helm</a:t>
            </a:r>
            <a:endParaRPr lang="en-US" sz="1400" dirty="0"/>
          </a:p>
        </p:txBody>
      </p:sp>
      <p:sp>
        <p:nvSpPr>
          <p:cNvPr id="28" name="text-350"/>
          <p:cNvSpPr txBox="1"/>
          <p:nvPr/>
        </p:nvSpPr>
        <p:spPr>
          <a:xfrm>
            <a:off x="7575804" y="2176272"/>
            <a:ext cx="1691640" cy="411480"/>
          </a:xfrm>
          <a:prstGeom prst="rect">
            <a:avLst/>
          </a:prstGeom>
          <a:noFill/>
          <a:ln/>
        </p:spPr>
        <p:txBody>
          <a:bodyPr wrap="square" lIns="0" tIns="0" rIns="0" bIns="0" rtlCol="0" anchor="t"/>
          <a:lstStyle/>
          <a:p>
            <a:pPr indent="0" marL="0">
              <a:buNone/>
            </a:pPr>
            <a:r>
              <a:rPr lang="en-US" sz="1900" b="1" dirty="0">
                <a:solidFill>
                  <a:schemeClr val="tx1"/>
                </a:solidFill>
                <a:latin typeface="Courier New" pitchFamily="34" charset="0"/>
                <a:ea typeface="Courier New" pitchFamily="34" charset="-122"/>
                <a:cs typeface="Courier New" pitchFamily="34" charset="-120"/>
              </a:rPr>
              <a:t>revision 2</a:t>
            </a:r>
            <a:endParaRPr lang="en-US" sz="1900" dirty="0"/>
          </a:p>
        </p:txBody>
      </p:sp>
      <p:sp>
        <p:nvSpPr>
          <p:cNvPr id="29" name="text-351"/>
          <p:cNvSpPr txBox="1"/>
          <p:nvPr/>
        </p:nvSpPr>
        <p:spPr>
          <a:xfrm>
            <a:off x="7575804" y="2606040"/>
            <a:ext cx="1691640" cy="411480"/>
          </a:xfrm>
          <a:prstGeom prst="rect">
            <a:avLst/>
          </a:prstGeom>
          <a:noFill/>
          <a:ln/>
        </p:spPr>
        <p:txBody>
          <a:bodyPr wrap="square" lIns="0" tIns="0" rIns="0" bIns="0" rtlCol="0" anchor="t"/>
          <a:lstStyle/>
          <a:p>
            <a:pPr indent="0" marL="0">
              <a:buNone/>
            </a:pPr>
            <a:r>
              <a:rPr lang="en-US" sz="1400" dirty="0">
                <a:solidFill>
                  <a:schemeClr val="tx2"/>
                </a:solidFill>
              </a:rPr>
              <a:t>deployed by CI</a:t>
            </a:r>
            <a:endParaRPr lang="en-US" sz="1400" dirty="0"/>
          </a:p>
        </p:txBody>
      </p:sp>
      <p:sp>
        <p:nvSpPr>
          <p:cNvPr id="30" name="arrow-352"/>
          <p:cNvSpPr/>
          <p:nvPr/>
        </p:nvSpPr>
        <p:spPr>
          <a:xfrm>
            <a:off x="9395460" y="2263140"/>
            <a:ext cx="242316" cy="0"/>
          </a:xfrm>
          <a:prstGeom prst="line">
            <a:avLst/>
          </a:prstGeom>
          <a:noFill/>
          <a:ln w="19050">
            <a:solidFill>
              <a:schemeClr val="accent6"/>
            </a:solidFill>
            <a:prstDash val="solid"/>
            <a:tailEnd type="triangle"/>
          </a:ln>
        </p:spPr>
      </p:sp>
      <p:sp>
        <p:nvSpPr>
          <p:cNvPr id="31" name="card-353"/>
          <p:cNvSpPr/>
          <p:nvPr/>
        </p:nvSpPr>
        <p:spPr>
          <a:xfrm>
            <a:off x="9674352" y="1371600"/>
            <a:ext cx="1965960" cy="1783080"/>
          </a:xfrm>
          <a:prstGeom prst="roundRect">
            <a:avLst>
              <a:gd name="adj" fmla="val 5128"/>
            </a:avLst>
          </a:prstGeom>
          <a:solidFill>
            <a:schemeClr val="bg2"/>
          </a:solidFill>
          <a:ln w="9525">
            <a:solidFill>
              <a:schemeClr val="bg2"/>
            </a:solidFill>
            <a:prstDash val="solid"/>
          </a:ln>
        </p:spPr>
      </p:sp>
      <p:sp>
        <p:nvSpPr>
          <p:cNvPr id="32" name="icon-bg-354"/>
          <p:cNvSpPr/>
          <p:nvPr/>
        </p:nvSpPr>
        <p:spPr>
          <a:xfrm>
            <a:off x="9857232" y="1554480"/>
            <a:ext cx="502920" cy="502920"/>
          </a:xfrm>
          <a:prstGeom prst="ellipse">
            <a:avLst/>
          </a:prstGeom>
          <a:solidFill>
            <a:schemeClr val="accent1"/>
          </a:solidFill>
          <a:ln w="12700">
            <a:solidFill>
              <a:schemeClr val="accent1"/>
            </a:solidFill>
            <a:prstDash val="solid"/>
          </a:ln>
        </p:spPr>
      </p:sp>
      <p:pic>
        <p:nvPicPr>
          <p:cNvPr id="33" name="icon-355" descr="preencoded.png">    </p:cNvPr>
          <p:cNvPicPr>
            <a:picLocks noChangeAspect="1"/>
          </p:cNvPicPr>
          <p:nvPr/>
        </p:nvPicPr>
        <p:blipFill>
          <a:blip r:embed="rId5"/>
          <a:stretch>
            <a:fillRect/>
          </a:stretch>
        </p:blipFill>
        <p:spPr>
          <a:xfrm>
            <a:off x="9972904" y="1670152"/>
            <a:ext cx="271577" cy="271577"/>
          </a:xfrm>
          <a:prstGeom prst="rect">
            <a:avLst/>
          </a:prstGeom>
        </p:spPr>
      </p:pic>
      <p:sp>
        <p:nvSpPr>
          <p:cNvPr id="34" name="text-356"/>
          <p:cNvSpPr txBox="1"/>
          <p:nvPr/>
        </p:nvSpPr>
        <p:spPr>
          <a:xfrm>
            <a:off x="10479024" y="1618488"/>
            <a:ext cx="1051560" cy="365760"/>
          </a:xfrm>
          <a:prstGeom prst="rect">
            <a:avLst/>
          </a:prstGeom>
          <a:noFill/>
          <a:ln/>
        </p:spPr>
        <p:txBody>
          <a:bodyPr wrap="square" lIns="0" tIns="0" rIns="0" bIns="0" rtlCol="0" anchor="ctr"/>
          <a:lstStyle/>
          <a:p>
            <a:pPr indent="0" marL="0">
              <a:buNone/>
            </a:pPr>
            <a:r>
              <a:rPr lang="en-US" sz="1400" b="1" dirty="0">
                <a:solidFill>
                  <a:schemeClr val="accent1"/>
                </a:solidFill>
              </a:rPr>
              <a:t>Pods</a:t>
            </a:r>
            <a:endParaRPr lang="en-US" sz="1400" dirty="0"/>
          </a:p>
        </p:txBody>
      </p:sp>
      <p:sp>
        <p:nvSpPr>
          <p:cNvPr id="35" name="text-357"/>
          <p:cNvSpPr txBox="1"/>
          <p:nvPr/>
        </p:nvSpPr>
        <p:spPr>
          <a:xfrm>
            <a:off x="9857232" y="2176272"/>
            <a:ext cx="1691640" cy="411480"/>
          </a:xfrm>
          <a:prstGeom prst="rect">
            <a:avLst/>
          </a:prstGeom>
          <a:noFill/>
          <a:ln/>
        </p:spPr>
        <p:txBody>
          <a:bodyPr wrap="square" lIns="0" tIns="0" rIns="0" bIns="0" rtlCol="0" anchor="t"/>
          <a:lstStyle/>
          <a:p>
            <a:pPr indent="0" marL="0">
              <a:buNone/>
            </a:pPr>
            <a:r>
              <a:rPr lang="en-US" sz="1900" b="1" dirty="0">
                <a:solidFill>
                  <a:schemeClr val="tx1"/>
                </a:solidFill>
                <a:latin typeface="Courier New" pitchFamily="34" charset="0"/>
                <a:ea typeface="Courier New" pitchFamily="34" charset="-122"/>
                <a:cs typeface="Courier New" pitchFamily="34" charset="-120"/>
              </a:rPr>
              <a:t>4 replaced</a:t>
            </a:r>
            <a:endParaRPr lang="en-US" sz="1900" dirty="0"/>
          </a:p>
        </p:txBody>
      </p:sp>
      <p:sp>
        <p:nvSpPr>
          <p:cNvPr id="36" name="text-358"/>
          <p:cNvSpPr txBox="1"/>
          <p:nvPr/>
        </p:nvSpPr>
        <p:spPr>
          <a:xfrm>
            <a:off x="9857232" y="2606040"/>
            <a:ext cx="1691640" cy="411480"/>
          </a:xfrm>
          <a:prstGeom prst="rect">
            <a:avLst/>
          </a:prstGeom>
          <a:noFill/>
          <a:ln/>
        </p:spPr>
        <p:txBody>
          <a:bodyPr wrap="square" lIns="0" tIns="0" rIns="0" bIns="0" rtlCol="0" anchor="t"/>
          <a:lstStyle/>
          <a:p>
            <a:pPr indent="0" marL="0">
              <a:buNone/>
            </a:pPr>
            <a:r>
              <a:rPr lang="en-US" sz="1400" dirty="0">
                <a:solidFill>
                  <a:schemeClr val="tx2"/>
                </a:solidFill>
              </a:rPr>
              <a:t>running that image</a:t>
            </a:r>
            <a:endParaRPr lang="en-US" sz="1400" dirty="0"/>
          </a:p>
        </p:txBody>
      </p:sp>
      <p:sp>
        <p:nvSpPr>
          <p:cNvPr id="37" name="text-359"/>
          <p:cNvSpPr txBox="1"/>
          <p:nvPr/>
        </p:nvSpPr>
        <p:spPr>
          <a:xfrm>
            <a:off x="548640" y="3749040"/>
            <a:ext cx="11091672" cy="320040"/>
          </a:xfrm>
          <a:prstGeom prst="rect">
            <a:avLst/>
          </a:prstGeom>
          <a:noFill/>
          <a:ln/>
        </p:spPr>
        <p:txBody>
          <a:bodyPr wrap="square" lIns="0" tIns="0" rIns="0" bIns="0" rtlCol="0" anchor="t"/>
          <a:lstStyle/>
          <a:p>
            <a:pPr indent="0" marL="0">
              <a:buNone/>
            </a:pPr>
            <a:r>
              <a:rPr lang="en-US" sz="1400" dirty="0">
                <a:solidFill>
                  <a:schemeClr val="tx1"/>
                </a:solidFill>
              </a:rPr>
              <a:t>CI's own rollout log (run #3): Helm revision 2 deployed, backend and frontend pods replaced seconds ago, database untouched</a:t>
            </a:r>
            <a:endParaRPr lang="en-US" sz="1400" dirty="0"/>
          </a:p>
        </p:txBody>
      </p:sp>
      <p:sp>
        <p:nvSpPr>
          <p:cNvPr id="38" name="shot-frame-360"/>
          <p:cNvSpPr/>
          <p:nvPr/>
        </p:nvSpPr>
        <p:spPr>
          <a:xfrm>
            <a:off x="548640" y="4160520"/>
            <a:ext cx="7863840" cy="1467612"/>
          </a:xfrm>
          <a:prstGeom prst="rect">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39" name="screenshot-361" descr="/tmp/claude-1000/-home-cryo-Code-devops-finalProject/8e4cf91c-e874-4e9c-93de-082fea424b42/scratchpad/deck-build/48-rollout-crop.png">    </p:cNvPr>
          <p:cNvPicPr>
            <a:picLocks noChangeAspect="1"/>
          </p:cNvPicPr>
          <p:nvPr/>
        </p:nvPicPr>
        <p:blipFill>
          <a:blip r:embed="rId6"/>
          <a:stretch>
            <a:fillRect/>
          </a:stretch>
        </p:blipFill>
        <p:spPr>
          <a:xfrm>
            <a:off x="548640" y="4160520"/>
            <a:ext cx="7863840" cy="1467612"/>
          </a:xfrm>
          <a:prstGeom prst="rect">
            <a:avLst/>
          </a:prstGeom>
        </p:spPr>
      </p:pic>
      <p:sp>
        <p:nvSpPr>
          <p:cNvPr id="40" name="card-362"/>
          <p:cNvSpPr/>
          <p:nvPr/>
        </p:nvSpPr>
        <p:spPr>
          <a:xfrm>
            <a:off x="8686800" y="4160520"/>
            <a:ext cx="2953512" cy="1467612"/>
          </a:xfrm>
          <a:prstGeom prst="roundRect">
            <a:avLst>
              <a:gd name="adj" fmla="val 6231"/>
            </a:avLst>
          </a:prstGeom>
          <a:solidFill>
            <a:schemeClr val="bg2"/>
          </a:solidFill>
          <a:ln w="9525">
            <a:solidFill>
              <a:schemeClr val="bg2"/>
            </a:solidFill>
            <a:prstDash val="solid"/>
          </a:ln>
        </p:spPr>
      </p:sp>
      <p:sp>
        <p:nvSpPr>
          <p:cNvPr id="41" name="icon-bg-363"/>
          <p:cNvSpPr/>
          <p:nvPr/>
        </p:nvSpPr>
        <p:spPr>
          <a:xfrm>
            <a:off x="8869680" y="4297680"/>
            <a:ext cx="457200" cy="457200"/>
          </a:xfrm>
          <a:prstGeom prst="ellipse">
            <a:avLst/>
          </a:prstGeom>
          <a:solidFill>
            <a:schemeClr val="accent1"/>
          </a:solidFill>
          <a:ln w="12700">
            <a:solidFill>
              <a:schemeClr val="accent1"/>
            </a:solidFill>
            <a:prstDash val="solid"/>
          </a:ln>
        </p:spPr>
      </p:sp>
      <p:pic>
        <p:nvPicPr>
          <p:cNvPr id="42" name="icon-364" descr="preencoded.png">    </p:cNvPr>
          <p:cNvPicPr>
            <a:picLocks noChangeAspect="1"/>
          </p:cNvPicPr>
          <p:nvPr/>
        </p:nvPicPr>
        <p:blipFill>
          <a:blip r:embed="rId7"/>
          <a:stretch>
            <a:fillRect/>
          </a:stretch>
        </p:blipFill>
        <p:spPr>
          <a:xfrm>
            <a:off x="8974836" y="4402836"/>
            <a:ext cx="246888" cy="246888"/>
          </a:xfrm>
          <a:prstGeom prst="rect">
            <a:avLst/>
          </a:prstGeom>
        </p:spPr>
      </p:pic>
      <p:sp>
        <p:nvSpPr>
          <p:cNvPr id="43" name="text-365"/>
          <p:cNvSpPr txBox="1"/>
          <p:nvPr/>
        </p:nvSpPr>
        <p:spPr>
          <a:xfrm>
            <a:off x="9464040" y="4297680"/>
            <a:ext cx="2103120" cy="457200"/>
          </a:xfrm>
          <a:prstGeom prst="rect">
            <a:avLst/>
          </a:prstGeom>
          <a:noFill/>
          <a:ln/>
        </p:spPr>
        <p:txBody>
          <a:bodyPr wrap="square" lIns="0" tIns="0" rIns="0" bIns="0" rtlCol="0" anchor="ctr"/>
          <a:lstStyle/>
          <a:p>
            <a:pPr indent="0" marL="0">
              <a:buNone/>
            </a:pPr>
            <a:r>
              <a:rPr lang="en-US" sz="1500" b="1" dirty="0">
                <a:solidFill>
                  <a:schemeClr val="tx1"/>
                </a:solidFill>
              </a:rPr>
              <a:t>Bad release?</a:t>
            </a:r>
            <a:endParaRPr lang="en-US" sz="1500" dirty="0"/>
          </a:p>
        </p:txBody>
      </p:sp>
      <p:sp>
        <p:nvSpPr>
          <p:cNvPr id="44" name="text-366"/>
          <p:cNvSpPr txBox="1"/>
          <p:nvPr/>
        </p:nvSpPr>
        <p:spPr>
          <a:xfrm>
            <a:off x="8869680" y="4919472"/>
            <a:ext cx="2697480" cy="59436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helm rollback taskboard 1</a:t>
            </a:r>
            <a:endParaRPr lang="en-US" sz="1200" dirty="0"/>
          </a:p>
          <a:p>
            <a:pPr indent="0" marL="0">
              <a:buNone/>
            </a:pPr>
            <a:r>
              <a:rPr lang="en-US" sz="1200" dirty="0">
                <a:solidFill>
                  <a:schemeClr val="tx2"/>
                </a:solidFill>
              </a:rPr>
              <a:t>back to the previous revision</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Autoscaling under real load</a:t>
            </a:r>
            <a:endParaRPr lang="en-US" sz="3600" dirty="0"/>
          </a:p>
        </p:txBody>
      </p:sp>
      <p:graphicFrame>
        <p:nvGraphicFramePr>
          <p:cNvPr id="3" name="cpu-chart" descr=""/>
          <p:cNvGraphicFramePr/>
          <p:nvPr/>
        </p:nvGraphicFramePr>
        <p:xfrm>
          <a:off x="548640" y="1325880"/>
          <a:ext cx="6766560" cy="2423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replica-chart" descr=""/>
          <p:cNvGraphicFramePr/>
          <p:nvPr/>
        </p:nvGraphicFramePr>
        <p:xfrm>
          <a:off x="548640" y="3840480"/>
          <a:ext cx="6766560" cy="2286000"/>
        </p:xfrm>
        <a:graphic xmlns:a="http://schemas.openxmlformats.org/drawingml/2006/main">
          <a:graphicData uri="http://schemas.openxmlformats.org/drawingml/2006/chart">
            <c:chart xmlns:c="http://schemas.openxmlformats.org/drawingml/2006/chart" r:id="rId2"/>
          </a:graphicData>
        </a:graphic>
      </p:graphicFrame>
      <p:sp>
        <p:nvSpPr>
          <p:cNvPr id="5" name="card-367"/>
          <p:cNvSpPr/>
          <p:nvPr/>
        </p:nvSpPr>
        <p:spPr>
          <a:xfrm>
            <a:off x="7680960" y="1371600"/>
            <a:ext cx="3959352" cy="1371600"/>
          </a:xfrm>
          <a:prstGeom prst="roundRect">
            <a:avLst>
              <a:gd name="adj" fmla="val 6667"/>
            </a:avLst>
          </a:prstGeom>
          <a:solidFill>
            <a:schemeClr val="bg2"/>
          </a:solidFill>
          <a:ln w="9525">
            <a:solidFill>
              <a:schemeClr val="bg2"/>
            </a:solidFill>
            <a:prstDash val="solid"/>
          </a:ln>
        </p:spPr>
      </p:sp>
      <p:sp>
        <p:nvSpPr>
          <p:cNvPr id="6" name="text-368"/>
          <p:cNvSpPr txBox="1"/>
          <p:nvPr/>
        </p:nvSpPr>
        <p:spPr>
          <a:xfrm>
            <a:off x="7909560" y="1508760"/>
            <a:ext cx="3566160" cy="640080"/>
          </a:xfrm>
          <a:prstGeom prst="rect">
            <a:avLst/>
          </a:prstGeom>
          <a:noFill/>
          <a:ln/>
        </p:spPr>
        <p:txBody>
          <a:bodyPr wrap="square" lIns="0" tIns="0" rIns="0" bIns="0" rtlCol="0" anchor="ctr"/>
          <a:lstStyle/>
          <a:p>
            <a:pPr indent="0" marL="0">
              <a:buNone/>
            </a:pPr>
            <a:r>
              <a:rPr lang="en-US" sz="3600" b="1" dirty="0">
                <a:solidFill>
                  <a:schemeClr val="accent4"/>
                </a:solidFill>
                <a:latin typeface="Arial" pitchFamily="34" charset="0"/>
                <a:ea typeface="Arial" pitchFamily="34" charset="-122"/>
                <a:cs typeface="Arial" pitchFamily="34" charset="-120"/>
              </a:rPr>
              <a:t>407%</a:t>
            </a:r>
            <a:endParaRPr lang="en-US" sz="3600" dirty="0"/>
          </a:p>
        </p:txBody>
      </p:sp>
      <p:sp>
        <p:nvSpPr>
          <p:cNvPr id="7" name="text-369"/>
          <p:cNvSpPr txBox="1"/>
          <p:nvPr/>
        </p:nvSpPr>
        <p:spPr>
          <a:xfrm>
            <a:off x="7909560" y="2148840"/>
            <a:ext cx="3566160" cy="502920"/>
          </a:xfrm>
          <a:prstGeom prst="rect">
            <a:avLst/>
          </a:prstGeom>
          <a:noFill/>
          <a:ln/>
        </p:spPr>
        <p:txBody>
          <a:bodyPr wrap="square" lIns="0" tIns="0" rIns="0" bIns="0" rtlCol="0" anchor="t"/>
          <a:lstStyle/>
          <a:p>
            <a:pPr indent="0" marL="0">
              <a:buNone/>
            </a:pPr>
            <a:r>
              <a:rPr lang="en-US" sz="1400" dirty="0">
                <a:solidFill>
                  <a:schemeClr val="tx2"/>
                </a:solidFill>
              </a:rPr>
              <a:t>peak CPU of the backend's request, against a 50% target</a:t>
            </a:r>
            <a:endParaRPr lang="en-US" sz="1400" dirty="0"/>
          </a:p>
        </p:txBody>
      </p:sp>
      <p:sp>
        <p:nvSpPr>
          <p:cNvPr id="8" name="card-370"/>
          <p:cNvSpPr/>
          <p:nvPr/>
        </p:nvSpPr>
        <p:spPr>
          <a:xfrm>
            <a:off x="7680960" y="2971800"/>
            <a:ext cx="3959352" cy="1371600"/>
          </a:xfrm>
          <a:prstGeom prst="roundRect">
            <a:avLst>
              <a:gd name="adj" fmla="val 6667"/>
            </a:avLst>
          </a:prstGeom>
          <a:solidFill>
            <a:schemeClr val="bg2"/>
          </a:solidFill>
          <a:ln w="9525">
            <a:solidFill>
              <a:schemeClr val="bg2"/>
            </a:solidFill>
            <a:prstDash val="solid"/>
          </a:ln>
        </p:spPr>
      </p:sp>
      <p:sp>
        <p:nvSpPr>
          <p:cNvPr id="9" name="text-371"/>
          <p:cNvSpPr txBox="1"/>
          <p:nvPr/>
        </p:nvSpPr>
        <p:spPr>
          <a:xfrm>
            <a:off x="7909560" y="3108960"/>
            <a:ext cx="3566160" cy="6400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 → 6</a:t>
            </a:r>
            <a:endParaRPr lang="en-US" sz="3600" dirty="0"/>
          </a:p>
        </p:txBody>
      </p:sp>
      <p:sp>
        <p:nvSpPr>
          <p:cNvPr id="10" name="text-372"/>
          <p:cNvSpPr txBox="1"/>
          <p:nvPr/>
        </p:nvSpPr>
        <p:spPr>
          <a:xfrm>
            <a:off x="7909560" y="3749040"/>
            <a:ext cx="3566160" cy="502920"/>
          </a:xfrm>
          <a:prstGeom prst="rect">
            <a:avLst/>
          </a:prstGeom>
          <a:noFill/>
          <a:ln/>
        </p:spPr>
        <p:txBody>
          <a:bodyPr wrap="square" lIns="0" tIns="0" rIns="0" bIns="0" rtlCol="0" anchor="t"/>
          <a:lstStyle/>
          <a:p>
            <a:pPr indent="0" marL="0">
              <a:buNone/>
            </a:pPr>
            <a:r>
              <a:rPr lang="en-US" sz="1400" dirty="0">
                <a:solidFill>
                  <a:schemeClr val="tx2"/>
                </a:solidFill>
              </a:rPr>
              <a:t>replicas within about a minute (the configured maximum)</a:t>
            </a:r>
            <a:endParaRPr lang="en-US" sz="1400" dirty="0"/>
          </a:p>
        </p:txBody>
      </p:sp>
      <p:sp>
        <p:nvSpPr>
          <p:cNvPr id="11" name="card-373"/>
          <p:cNvSpPr/>
          <p:nvPr/>
        </p:nvSpPr>
        <p:spPr>
          <a:xfrm>
            <a:off x="7680960" y="4572000"/>
            <a:ext cx="3959352" cy="1371600"/>
          </a:xfrm>
          <a:prstGeom prst="roundRect">
            <a:avLst>
              <a:gd name="adj" fmla="val 6667"/>
            </a:avLst>
          </a:prstGeom>
          <a:solidFill>
            <a:schemeClr val="bg2"/>
          </a:solidFill>
          <a:ln w="9525">
            <a:solidFill>
              <a:schemeClr val="bg2"/>
            </a:solidFill>
            <a:prstDash val="solid"/>
          </a:ln>
        </p:spPr>
      </p:sp>
      <p:sp>
        <p:nvSpPr>
          <p:cNvPr id="12" name="text-374"/>
          <p:cNvSpPr txBox="1"/>
          <p:nvPr/>
        </p:nvSpPr>
        <p:spPr>
          <a:xfrm>
            <a:off x="7909560" y="4709160"/>
            <a:ext cx="3566160" cy="64008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2 min</a:t>
            </a:r>
            <a:endParaRPr lang="en-US" sz="3600" dirty="0"/>
          </a:p>
        </p:txBody>
      </p:sp>
      <p:sp>
        <p:nvSpPr>
          <p:cNvPr id="13" name="text-375"/>
          <p:cNvSpPr txBox="1"/>
          <p:nvPr/>
        </p:nvSpPr>
        <p:spPr>
          <a:xfrm>
            <a:off x="7909560" y="5349240"/>
            <a:ext cx="3566160" cy="502920"/>
          </a:xfrm>
          <a:prstGeom prst="rect">
            <a:avLst/>
          </a:prstGeom>
          <a:noFill/>
          <a:ln/>
        </p:spPr>
        <p:txBody>
          <a:bodyPr wrap="square" lIns="0" tIns="0" rIns="0" bIns="0" rtlCol="0" anchor="t"/>
          <a:lstStyle/>
          <a:p>
            <a:pPr indent="0" marL="0">
              <a:buNone/>
            </a:pPr>
            <a:r>
              <a:rPr lang="en-US" sz="1400" dirty="0">
                <a:solidFill>
                  <a:schemeClr val="tx2"/>
                </a:solidFill>
              </a:rPr>
              <a:t>scale-down stabilization, then back to 2 replicas</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Monitoring the live system</a:t>
            </a:r>
            <a:endParaRPr lang="en-US" sz="3600" dirty="0"/>
          </a:p>
        </p:txBody>
      </p:sp>
      <p:sp>
        <p:nvSpPr>
          <p:cNvPr id="3" name="shot-frame-376"/>
          <p:cNvSpPr/>
          <p:nvPr/>
        </p:nvSpPr>
        <p:spPr>
          <a:xfrm>
            <a:off x="548640" y="1371600"/>
            <a:ext cx="7168896" cy="4480560"/>
          </a:xfrm>
          <a:prstGeom prst="rect">
            <a:avLst/>
          </a:prstGeom>
          <a:solidFill>
            <a:schemeClr val="bg1"/>
          </a:solidFill>
          <a:ln w="9525">
            <a:solidFill>
              <a:srgbClr val="CBD5E1"/>
            </a:solidFill>
            <a:prstDash val="solid"/>
          </a:ln>
          <a:effectLst>
            <a:outerShdw sx="100000" sy="100000" kx="0" ky="0" algn="bl" rotWithShape="0" blurRad="101600" dist="25400" dir="5400000">
              <a:srgbClr val="0F172A">
                <a:alpha val="12000"/>
              </a:srgbClr>
            </a:outerShdw>
          </a:effectLst>
        </p:spPr>
      </p:sp>
      <p:pic>
        <p:nvPicPr>
          <p:cNvPr id="4" name="screenshot-377" descr="/home/cryo/Code/devops/finalProject/screenshots/35-grafana-taskboard-dashboard.png">    </p:cNvPr>
          <p:cNvPicPr>
            <a:picLocks noChangeAspect="1"/>
          </p:cNvPicPr>
          <p:nvPr/>
        </p:nvPicPr>
        <p:blipFill>
          <a:blip r:embed="rId1"/>
          <a:stretch>
            <a:fillRect/>
          </a:stretch>
        </p:blipFill>
        <p:spPr>
          <a:xfrm>
            <a:off x="548640" y="1371600"/>
            <a:ext cx="7168896" cy="4480560"/>
          </a:xfrm>
          <a:prstGeom prst="rect">
            <a:avLst/>
          </a:prstGeom>
        </p:spPr>
      </p:pic>
      <p:sp>
        <p:nvSpPr>
          <p:cNvPr id="5" name="text-378"/>
          <p:cNvSpPr txBox="1"/>
          <p:nvPr/>
        </p:nvSpPr>
        <p:spPr>
          <a:xfrm>
            <a:off x="548640" y="5925312"/>
            <a:ext cx="7168896" cy="274320"/>
          </a:xfrm>
          <a:prstGeom prst="rect">
            <a:avLst/>
          </a:prstGeom>
          <a:noFill/>
          <a:ln/>
        </p:spPr>
        <p:txBody>
          <a:bodyPr wrap="square" lIns="0" tIns="0" rIns="0" bIns="0" rtlCol="0" anchor="t"/>
          <a:lstStyle/>
          <a:p>
            <a:pPr indent="0" marL="0">
              <a:buNone/>
            </a:pPr>
            <a:r>
              <a:rPr lang="en-US" sz="1100" dirty="0">
                <a:solidFill>
                  <a:schemeClr val="accent6"/>
                </a:solidFill>
              </a:rPr>
              <a:t>Custom TaskBoard dashboard in Grafana, captured during the load test</a:t>
            </a:r>
            <a:endParaRPr lang="en-US" sz="1100" dirty="0"/>
          </a:p>
        </p:txBody>
      </p:sp>
      <p:sp>
        <p:nvSpPr>
          <p:cNvPr id="6" name="card-379"/>
          <p:cNvSpPr/>
          <p:nvPr/>
        </p:nvSpPr>
        <p:spPr>
          <a:xfrm>
            <a:off x="8092440" y="1371600"/>
            <a:ext cx="3547872" cy="987552"/>
          </a:xfrm>
          <a:prstGeom prst="roundRect">
            <a:avLst>
              <a:gd name="adj" fmla="val 9259"/>
            </a:avLst>
          </a:prstGeom>
          <a:solidFill>
            <a:schemeClr val="bg2"/>
          </a:solidFill>
          <a:ln w="9525">
            <a:solidFill>
              <a:schemeClr val="bg2"/>
            </a:solidFill>
            <a:prstDash val="solid"/>
          </a:ln>
        </p:spPr>
      </p:sp>
      <p:sp>
        <p:nvSpPr>
          <p:cNvPr id="7" name="text-380"/>
          <p:cNvSpPr txBox="1"/>
          <p:nvPr/>
        </p:nvSpPr>
        <p:spPr>
          <a:xfrm>
            <a:off x="8275320" y="1463040"/>
            <a:ext cx="3200400"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326</a:t>
            </a:r>
            <a:endParaRPr lang="en-US" sz="2800" dirty="0"/>
          </a:p>
        </p:txBody>
      </p:sp>
      <p:sp>
        <p:nvSpPr>
          <p:cNvPr id="8" name="text-381"/>
          <p:cNvSpPr txBox="1"/>
          <p:nvPr/>
        </p:nvSpPr>
        <p:spPr>
          <a:xfrm>
            <a:off x="8275320" y="1975104"/>
            <a:ext cx="3200400" cy="320040"/>
          </a:xfrm>
          <a:prstGeom prst="rect">
            <a:avLst/>
          </a:prstGeom>
          <a:noFill/>
          <a:ln/>
        </p:spPr>
        <p:txBody>
          <a:bodyPr wrap="square" lIns="0" tIns="0" rIns="0" bIns="0" rtlCol="0" anchor="t"/>
          <a:lstStyle/>
          <a:p>
            <a:pPr indent="0" marL="0">
              <a:buNone/>
            </a:pPr>
            <a:r>
              <a:rPr lang="en-US" sz="1300" dirty="0">
                <a:solidFill>
                  <a:schemeClr val="tx2"/>
                </a:solidFill>
              </a:rPr>
              <a:t>requests per second at peak</a:t>
            </a:r>
            <a:endParaRPr lang="en-US" sz="1300" dirty="0"/>
          </a:p>
        </p:txBody>
      </p:sp>
      <p:sp>
        <p:nvSpPr>
          <p:cNvPr id="9" name="card-382"/>
          <p:cNvSpPr/>
          <p:nvPr/>
        </p:nvSpPr>
        <p:spPr>
          <a:xfrm>
            <a:off x="8092440" y="2505456"/>
            <a:ext cx="3547872" cy="987552"/>
          </a:xfrm>
          <a:prstGeom prst="roundRect">
            <a:avLst>
              <a:gd name="adj" fmla="val 9259"/>
            </a:avLst>
          </a:prstGeom>
          <a:solidFill>
            <a:schemeClr val="bg2"/>
          </a:solidFill>
          <a:ln w="9525">
            <a:solidFill>
              <a:schemeClr val="bg2"/>
            </a:solidFill>
            <a:prstDash val="solid"/>
          </a:ln>
        </p:spPr>
      </p:sp>
      <p:sp>
        <p:nvSpPr>
          <p:cNvPr id="10" name="text-383"/>
          <p:cNvSpPr txBox="1"/>
          <p:nvPr/>
        </p:nvSpPr>
        <p:spPr>
          <a:xfrm>
            <a:off x="8275320" y="2596896"/>
            <a:ext cx="3200400" cy="50292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0.00%</a:t>
            </a:r>
            <a:endParaRPr lang="en-US" sz="2800" dirty="0"/>
          </a:p>
        </p:txBody>
      </p:sp>
      <p:sp>
        <p:nvSpPr>
          <p:cNvPr id="11" name="text-384"/>
          <p:cNvSpPr txBox="1"/>
          <p:nvPr/>
        </p:nvSpPr>
        <p:spPr>
          <a:xfrm>
            <a:off x="8275320" y="3108960"/>
            <a:ext cx="3200400" cy="320040"/>
          </a:xfrm>
          <a:prstGeom prst="rect">
            <a:avLst/>
          </a:prstGeom>
          <a:noFill/>
          <a:ln/>
        </p:spPr>
        <p:txBody>
          <a:bodyPr wrap="square" lIns="0" tIns="0" rIns="0" bIns="0" rtlCol="0" anchor="t"/>
          <a:lstStyle/>
          <a:p>
            <a:pPr indent="0" marL="0">
              <a:buNone/>
            </a:pPr>
            <a:r>
              <a:rPr lang="en-US" sz="1300" dirty="0">
                <a:solidFill>
                  <a:schemeClr val="tx2"/>
                </a:solidFill>
              </a:rPr>
              <a:t>5xx error rate under load</a:t>
            </a:r>
            <a:endParaRPr lang="en-US" sz="1300" dirty="0"/>
          </a:p>
        </p:txBody>
      </p:sp>
      <p:sp>
        <p:nvSpPr>
          <p:cNvPr id="12" name="card-385"/>
          <p:cNvSpPr/>
          <p:nvPr/>
        </p:nvSpPr>
        <p:spPr>
          <a:xfrm>
            <a:off x="8092440" y="3639312"/>
            <a:ext cx="3547872" cy="987552"/>
          </a:xfrm>
          <a:prstGeom prst="roundRect">
            <a:avLst>
              <a:gd name="adj" fmla="val 9259"/>
            </a:avLst>
          </a:prstGeom>
          <a:solidFill>
            <a:schemeClr val="bg2"/>
          </a:solidFill>
          <a:ln w="9525">
            <a:solidFill>
              <a:schemeClr val="bg2"/>
            </a:solidFill>
            <a:prstDash val="solid"/>
          </a:ln>
        </p:spPr>
      </p:sp>
      <p:sp>
        <p:nvSpPr>
          <p:cNvPr id="13" name="text-386"/>
          <p:cNvSpPr txBox="1"/>
          <p:nvPr/>
        </p:nvSpPr>
        <p:spPr>
          <a:xfrm>
            <a:off x="8275320" y="3730752"/>
            <a:ext cx="3200400" cy="502920"/>
          </a:xfrm>
          <a:prstGeom prst="rect">
            <a:avLst/>
          </a:prstGeom>
          <a:noFill/>
          <a:ln/>
        </p:spPr>
        <p:txBody>
          <a:bodyPr wrap="square" lIns="0" tIns="0" rIns="0" bIns="0" rtlCol="0" anchor="ctr"/>
          <a:lstStyle/>
          <a:p>
            <a:pPr indent="0" marL="0">
              <a:buNone/>
            </a:pPr>
            <a:r>
              <a:rPr lang="en-US" sz="2800" b="1" dirty="0">
                <a:solidFill>
                  <a:schemeClr val="accent5"/>
                </a:solidFill>
                <a:latin typeface="Arial" pitchFamily="34" charset="0"/>
                <a:ea typeface="Arial" pitchFamily="34" charset="-122"/>
                <a:cs typeface="Arial" pitchFamily="34" charset="-120"/>
              </a:rPr>
              <a:t>95 ms</a:t>
            </a:r>
            <a:endParaRPr lang="en-US" sz="2800" dirty="0"/>
          </a:p>
        </p:txBody>
      </p:sp>
      <p:sp>
        <p:nvSpPr>
          <p:cNvPr id="14" name="text-387"/>
          <p:cNvSpPr txBox="1"/>
          <p:nvPr/>
        </p:nvSpPr>
        <p:spPr>
          <a:xfrm>
            <a:off x="8275320" y="4242816"/>
            <a:ext cx="3200400" cy="320040"/>
          </a:xfrm>
          <a:prstGeom prst="rect">
            <a:avLst/>
          </a:prstGeom>
          <a:noFill/>
          <a:ln/>
        </p:spPr>
        <p:txBody>
          <a:bodyPr wrap="square" lIns="0" tIns="0" rIns="0" bIns="0" rtlCol="0" anchor="t"/>
          <a:lstStyle/>
          <a:p>
            <a:pPr indent="0" marL="0">
              <a:buNone/>
            </a:pPr>
            <a:r>
              <a:rPr lang="en-US" sz="1300" dirty="0">
                <a:solidFill>
                  <a:schemeClr val="tx2"/>
                </a:solidFill>
              </a:rPr>
              <a:t>p95 latency at peak</a:t>
            </a:r>
            <a:endParaRPr lang="en-US" sz="1300" dirty="0"/>
          </a:p>
        </p:txBody>
      </p:sp>
      <p:sp>
        <p:nvSpPr>
          <p:cNvPr id="15" name="card-388"/>
          <p:cNvSpPr/>
          <p:nvPr/>
        </p:nvSpPr>
        <p:spPr>
          <a:xfrm>
            <a:off x="8092440" y="4773168"/>
            <a:ext cx="3547872" cy="987552"/>
          </a:xfrm>
          <a:prstGeom prst="roundRect">
            <a:avLst>
              <a:gd name="adj" fmla="val 9259"/>
            </a:avLst>
          </a:prstGeom>
          <a:solidFill>
            <a:schemeClr val="bg2"/>
          </a:solidFill>
          <a:ln w="9525">
            <a:solidFill>
              <a:schemeClr val="bg2"/>
            </a:solidFill>
            <a:prstDash val="solid"/>
          </a:ln>
        </p:spPr>
      </p:sp>
      <p:sp>
        <p:nvSpPr>
          <p:cNvPr id="16" name="text-389"/>
          <p:cNvSpPr txBox="1"/>
          <p:nvPr/>
        </p:nvSpPr>
        <p:spPr>
          <a:xfrm>
            <a:off x="8275320" y="4864608"/>
            <a:ext cx="3200400" cy="502920"/>
          </a:xfrm>
          <a:prstGeom prst="rect">
            <a:avLst/>
          </a:prstGeom>
          <a:noFill/>
          <a:ln/>
        </p:spPr>
        <p:txBody>
          <a:bodyPr wrap="square" lIns="0" tIns="0" rIns="0" bIns="0" rtlCol="0" anchor="ctr"/>
          <a:lstStyle/>
          <a:p>
            <a:pPr indent="0" marL="0">
              <a:buNone/>
            </a:pPr>
            <a:r>
              <a:rPr lang="en-US" sz="2800" b="1" dirty="0">
                <a:solidFill>
                  <a:schemeClr val="accent3"/>
                </a:solidFill>
                <a:latin typeface="Arial" pitchFamily="34" charset="0"/>
                <a:ea typeface="Arial" pitchFamily="34" charset="-122"/>
                <a:cs typeface="Arial" pitchFamily="34" charset="-120"/>
              </a:rPr>
              <a:t>6 / 6</a:t>
            </a:r>
            <a:endParaRPr lang="en-US" sz="2800" dirty="0"/>
          </a:p>
        </p:txBody>
      </p:sp>
      <p:sp>
        <p:nvSpPr>
          <p:cNvPr id="17" name="text-390"/>
          <p:cNvSpPr txBox="1"/>
          <p:nvPr/>
        </p:nvSpPr>
        <p:spPr>
          <a:xfrm>
            <a:off x="8275320" y="5376672"/>
            <a:ext cx="3200400" cy="320040"/>
          </a:xfrm>
          <a:prstGeom prst="rect">
            <a:avLst/>
          </a:prstGeom>
          <a:noFill/>
          <a:ln/>
        </p:spPr>
        <p:txBody>
          <a:bodyPr wrap="square" lIns="0" tIns="0" rIns="0" bIns="0" rtlCol="0" anchor="t"/>
          <a:lstStyle/>
          <a:p>
            <a:pPr indent="0" marL="0">
              <a:buNone/>
            </a:pPr>
            <a:r>
              <a:rPr lang="en-US" sz="1300" dirty="0">
                <a:solidFill>
                  <a:schemeClr val="tx2"/>
                </a:solidFill>
              </a:rPr>
              <a:t>backend pods scraped by Prometheus</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Troubleshooting like an operator</a:t>
            </a:r>
            <a:endParaRPr lang="en-US" sz="3600" dirty="0"/>
          </a:p>
        </p:txBody>
      </p:sp>
      <p:sp>
        <p:nvSpPr>
          <p:cNvPr id="3" name="card-391"/>
          <p:cNvSpPr/>
          <p:nvPr/>
        </p:nvSpPr>
        <p:spPr>
          <a:xfrm>
            <a:off x="548640" y="1371600"/>
            <a:ext cx="3514344" cy="4069080"/>
          </a:xfrm>
          <a:prstGeom prst="roundRect">
            <a:avLst>
              <a:gd name="adj" fmla="val 2602"/>
            </a:avLst>
          </a:prstGeom>
          <a:solidFill>
            <a:schemeClr val="bg2"/>
          </a:solidFill>
          <a:ln w="9525">
            <a:solidFill>
              <a:schemeClr val="bg2"/>
            </a:solidFill>
            <a:prstDash val="solid"/>
          </a:ln>
        </p:spPr>
      </p:sp>
      <p:sp>
        <p:nvSpPr>
          <p:cNvPr id="4" name="icon-bg-392"/>
          <p:cNvSpPr/>
          <p:nvPr/>
        </p:nvSpPr>
        <p:spPr>
          <a:xfrm>
            <a:off x="749808" y="1572768"/>
            <a:ext cx="548640" cy="548640"/>
          </a:xfrm>
          <a:prstGeom prst="ellipse">
            <a:avLst/>
          </a:prstGeom>
          <a:solidFill>
            <a:schemeClr val="accent1"/>
          </a:solidFill>
          <a:ln w="12700">
            <a:solidFill>
              <a:schemeClr val="accent1"/>
            </a:solidFill>
            <a:prstDash val="solid"/>
          </a:ln>
        </p:spPr>
      </p:sp>
      <p:pic>
        <p:nvPicPr>
          <p:cNvPr id="5" name="icon-393" descr="preencoded.png">    </p:cNvPr>
          <p:cNvPicPr>
            <a:picLocks noChangeAspect="1"/>
          </p:cNvPicPr>
          <p:nvPr/>
        </p:nvPicPr>
        <p:blipFill>
          <a:blip r:embed="rId1"/>
          <a:stretch>
            <a:fillRect/>
          </a:stretch>
        </p:blipFill>
        <p:spPr>
          <a:xfrm>
            <a:off x="875995" y="1698955"/>
            <a:ext cx="296266" cy="296266"/>
          </a:xfrm>
          <a:prstGeom prst="rect">
            <a:avLst/>
          </a:prstGeom>
        </p:spPr>
      </p:pic>
      <p:sp>
        <p:nvSpPr>
          <p:cNvPr id="6" name="text-394"/>
          <p:cNvSpPr txBox="1"/>
          <p:nvPr/>
        </p:nvSpPr>
        <p:spPr>
          <a:xfrm>
            <a:off x="1417320" y="1554480"/>
            <a:ext cx="2508504" cy="347472"/>
          </a:xfrm>
          <a:prstGeom prst="rect">
            <a:avLst/>
          </a:prstGeom>
          <a:noFill/>
          <a:ln/>
        </p:spPr>
        <p:txBody>
          <a:bodyPr wrap="square" lIns="0" tIns="0" rIns="0" bIns="0" rtlCol="0" anchor="t"/>
          <a:lstStyle/>
          <a:p>
            <a:pPr indent="0" marL="0">
              <a:buNone/>
            </a:pPr>
            <a:r>
              <a:rPr lang="en-US" sz="1700" b="1" dirty="0">
                <a:solidFill>
                  <a:schemeClr val="tx1"/>
                </a:solidFill>
              </a:rPr>
              <a:t>Broken image</a:t>
            </a:r>
            <a:endParaRPr lang="en-US" sz="1700" dirty="0"/>
          </a:p>
        </p:txBody>
      </p:sp>
      <p:sp>
        <p:nvSpPr>
          <p:cNvPr id="7" name="text-395"/>
          <p:cNvSpPr txBox="1"/>
          <p:nvPr/>
        </p:nvSpPr>
        <p:spPr>
          <a:xfrm>
            <a:off x="1417320" y="1892808"/>
            <a:ext cx="2508504" cy="256032"/>
          </a:xfrm>
          <a:prstGeom prst="rect">
            <a:avLst/>
          </a:prstGeom>
          <a:noFill/>
          <a:ln/>
        </p:spPr>
        <p:txBody>
          <a:bodyPr wrap="square" lIns="0" tIns="0" rIns="0" bIns="0" rtlCol="0" anchor="t"/>
          <a:lstStyle/>
          <a:p>
            <a:pPr indent="0" marL="0">
              <a:buNone/>
            </a:pPr>
            <a:r>
              <a:rPr lang="en-US" sz="1200" b="1" dirty="0">
                <a:solidFill>
                  <a:schemeClr val="accent1"/>
                </a:solidFill>
              </a:rPr>
              <a:t>Planned lab</a:t>
            </a:r>
            <a:endParaRPr lang="en-US" sz="1200" dirty="0"/>
          </a:p>
        </p:txBody>
      </p:sp>
      <p:sp>
        <p:nvSpPr>
          <p:cNvPr id="8" name="text-396"/>
          <p:cNvSpPr txBox="1"/>
          <p:nvPr/>
        </p:nvSpPr>
        <p:spPr>
          <a:xfrm>
            <a:off x="777240" y="2331720"/>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SYMPTOM</a:t>
            </a:r>
            <a:endParaRPr lang="en-US" sz="1000" dirty="0"/>
          </a:p>
        </p:txBody>
      </p:sp>
      <p:sp>
        <p:nvSpPr>
          <p:cNvPr id="9" name="text-397"/>
          <p:cNvSpPr txBox="1"/>
          <p:nvPr/>
        </p:nvSpPr>
        <p:spPr>
          <a:xfrm>
            <a:off x="777240" y="2569464"/>
            <a:ext cx="3102864" cy="457200"/>
          </a:xfrm>
          <a:prstGeom prst="rect">
            <a:avLst/>
          </a:prstGeom>
          <a:noFill/>
          <a:ln/>
        </p:spPr>
        <p:txBody>
          <a:bodyPr wrap="square" lIns="0" tIns="0" rIns="0" bIns="0" rtlCol="0" anchor="t"/>
          <a:lstStyle/>
          <a:p>
            <a:pPr indent="0" marL="0">
              <a:buNone/>
            </a:pPr>
            <a:r>
              <a:rPr lang="en-US" sz="1400" dirty="0">
                <a:solidFill>
                  <a:schemeClr val="tx1"/>
                </a:solidFill>
              </a:rPr>
              <a:t>Pod stuck in ImagePullBackOff</a:t>
            </a:r>
            <a:endParaRPr lang="en-US" sz="1400" dirty="0"/>
          </a:p>
        </p:txBody>
      </p:sp>
      <p:sp>
        <p:nvSpPr>
          <p:cNvPr id="10" name="text-398"/>
          <p:cNvSpPr txBox="1"/>
          <p:nvPr/>
        </p:nvSpPr>
        <p:spPr>
          <a:xfrm>
            <a:off x="777240" y="3099816"/>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INVESTIGATE</a:t>
            </a:r>
            <a:endParaRPr lang="en-US" sz="1000" dirty="0"/>
          </a:p>
        </p:txBody>
      </p:sp>
      <p:sp>
        <p:nvSpPr>
          <p:cNvPr id="11" name="text-399"/>
          <p:cNvSpPr txBox="1"/>
          <p:nvPr/>
        </p:nvSpPr>
        <p:spPr>
          <a:xfrm>
            <a:off x="777240" y="3337560"/>
            <a:ext cx="3102864" cy="457200"/>
          </a:xfrm>
          <a:prstGeom prst="rect">
            <a:avLst/>
          </a:prstGeom>
          <a:noFill/>
          <a:ln/>
        </p:spPr>
        <p:txBody>
          <a:bodyPr wrap="square" lIns="0" tIns="0" rIns="0" bIns="0" rtlCol="0" anchor="t"/>
          <a:lstStyle/>
          <a:p>
            <a:pPr indent="0" marL="0">
              <a:buNone/>
            </a:pPr>
            <a:r>
              <a:rPr lang="en-US" sz="1400" dirty="0">
                <a:solidFill>
                  <a:schemeClr val="tx1"/>
                </a:solidFill>
              </a:rPr>
              <a:t>describe pod: tag not found</a:t>
            </a:r>
            <a:endParaRPr lang="en-US" sz="1400" dirty="0"/>
          </a:p>
        </p:txBody>
      </p:sp>
      <p:sp>
        <p:nvSpPr>
          <p:cNvPr id="12" name="text-400"/>
          <p:cNvSpPr txBox="1"/>
          <p:nvPr/>
        </p:nvSpPr>
        <p:spPr>
          <a:xfrm>
            <a:off x="777240" y="3867912"/>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ROOT CAUSE</a:t>
            </a:r>
            <a:endParaRPr lang="en-US" sz="1000" dirty="0"/>
          </a:p>
        </p:txBody>
      </p:sp>
      <p:sp>
        <p:nvSpPr>
          <p:cNvPr id="13" name="text-401"/>
          <p:cNvSpPr txBox="1"/>
          <p:nvPr/>
        </p:nvSpPr>
        <p:spPr>
          <a:xfrm>
            <a:off x="777240" y="4105656"/>
            <a:ext cx="3102864" cy="457200"/>
          </a:xfrm>
          <a:prstGeom prst="rect">
            <a:avLst/>
          </a:prstGeom>
          <a:noFill/>
          <a:ln/>
        </p:spPr>
        <p:txBody>
          <a:bodyPr wrap="square" lIns="0" tIns="0" rIns="0" bIns="0" rtlCol="0" anchor="t"/>
          <a:lstStyle/>
          <a:p>
            <a:pPr indent="0" marL="0">
              <a:buNone/>
            </a:pPr>
            <a:r>
              <a:rPr lang="en-US" sz="1400" dirty="0">
                <a:solidFill>
                  <a:schemeClr val="tx1"/>
                </a:solidFill>
              </a:rPr>
              <a:t>Tag v9.9.9 does not exist</a:t>
            </a:r>
            <a:endParaRPr lang="en-US" sz="1400" dirty="0"/>
          </a:p>
        </p:txBody>
      </p:sp>
      <p:sp>
        <p:nvSpPr>
          <p:cNvPr id="14" name="text-402"/>
          <p:cNvSpPr txBox="1"/>
          <p:nvPr/>
        </p:nvSpPr>
        <p:spPr>
          <a:xfrm>
            <a:off x="777240" y="4636008"/>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FIX</a:t>
            </a:r>
            <a:endParaRPr lang="en-US" sz="1000" dirty="0"/>
          </a:p>
        </p:txBody>
      </p:sp>
      <p:sp>
        <p:nvSpPr>
          <p:cNvPr id="15" name="text-403"/>
          <p:cNvSpPr txBox="1"/>
          <p:nvPr/>
        </p:nvSpPr>
        <p:spPr>
          <a:xfrm>
            <a:off x="777240" y="4873752"/>
            <a:ext cx="3102864" cy="457200"/>
          </a:xfrm>
          <a:prstGeom prst="rect">
            <a:avLst/>
          </a:prstGeom>
          <a:noFill/>
          <a:ln/>
        </p:spPr>
        <p:txBody>
          <a:bodyPr wrap="square" lIns="0" tIns="0" rIns="0" bIns="0" rtlCol="0" anchor="t"/>
          <a:lstStyle/>
          <a:p>
            <a:pPr indent="0" marL="0">
              <a:buNone/>
            </a:pPr>
            <a:r>
              <a:rPr lang="en-US" sz="1400" dirty="0">
                <a:solidFill>
                  <a:schemeClr val="tx1"/>
                </a:solidFill>
              </a:rPr>
              <a:t>kubectl set image to a real tag</a:t>
            </a:r>
            <a:endParaRPr lang="en-US" sz="1400" dirty="0"/>
          </a:p>
        </p:txBody>
      </p:sp>
      <p:sp>
        <p:nvSpPr>
          <p:cNvPr id="16" name="card-404"/>
          <p:cNvSpPr/>
          <p:nvPr/>
        </p:nvSpPr>
        <p:spPr>
          <a:xfrm>
            <a:off x="4337304" y="1371600"/>
            <a:ext cx="3514344" cy="4069080"/>
          </a:xfrm>
          <a:prstGeom prst="roundRect">
            <a:avLst>
              <a:gd name="adj" fmla="val 2602"/>
            </a:avLst>
          </a:prstGeom>
          <a:solidFill>
            <a:schemeClr val="bg2"/>
          </a:solidFill>
          <a:ln w="9525">
            <a:solidFill>
              <a:schemeClr val="bg2"/>
            </a:solidFill>
            <a:prstDash val="solid"/>
          </a:ln>
        </p:spPr>
      </p:sp>
      <p:sp>
        <p:nvSpPr>
          <p:cNvPr id="17" name="icon-bg-405"/>
          <p:cNvSpPr/>
          <p:nvPr/>
        </p:nvSpPr>
        <p:spPr>
          <a:xfrm>
            <a:off x="4538472" y="1572768"/>
            <a:ext cx="548640" cy="548640"/>
          </a:xfrm>
          <a:prstGeom prst="ellipse">
            <a:avLst/>
          </a:prstGeom>
          <a:solidFill>
            <a:schemeClr val="accent1"/>
          </a:solidFill>
          <a:ln w="12700">
            <a:solidFill>
              <a:schemeClr val="accent1"/>
            </a:solidFill>
            <a:prstDash val="solid"/>
          </a:ln>
        </p:spPr>
      </p:sp>
      <p:pic>
        <p:nvPicPr>
          <p:cNvPr id="18" name="icon-406" descr="preencoded.png">    </p:cNvPr>
          <p:cNvPicPr>
            <a:picLocks noChangeAspect="1"/>
          </p:cNvPicPr>
          <p:nvPr/>
        </p:nvPicPr>
        <p:blipFill>
          <a:blip r:embed="rId2"/>
          <a:stretch>
            <a:fillRect/>
          </a:stretch>
        </p:blipFill>
        <p:spPr>
          <a:xfrm>
            <a:off x="4664659" y="1698955"/>
            <a:ext cx="296266" cy="296266"/>
          </a:xfrm>
          <a:prstGeom prst="rect">
            <a:avLst/>
          </a:prstGeom>
        </p:spPr>
      </p:pic>
      <p:sp>
        <p:nvSpPr>
          <p:cNvPr id="19" name="text-407"/>
          <p:cNvSpPr txBox="1"/>
          <p:nvPr/>
        </p:nvSpPr>
        <p:spPr>
          <a:xfrm>
            <a:off x="5205984" y="1554480"/>
            <a:ext cx="2508504" cy="347472"/>
          </a:xfrm>
          <a:prstGeom prst="rect">
            <a:avLst/>
          </a:prstGeom>
          <a:noFill/>
          <a:ln/>
        </p:spPr>
        <p:txBody>
          <a:bodyPr wrap="square" lIns="0" tIns="0" rIns="0" bIns="0" rtlCol="0" anchor="t"/>
          <a:lstStyle/>
          <a:p>
            <a:pPr indent="0" marL="0">
              <a:buNone/>
            </a:pPr>
            <a:r>
              <a:rPr lang="en-US" sz="1700" b="1" dirty="0">
                <a:solidFill>
                  <a:schemeClr val="tx1"/>
                </a:solidFill>
              </a:rPr>
              <a:t>Broken Service</a:t>
            </a:r>
            <a:endParaRPr lang="en-US" sz="1700" dirty="0"/>
          </a:p>
        </p:txBody>
      </p:sp>
      <p:sp>
        <p:nvSpPr>
          <p:cNvPr id="20" name="text-408"/>
          <p:cNvSpPr txBox="1"/>
          <p:nvPr/>
        </p:nvSpPr>
        <p:spPr>
          <a:xfrm>
            <a:off x="5205984" y="1892808"/>
            <a:ext cx="2508504" cy="256032"/>
          </a:xfrm>
          <a:prstGeom prst="rect">
            <a:avLst/>
          </a:prstGeom>
          <a:noFill/>
          <a:ln/>
        </p:spPr>
        <p:txBody>
          <a:bodyPr wrap="square" lIns="0" tIns="0" rIns="0" bIns="0" rtlCol="0" anchor="t"/>
          <a:lstStyle/>
          <a:p>
            <a:pPr indent="0" marL="0">
              <a:buNone/>
            </a:pPr>
            <a:r>
              <a:rPr lang="en-US" sz="1200" b="1" dirty="0">
                <a:solidFill>
                  <a:schemeClr val="accent1"/>
                </a:solidFill>
              </a:rPr>
              <a:t>Planned lab</a:t>
            </a:r>
            <a:endParaRPr lang="en-US" sz="1200" dirty="0"/>
          </a:p>
        </p:txBody>
      </p:sp>
      <p:sp>
        <p:nvSpPr>
          <p:cNvPr id="21" name="text-409"/>
          <p:cNvSpPr txBox="1"/>
          <p:nvPr/>
        </p:nvSpPr>
        <p:spPr>
          <a:xfrm>
            <a:off x="4565904" y="2331720"/>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SYMPTOM</a:t>
            </a:r>
            <a:endParaRPr lang="en-US" sz="1000" dirty="0"/>
          </a:p>
        </p:txBody>
      </p:sp>
      <p:sp>
        <p:nvSpPr>
          <p:cNvPr id="22" name="text-410"/>
          <p:cNvSpPr txBox="1"/>
          <p:nvPr/>
        </p:nvSpPr>
        <p:spPr>
          <a:xfrm>
            <a:off x="4565904" y="2569464"/>
            <a:ext cx="3102864" cy="457200"/>
          </a:xfrm>
          <a:prstGeom prst="rect">
            <a:avLst/>
          </a:prstGeom>
          <a:noFill/>
          <a:ln/>
        </p:spPr>
        <p:txBody>
          <a:bodyPr wrap="square" lIns="0" tIns="0" rIns="0" bIns="0" rtlCol="0" anchor="t"/>
          <a:lstStyle/>
          <a:p>
            <a:pPr indent="0" marL="0">
              <a:buNone/>
            </a:pPr>
            <a:r>
              <a:rPr lang="en-US" sz="1400" dirty="0">
                <a:solidFill>
                  <a:schemeClr val="tx1"/>
                </a:solidFill>
              </a:rPr>
              <a:t>ENDPOINTS &lt;none&gt;, no traffic</a:t>
            </a:r>
            <a:endParaRPr lang="en-US" sz="1400" dirty="0"/>
          </a:p>
        </p:txBody>
      </p:sp>
      <p:sp>
        <p:nvSpPr>
          <p:cNvPr id="23" name="text-411"/>
          <p:cNvSpPr txBox="1"/>
          <p:nvPr/>
        </p:nvSpPr>
        <p:spPr>
          <a:xfrm>
            <a:off x="4565904" y="3099816"/>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INVESTIGATE</a:t>
            </a:r>
            <a:endParaRPr lang="en-US" sz="1000" dirty="0"/>
          </a:p>
        </p:txBody>
      </p:sp>
      <p:sp>
        <p:nvSpPr>
          <p:cNvPr id="24" name="text-412"/>
          <p:cNvSpPr txBox="1"/>
          <p:nvPr/>
        </p:nvSpPr>
        <p:spPr>
          <a:xfrm>
            <a:off x="4565904" y="3337560"/>
            <a:ext cx="3102864" cy="457200"/>
          </a:xfrm>
          <a:prstGeom prst="rect">
            <a:avLst/>
          </a:prstGeom>
          <a:noFill/>
          <a:ln/>
        </p:spPr>
        <p:txBody>
          <a:bodyPr wrap="square" lIns="0" tIns="0" rIns="0" bIns="0" rtlCol="0" anchor="t"/>
          <a:lstStyle/>
          <a:p>
            <a:pPr indent="0" marL="0">
              <a:buNone/>
            </a:pPr>
            <a:r>
              <a:rPr lang="en-US" sz="1400" dirty="0">
                <a:solidFill>
                  <a:schemeClr val="tx1"/>
                </a:solidFill>
              </a:rPr>
              <a:t>Compare selector with pod labels</a:t>
            </a:r>
            <a:endParaRPr lang="en-US" sz="1400" dirty="0"/>
          </a:p>
        </p:txBody>
      </p:sp>
      <p:sp>
        <p:nvSpPr>
          <p:cNvPr id="25" name="text-413"/>
          <p:cNvSpPr txBox="1"/>
          <p:nvPr/>
        </p:nvSpPr>
        <p:spPr>
          <a:xfrm>
            <a:off x="4565904" y="3867912"/>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ROOT CAUSE</a:t>
            </a:r>
            <a:endParaRPr lang="en-US" sz="1000" dirty="0"/>
          </a:p>
        </p:txBody>
      </p:sp>
      <p:sp>
        <p:nvSpPr>
          <p:cNvPr id="26" name="text-414"/>
          <p:cNvSpPr txBox="1"/>
          <p:nvPr/>
        </p:nvSpPr>
        <p:spPr>
          <a:xfrm>
            <a:off x="4565904" y="4105656"/>
            <a:ext cx="3102864" cy="457200"/>
          </a:xfrm>
          <a:prstGeom prst="rect">
            <a:avLst/>
          </a:prstGeom>
          <a:noFill/>
          <a:ln/>
        </p:spPr>
        <p:txBody>
          <a:bodyPr wrap="square" lIns="0" tIns="0" rIns="0" bIns="0" rtlCol="0" anchor="t"/>
          <a:lstStyle/>
          <a:p>
            <a:pPr indent="0" marL="0">
              <a:buNone/>
            </a:pPr>
            <a:r>
              <a:rPr lang="en-US" sz="1400" dirty="0">
                <a:solidFill>
                  <a:schemeClr val="tx1"/>
                </a:solidFill>
              </a:rPr>
              <a:t>Selector says taskboard-api</a:t>
            </a:r>
            <a:endParaRPr lang="en-US" sz="1400" dirty="0"/>
          </a:p>
        </p:txBody>
      </p:sp>
      <p:sp>
        <p:nvSpPr>
          <p:cNvPr id="27" name="text-415"/>
          <p:cNvSpPr txBox="1"/>
          <p:nvPr/>
        </p:nvSpPr>
        <p:spPr>
          <a:xfrm>
            <a:off x="4565904" y="4636008"/>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FIX</a:t>
            </a:r>
            <a:endParaRPr lang="en-US" sz="1000" dirty="0"/>
          </a:p>
        </p:txBody>
      </p:sp>
      <p:sp>
        <p:nvSpPr>
          <p:cNvPr id="28" name="text-416"/>
          <p:cNvSpPr txBox="1"/>
          <p:nvPr/>
        </p:nvSpPr>
        <p:spPr>
          <a:xfrm>
            <a:off x="4565904" y="4873752"/>
            <a:ext cx="3102864" cy="457200"/>
          </a:xfrm>
          <a:prstGeom prst="rect">
            <a:avLst/>
          </a:prstGeom>
          <a:noFill/>
          <a:ln/>
        </p:spPr>
        <p:txBody>
          <a:bodyPr wrap="square" lIns="0" tIns="0" rIns="0" bIns="0" rtlCol="0" anchor="t"/>
          <a:lstStyle/>
          <a:p>
            <a:pPr indent="0" marL="0">
              <a:buNone/>
            </a:pPr>
            <a:r>
              <a:rPr lang="en-US" sz="1400" dirty="0">
                <a:solidFill>
                  <a:schemeClr val="tx1"/>
                </a:solidFill>
              </a:rPr>
              <a:t>Patch selector to taskboard-backend</a:t>
            </a:r>
            <a:endParaRPr lang="en-US" sz="1400" dirty="0"/>
          </a:p>
        </p:txBody>
      </p:sp>
      <p:sp>
        <p:nvSpPr>
          <p:cNvPr id="29" name="box-417"/>
          <p:cNvSpPr/>
          <p:nvPr/>
        </p:nvSpPr>
        <p:spPr>
          <a:xfrm>
            <a:off x="8125968" y="1371600"/>
            <a:ext cx="3514344" cy="4069080"/>
          </a:xfrm>
          <a:prstGeom prst="roundRect">
            <a:avLst>
              <a:gd name="adj" fmla="val 2082"/>
            </a:avLst>
          </a:prstGeom>
          <a:solidFill>
            <a:schemeClr val="bg2"/>
          </a:solidFill>
          <a:ln w="12700">
            <a:solidFill>
              <a:schemeClr val="accent4"/>
            </a:solidFill>
            <a:prstDash val="solid"/>
          </a:ln>
          <a:effectLst>
            <a:outerShdw sx="100000" sy="100000" kx="0" ky="0" algn="bl" rotWithShape="0" blurRad="101600" dist="25400" dir="5400000">
              <a:srgbClr val="0F172A">
                <a:alpha val="12000"/>
              </a:srgbClr>
            </a:outerShdw>
          </a:effectLst>
        </p:spPr>
      </p:sp>
      <p:sp>
        <p:nvSpPr>
          <p:cNvPr id="30" name="icon-bg-418"/>
          <p:cNvSpPr/>
          <p:nvPr/>
        </p:nvSpPr>
        <p:spPr>
          <a:xfrm>
            <a:off x="8327136" y="1572768"/>
            <a:ext cx="548640" cy="548640"/>
          </a:xfrm>
          <a:prstGeom prst="ellipse">
            <a:avLst/>
          </a:prstGeom>
          <a:solidFill>
            <a:schemeClr val="accent4"/>
          </a:solidFill>
          <a:ln w="12700">
            <a:solidFill>
              <a:schemeClr val="accent4"/>
            </a:solidFill>
            <a:prstDash val="solid"/>
          </a:ln>
        </p:spPr>
      </p:sp>
      <p:pic>
        <p:nvPicPr>
          <p:cNvPr id="31" name="icon-419" descr="preencoded.png">    </p:cNvPr>
          <p:cNvPicPr>
            <a:picLocks noChangeAspect="1"/>
          </p:cNvPicPr>
          <p:nvPr/>
        </p:nvPicPr>
        <p:blipFill>
          <a:blip r:embed="rId3"/>
          <a:stretch>
            <a:fillRect/>
          </a:stretch>
        </p:blipFill>
        <p:spPr>
          <a:xfrm>
            <a:off x="8453323" y="1698955"/>
            <a:ext cx="296266" cy="296266"/>
          </a:xfrm>
          <a:prstGeom prst="rect">
            <a:avLst/>
          </a:prstGeom>
        </p:spPr>
      </p:pic>
      <p:sp>
        <p:nvSpPr>
          <p:cNvPr id="32" name="text-420"/>
          <p:cNvSpPr txBox="1"/>
          <p:nvPr/>
        </p:nvSpPr>
        <p:spPr>
          <a:xfrm>
            <a:off x="8994648" y="1554480"/>
            <a:ext cx="2508504" cy="347472"/>
          </a:xfrm>
          <a:prstGeom prst="rect">
            <a:avLst/>
          </a:prstGeom>
          <a:noFill/>
          <a:ln/>
        </p:spPr>
        <p:txBody>
          <a:bodyPr wrap="square" lIns="0" tIns="0" rIns="0" bIns="0" rtlCol="0" anchor="t"/>
          <a:lstStyle/>
          <a:p>
            <a:pPr indent="0" marL="0">
              <a:buNone/>
            </a:pPr>
            <a:r>
              <a:rPr lang="en-US" sz="1700" b="1" dirty="0">
                <a:solidFill>
                  <a:schemeClr val="tx1"/>
                </a:solidFill>
              </a:rPr>
              <a:t>HPA shows &lt;unknown&gt;</a:t>
            </a:r>
            <a:endParaRPr lang="en-US" sz="1700" dirty="0"/>
          </a:p>
        </p:txBody>
      </p:sp>
      <p:sp>
        <p:nvSpPr>
          <p:cNvPr id="33" name="text-421"/>
          <p:cNvSpPr txBox="1"/>
          <p:nvPr/>
        </p:nvSpPr>
        <p:spPr>
          <a:xfrm>
            <a:off x="8994648" y="1892808"/>
            <a:ext cx="2508504" cy="256032"/>
          </a:xfrm>
          <a:prstGeom prst="rect">
            <a:avLst/>
          </a:prstGeom>
          <a:noFill/>
          <a:ln/>
        </p:spPr>
        <p:txBody>
          <a:bodyPr wrap="square" lIns="0" tIns="0" rIns="0" bIns="0" rtlCol="0" anchor="t"/>
          <a:lstStyle/>
          <a:p>
            <a:pPr indent="0" marL="0">
              <a:buNone/>
            </a:pPr>
            <a:r>
              <a:rPr lang="en-US" sz="1200" b="1" dirty="0">
                <a:solidFill>
                  <a:schemeClr val="accent4"/>
                </a:solidFill>
              </a:rPr>
              <a:t>Found live on EKS</a:t>
            </a:r>
            <a:endParaRPr lang="en-US" sz="1200" dirty="0"/>
          </a:p>
        </p:txBody>
      </p:sp>
      <p:sp>
        <p:nvSpPr>
          <p:cNvPr id="34" name="text-422"/>
          <p:cNvSpPr txBox="1"/>
          <p:nvPr/>
        </p:nvSpPr>
        <p:spPr>
          <a:xfrm>
            <a:off x="8354568" y="2331720"/>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SYMPTOM</a:t>
            </a:r>
            <a:endParaRPr lang="en-US" sz="1000" dirty="0"/>
          </a:p>
        </p:txBody>
      </p:sp>
      <p:sp>
        <p:nvSpPr>
          <p:cNvPr id="35" name="text-423"/>
          <p:cNvSpPr txBox="1"/>
          <p:nvPr/>
        </p:nvSpPr>
        <p:spPr>
          <a:xfrm>
            <a:off x="8354568" y="2569464"/>
            <a:ext cx="3102864" cy="457200"/>
          </a:xfrm>
          <a:prstGeom prst="rect">
            <a:avLst/>
          </a:prstGeom>
          <a:noFill/>
          <a:ln/>
        </p:spPr>
        <p:txBody>
          <a:bodyPr wrap="square" lIns="0" tIns="0" rIns="0" bIns="0" rtlCol="0" anchor="t"/>
          <a:lstStyle/>
          <a:p>
            <a:pPr indent="0" marL="0">
              <a:buNone/>
            </a:pPr>
            <a:r>
              <a:rPr lang="en-US" sz="1400" dirty="0">
                <a:solidFill>
                  <a:schemeClr val="tx1"/>
                </a:solidFill>
              </a:rPr>
              <a:t>TARGETS cpu: &lt;unknown&gt;/50%</a:t>
            </a:r>
            <a:endParaRPr lang="en-US" sz="1400" dirty="0"/>
          </a:p>
        </p:txBody>
      </p:sp>
      <p:sp>
        <p:nvSpPr>
          <p:cNvPr id="36" name="text-424"/>
          <p:cNvSpPr txBox="1"/>
          <p:nvPr/>
        </p:nvSpPr>
        <p:spPr>
          <a:xfrm>
            <a:off x="8354568" y="3099816"/>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INVESTIGATE</a:t>
            </a:r>
            <a:endParaRPr lang="en-US" sz="1000" dirty="0"/>
          </a:p>
        </p:txBody>
      </p:sp>
      <p:sp>
        <p:nvSpPr>
          <p:cNvPr id="37" name="text-425"/>
          <p:cNvSpPr txBox="1"/>
          <p:nvPr/>
        </p:nvSpPr>
        <p:spPr>
          <a:xfrm>
            <a:off x="8354568" y="3337560"/>
            <a:ext cx="3102864" cy="457200"/>
          </a:xfrm>
          <a:prstGeom prst="rect">
            <a:avLst/>
          </a:prstGeom>
          <a:noFill/>
          <a:ln/>
        </p:spPr>
        <p:txBody>
          <a:bodyPr wrap="square" lIns="0" tIns="0" rIns="0" bIns="0" rtlCol="0" anchor="t"/>
          <a:lstStyle/>
          <a:p>
            <a:pPr indent="0" marL="0">
              <a:buNone/>
            </a:pPr>
            <a:r>
              <a:rPr lang="en-US" sz="1400" dirty="0">
                <a:solidFill>
                  <a:schemeClr val="tx1"/>
                </a:solidFill>
              </a:rPr>
              <a:t>apiservice: FailedDiscoveryCheck</a:t>
            </a:r>
            <a:endParaRPr lang="en-US" sz="1400" dirty="0"/>
          </a:p>
        </p:txBody>
      </p:sp>
      <p:sp>
        <p:nvSpPr>
          <p:cNvPr id="38" name="text-426"/>
          <p:cNvSpPr txBox="1"/>
          <p:nvPr/>
        </p:nvSpPr>
        <p:spPr>
          <a:xfrm>
            <a:off x="8354568" y="3867912"/>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ROOT CAUSE</a:t>
            </a:r>
            <a:endParaRPr lang="en-US" sz="1000" dirty="0"/>
          </a:p>
        </p:txBody>
      </p:sp>
      <p:sp>
        <p:nvSpPr>
          <p:cNvPr id="39" name="text-427"/>
          <p:cNvSpPr txBox="1"/>
          <p:nvPr/>
        </p:nvSpPr>
        <p:spPr>
          <a:xfrm>
            <a:off x="8354568" y="4105656"/>
            <a:ext cx="3102864" cy="457200"/>
          </a:xfrm>
          <a:prstGeom prst="rect">
            <a:avLst/>
          </a:prstGeom>
          <a:noFill/>
          <a:ln/>
        </p:spPr>
        <p:txBody>
          <a:bodyPr wrap="square" lIns="0" tIns="0" rIns="0" bIns="0" rtlCol="0" anchor="t"/>
          <a:lstStyle/>
          <a:p>
            <a:pPr indent="0" marL="0">
              <a:buNone/>
            </a:pPr>
            <a:r>
              <a:rPr lang="en-US" sz="1400" dirty="0">
                <a:solidFill>
                  <a:schemeClr val="tx1"/>
                </a:solidFill>
              </a:rPr>
              <a:t>Port 10251 blocked by node SG</a:t>
            </a:r>
            <a:endParaRPr lang="en-US" sz="1400" dirty="0"/>
          </a:p>
        </p:txBody>
      </p:sp>
      <p:sp>
        <p:nvSpPr>
          <p:cNvPr id="40" name="text-428"/>
          <p:cNvSpPr txBox="1"/>
          <p:nvPr/>
        </p:nvSpPr>
        <p:spPr>
          <a:xfrm>
            <a:off x="8354568" y="4636008"/>
            <a:ext cx="3057144"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FIX</a:t>
            </a:r>
            <a:endParaRPr lang="en-US" sz="1000" dirty="0"/>
          </a:p>
        </p:txBody>
      </p:sp>
      <p:sp>
        <p:nvSpPr>
          <p:cNvPr id="41" name="text-429"/>
          <p:cNvSpPr txBox="1"/>
          <p:nvPr/>
        </p:nvSpPr>
        <p:spPr>
          <a:xfrm>
            <a:off x="8354568" y="4873752"/>
            <a:ext cx="3102864" cy="457200"/>
          </a:xfrm>
          <a:prstGeom prst="rect">
            <a:avLst/>
          </a:prstGeom>
          <a:noFill/>
          <a:ln/>
        </p:spPr>
        <p:txBody>
          <a:bodyPr wrap="square" lIns="0" tIns="0" rIns="0" bIns="0" rtlCol="0" anchor="t"/>
          <a:lstStyle/>
          <a:p>
            <a:pPr indent="0" marL="0">
              <a:buNone/>
            </a:pPr>
            <a:r>
              <a:rPr lang="en-US" sz="1400" dirty="0">
                <a:solidFill>
                  <a:schemeClr val="tx1"/>
                </a:solidFill>
              </a:rPr>
              <a:t>One SG rule in Terraform</a:t>
            </a:r>
            <a:endParaRPr lang="en-US" sz="1400" dirty="0"/>
          </a:p>
        </p:txBody>
      </p:sp>
      <p:sp>
        <p:nvSpPr>
          <p:cNvPr id="42" name="card-430"/>
          <p:cNvSpPr/>
          <p:nvPr/>
        </p:nvSpPr>
        <p:spPr>
          <a:xfrm>
            <a:off x="548640" y="5577840"/>
            <a:ext cx="11091672" cy="566928"/>
          </a:xfrm>
          <a:prstGeom prst="roundRect">
            <a:avLst>
              <a:gd name="adj" fmla="val 16129"/>
            </a:avLst>
          </a:prstGeom>
          <a:solidFill>
            <a:schemeClr val="tx1"/>
          </a:solidFill>
          <a:ln w="9525">
            <a:solidFill>
              <a:schemeClr val="tx1"/>
            </a:solidFill>
            <a:prstDash val="solid"/>
          </a:ln>
        </p:spPr>
      </p:sp>
      <p:sp>
        <p:nvSpPr>
          <p:cNvPr id="43" name="text-431"/>
          <p:cNvSpPr txBox="1"/>
          <p:nvPr/>
        </p:nvSpPr>
        <p:spPr>
          <a:xfrm>
            <a:off x="777240" y="5577840"/>
            <a:ext cx="10698480" cy="566928"/>
          </a:xfrm>
          <a:prstGeom prst="rect">
            <a:avLst/>
          </a:prstGeom>
          <a:noFill/>
          <a:ln/>
        </p:spPr>
        <p:txBody>
          <a:bodyPr wrap="square" lIns="0" tIns="0" rIns="0" bIns="0" rtlCol="0" anchor="ctr"/>
          <a:lstStyle/>
          <a:p>
            <a:pPr indent="0" marL="0">
              <a:buNone/>
            </a:pPr>
            <a:r>
              <a:rPr lang="en-US" sz="1500" b="1" dirty="0">
                <a:solidFill>
                  <a:schemeClr val="bg1"/>
                </a:solidFill>
              </a:rPr>
              <a:t>Method:  </a:t>
            </a:r>
            <a:pPr indent="0" marL="0">
              <a:buNone/>
            </a:pPr>
            <a:r>
              <a:rPr lang="en-US" sz="1500" dirty="0">
                <a:solidFill>
                  <a:schemeClr val="bg2"/>
                </a:solidFill>
              </a:rPr>
              <a:t>symptom  →  describe and read events  →  compare desired vs actual  →  fix it in code</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Toward production</a:t>
            </a:r>
            <a:endParaRPr lang="en-US" sz="3600" dirty="0"/>
          </a:p>
        </p:txBody>
      </p:sp>
      <p:sp>
        <p:nvSpPr>
          <p:cNvPr id="3" name="text-432"/>
          <p:cNvSpPr txBox="1"/>
          <p:nvPr/>
        </p:nvSpPr>
        <p:spPr>
          <a:xfrm>
            <a:off x="548640" y="1371600"/>
            <a:ext cx="6400800" cy="411480"/>
          </a:xfrm>
          <a:prstGeom prst="rect">
            <a:avLst/>
          </a:prstGeom>
          <a:noFill/>
          <a:ln/>
        </p:spPr>
        <p:txBody>
          <a:bodyPr wrap="square" lIns="0" tIns="0" rIns="0" bIns="0" rtlCol="0" anchor="t"/>
          <a:lstStyle/>
          <a:p>
            <a:pPr indent="0" marL="0">
              <a:buNone/>
            </a:pPr>
            <a:r>
              <a:rPr lang="en-US" sz="2000" b="1" dirty="0">
                <a:solidFill>
                  <a:schemeClr val="tx1"/>
                </a:solidFill>
              </a:rPr>
              <a:t>What I would change</a:t>
            </a:r>
            <a:endParaRPr lang="en-US" sz="2000" dirty="0"/>
          </a:p>
        </p:txBody>
      </p:sp>
      <p:sp>
        <p:nvSpPr>
          <p:cNvPr id="4" name="icon-bg-433"/>
          <p:cNvSpPr/>
          <p:nvPr/>
        </p:nvSpPr>
        <p:spPr>
          <a:xfrm>
            <a:off x="548640" y="1920240"/>
            <a:ext cx="457200" cy="457200"/>
          </a:xfrm>
          <a:prstGeom prst="ellipse">
            <a:avLst/>
          </a:prstGeom>
          <a:solidFill>
            <a:schemeClr val="accent1"/>
          </a:solidFill>
          <a:ln w="12700">
            <a:solidFill>
              <a:schemeClr val="accent1"/>
            </a:solidFill>
            <a:prstDash val="solid"/>
          </a:ln>
        </p:spPr>
      </p:sp>
      <p:pic>
        <p:nvPicPr>
          <p:cNvPr id="5" name="icon-434" descr="preencoded.png">    </p:cNvPr>
          <p:cNvPicPr>
            <a:picLocks noChangeAspect="1"/>
          </p:cNvPicPr>
          <p:nvPr/>
        </p:nvPicPr>
        <p:blipFill>
          <a:blip r:embed="rId1"/>
          <a:stretch>
            <a:fillRect/>
          </a:stretch>
        </p:blipFill>
        <p:spPr>
          <a:xfrm>
            <a:off x="653796" y="2025396"/>
            <a:ext cx="246888" cy="246888"/>
          </a:xfrm>
          <a:prstGeom prst="rect">
            <a:avLst/>
          </a:prstGeom>
        </p:spPr>
      </p:pic>
      <p:sp>
        <p:nvSpPr>
          <p:cNvPr id="6" name="text-435"/>
          <p:cNvSpPr txBox="1"/>
          <p:nvPr/>
        </p:nvSpPr>
        <p:spPr>
          <a:xfrm>
            <a:off x="1188720" y="1874520"/>
            <a:ext cx="5760720" cy="548640"/>
          </a:xfrm>
          <a:prstGeom prst="rect">
            <a:avLst/>
          </a:prstGeom>
          <a:noFill/>
          <a:ln/>
        </p:spPr>
        <p:txBody>
          <a:bodyPr wrap="square" lIns="0" tIns="0" rIns="0" bIns="0" rtlCol="0" anchor="ctr"/>
          <a:lstStyle/>
          <a:p>
            <a:pPr indent="0" marL="0">
              <a:buNone/>
            </a:pPr>
            <a:r>
              <a:rPr lang="en-US" sz="1500" dirty="0">
                <a:solidFill>
                  <a:schemeClr val="tx1"/>
                </a:solidFill>
              </a:rPr>
              <a:t>Amazon RDS for PostgreSQL instead of an in-cluster StatefulSet</a:t>
            </a:r>
            <a:endParaRPr lang="en-US" sz="1500" dirty="0"/>
          </a:p>
        </p:txBody>
      </p:sp>
      <p:sp>
        <p:nvSpPr>
          <p:cNvPr id="7" name="icon-bg-436"/>
          <p:cNvSpPr/>
          <p:nvPr/>
        </p:nvSpPr>
        <p:spPr>
          <a:xfrm>
            <a:off x="548640" y="2615184"/>
            <a:ext cx="457200" cy="457200"/>
          </a:xfrm>
          <a:prstGeom prst="ellipse">
            <a:avLst/>
          </a:prstGeom>
          <a:solidFill>
            <a:schemeClr val="accent1"/>
          </a:solidFill>
          <a:ln w="12700">
            <a:solidFill>
              <a:schemeClr val="accent1"/>
            </a:solidFill>
            <a:prstDash val="solid"/>
          </a:ln>
        </p:spPr>
      </p:sp>
      <p:pic>
        <p:nvPicPr>
          <p:cNvPr id="8" name="icon-437" descr="preencoded.png">    </p:cNvPr>
          <p:cNvPicPr>
            <a:picLocks noChangeAspect="1"/>
          </p:cNvPicPr>
          <p:nvPr/>
        </p:nvPicPr>
        <p:blipFill>
          <a:blip r:embed="rId2"/>
          <a:stretch>
            <a:fillRect/>
          </a:stretch>
        </p:blipFill>
        <p:spPr>
          <a:xfrm>
            <a:off x="653796" y="2720340"/>
            <a:ext cx="246888" cy="246888"/>
          </a:xfrm>
          <a:prstGeom prst="rect">
            <a:avLst/>
          </a:prstGeom>
        </p:spPr>
      </p:pic>
      <p:sp>
        <p:nvSpPr>
          <p:cNvPr id="9" name="text-438"/>
          <p:cNvSpPr txBox="1"/>
          <p:nvPr/>
        </p:nvSpPr>
        <p:spPr>
          <a:xfrm>
            <a:off x="1188720" y="2569464"/>
            <a:ext cx="5760720" cy="548640"/>
          </a:xfrm>
          <a:prstGeom prst="rect">
            <a:avLst/>
          </a:prstGeom>
          <a:noFill/>
          <a:ln/>
        </p:spPr>
        <p:txBody>
          <a:bodyPr wrap="square" lIns="0" tIns="0" rIns="0" bIns="0" rtlCol="0" anchor="ctr"/>
          <a:lstStyle/>
          <a:p>
            <a:pPr indent="0" marL="0">
              <a:buNone/>
            </a:pPr>
            <a:r>
              <a:rPr lang="en-US" sz="1500" dirty="0">
                <a:solidFill>
                  <a:schemeClr val="tx1"/>
                </a:solidFill>
              </a:rPr>
              <a:t>GitHub OIDC role instead of static AWS keys in secrets</a:t>
            </a:r>
            <a:endParaRPr lang="en-US" sz="1500" dirty="0"/>
          </a:p>
        </p:txBody>
      </p:sp>
      <p:sp>
        <p:nvSpPr>
          <p:cNvPr id="10" name="icon-bg-439"/>
          <p:cNvSpPr/>
          <p:nvPr/>
        </p:nvSpPr>
        <p:spPr>
          <a:xfrm>
            <a:off x="548640" y="3310128"/>
            <a:ext cx="457200" cy="457200"/>
          </a:xfrm>
          <a:prstGeom prst="ellipse">
            <a:avLst/>
          </a:prstGeom>
          <a:solidFill>
            <a:schemeClr val="accent1"/>
          </a:solidFill>
          <a:ln w="12700">
            <a:solidFill>
              <a:schemeClr val="accent1"/>
            </a:solidFill>
            <a:prstDash val="solid"/>
          </a:ln>
        </p:spPr>
      </p:sp>
      <p:pic>
        <p:nvPicPr>
          <p:cNvPr id="11" name="icon-440" descr="preencoded.png">    </p:cNvPr>
          <p:cNvPicPr>
            <a:picLocks noChangeAspect="1"/>
          </p:cNvPicPr>
          <p:nvPr/>
        </p:nvPicPr>
        <p:blipFill>
          <a:blip r:embed="rId3"/>
          <a:stretch>
            <a:fillRect/>
          </a:stretch>
        </p:blipFill>
        <p:spPr>
          <a:xfrm>
            <a:off x="653796" y="3415284"/>
            <a:ext cx="246888" cy="246888"/>
          </a:xfrm>
          <a:prstGeom prst="rect">
            <a:avLst/>
          </a:prstGeom>
        </p:spPr>
      </p:pic>
      <p:sp>
        <p:nvSpPr>
          <p:cNvPr id="12" name="text-441"/>
          <p:cNvSpPr txBox="1"/>
          <p:nvPr/>
        </p:nvSpPr>
        <p:spPr>
          <a:xfrm>
            <a:off x="1188720" y="3264408"/>
            <a:ext cx="5760720" cy="548640"/>
          </a:xfrm>
          <a:prstGeom prst="rect">
            <a:avLst/>
          </a:prstGeom>
          <a:noFill/>
          <a:ln/>
        </p:spPr>
        <p:txBody>
          <a:bodyPr wrap="square" lIns="0" tIns="0" rIns="0" bIns="0" rtlCol="0" anchor="ctr"/>
          <a:lstStyle/>
          <a:p>
            <a:pPr indent="0" marL="0">
              <a:buNone/>
            </a:pPr>
            <a:r>
              <a:rPr lang="en-US" sz="1500" dirty="0">
                <a:solidFill>
                  <a:schemeClr val="tx1"/>
                </a:solidFill>
              </a:rPr>
              <a:t>Terraform state in S3 with locking, shared by the team</a:t>
            </a:r>
            <a:endParaRPr lang="en-US" sz="1500" dirty="0"/>
          </a:p>
        </p:txBody>
      </p:sp>
      <p:sp>
        <p:nvSpPr>
          <p:cNvPr id="13" name="icon-bg-442"/>
          <p:cNvSpPr/>
          <p:nvPr/>
        </p:nvSpPr>
        <p:spPr>
          <a:xfrm>
            <a:off x="548640" y="4005072"/>
            <a:ext cx="457200" cy="457200"/>
          </a:xfrm>
          <a:prstGeom prst="ellipse">
            <a:avLst/>
          </a:prstGeom>
          <a:solidFill>
            <a:schemeClr val="accent1"/>
          </a:solidFill>
          <a:ln w="12700">
            <a:solidFill>
              <a:schemeClr val="accent1"/>
            </a:solidFill>
            <a:prstDash val="solid"/>
          </a:ln>
        </p:spPr>
      </p:sp>
      <p:pic>
        <p:nvPicPr>
          <p:cNvPr id="14" name="icon-443" descr="preencoded.png">    </p:cNvPr>
          <p:cNvPicPr>
            <a:picLocks noChangeAspect="1"/>
          </p:cNvPicPr>
          <p:nvPr/>
        </p:nvPicPr>
        <p:blipFill>
          <a:blip r:embed="rId4"/>
          <a:stretch>
            <a:fillRect/>
          </a:stretch>
        </p:blipFill>
        <p:spPr>
          <a:xfrm>
            <a:off x="653796" y="4110228"/>
            <a:ext cx="246888" cy="246888"/>
          </a:xfrm>
          <a:prstGeom prst="rect">
            <a:avLst/>
          </a:prstGeom>
        </p:spPr>
      </p:pic>
      <p:sp>
        <p:nvSpPr>
          <p:cNvPr id="15" name="text-444"/>
          <p:cNvSpPr txBox="1"/>
          <p:nvPr/>
        </p:nvSpPr>
        <p:spPr>
          <a:xfrm>
            <a:off x="1188720" y="3959352"/>
            <a:ext cx="5760720" cy="548640"/>
          </a:xfrm>
          <a:prstGeom prst="rect">
            <a:avLst/>
          </a:prstGeom>
          <a:noFill/>
          <a:ln/>
        </p:spPr>
        <p:txBody>
          <a:bodyPr wrap="square" lIns="0" tIns="0" rIns="0" bIns="0" rtlCol="0" anchor="ctr"/>
          <a:lstStyle/>
          <a:p>
            <a:pPr indent="0" marL="0">
              <a:buNone/>
            </a:pPr>
            <a:r>
              <a:rPr lang="en-US" sz="1500" dirty="0">
                <a:solidFill>
                  <a:schemeClr val="tx1"/>
                </a:solidFill>
              </a:rPr>
              <a:t>App secrets in AWS Secrets Manager via External Secrets</a:t>
            </a:r>
            <a:endParaRPr lang="en-US" sz="1500" dirty="0"/>
          </a:p>
        </p:txBody>
      </p:sp>
      <p:sp>
        <p:nvSpPr>
          <p:cNvPr id="16" name="icon-bg-445"/>
          <p:cNvSpPr/>
          <p:nvPr/>
        </p:nvSpPr>
        <p:spPr>
          <a:xfrm>
            <a:off x="548640" y="4700016"/>
            <a:ext cx="457200" cy="457200"/>
          </a:xfrm>
          <a:prstGeom prst="ellipse">
            <a:avLst/>
          </a:prstGeom>
          <a:solidFill>
            <a:schemeClr val="accent1"/>
          </a:solidFill>
          <a:ln w="12700">
            <a:solidFill>
              <a:schemeClr val="accent1"/>
            </a:solidFill>
            <a:prstDash val="solid"/>
          </a:ln>
        </p:spPr>
      </p:sp>
      <p:pic>
        <p:nvPicPr>
          <p:cNvPr id="17" name="icon-446" descr="preencoded.png">    </p:cNvPr>
          <p:cNvPicPr>
            <a:picLocks noChangeAspect="1"/>
          </p:cNvPicPr>
          <p:nvPr/>
        </p:nvPicPr>
        <p:blipFill>
          <a:blip r:embed="rId5"/>
          <a:stretch>
            <a:fillRect/>
          </a:stretch>
        </p:blipFill>
        <p:spPr>
          <a:xfrm>
            <a:off x="653796" y="4805172"/>
            <a:ext cx="246888" cy="246888"/>
          </a:xfrm>
          <a:prstGeom prst="rect">
            <a:avLst/>
          </a:prstGeom>
        </p:spPr>
      </p:pic>
      <p:sp>
        <p:nvSpPr>
          <p:cNvPr id="18" name="text-447"/>
          <p:cNvSpPr txBox="1"/>
          <p:nvPr/>
        </p:nvSpPr>
        <p:spPr>
          <a:xfrm>
            <a:off x="1188720" y="4654296"/>
            <a:ext cx="5760720" cy="548640"/>
          </a:xfrm>
          <a:prstGeom prst="rect">
            <a:avLst/>
          </a:prstGeom>
          <a:noFill/>
          <a:ln/>
        </p:spPr>
        <p:txBody>
          <a:bodyPr wrap="square" lIns="0" tIns="0" rIns="0" bIns="0" rtlCol="0" anchor="ctr"/>
          <a:lstStyle/>
          <a:p>
            <a:pPr indent="0" marL="0">
              <a:buNone/>
            </a:pPr>
            <a:r>
              <a:rPr lang="en-US" sz="1500" dirty="0">
                <a:solidFill>
                  <a:schemeClr val="tx1"/>
                </a:solidFill>
              </a:rPr>
              <a:t>TLS on a real domain with cert-manager</a:t>
            </a:r>
            <a:endParaRPr lang="en-US" sz="1500" dirty="0"/>
          </a:p>
        </p:txBody>
      </p:sp>
      <p:sp>
        <p:nvSpPr>
          <p:cNvPr id="19" name="icon-bg-448"/>
          <p:cNvSpPr/>
          <p:nvPr/>
        </p:nvSpPr>
        <p:spPr>
          <a:xfrm>
            <a:off x="548640" y="5394960"/>
            <a:ext cx="457200" cy="457200"/>
          </a:xfrm>
          <a:prstGeom prst="ellipse">
            <a:avLst/>
          </a:prstGeom>
          <a:solidFill>
            <a:schemeClr val="accent1"/>
          </a:solidFill>
          <a:ln w="12700">
            <a:solidFill>
              <a:schemeClr val="accent1"/>
            </a:solidFill>
            <a:prstDash val="solid"/>
          </a:ln>
        </p:spPr>
      </p:sp>
      <p:pic>
        <p:nvPicPr>
          <p:cNvPr id="20" name="icon-449" descr="preencoded.png">    </p:cNvPr>
          <p:cNvPicPr>
            <a:picLocks noChangeAspect="1"/>
          </p:cNvPicPr>
          <p:nvPr/>
        </p:nvPicPr>
        <p:blipFill>
          <a:blip r:embed="rId6"/>
          <a:stretch>
            <a:fillRect/>
          </a:stretch>
        </p:blipFill>
        <p:spPr>
          <a:xfrm>
            <a:off x="653796" y="5500116"/>
            <a:ext cx="246888" cy="246888"/>
          </a:xfrm>
          <a:prstGeom prst="rect">
            <a:avLst/>
          </a:prstGeom>
        </p:spPr>
      </p:pic>
      <p:sp>
        <p:nvSpPr>
          <p:cNvPr id="21" name="text-450"/>
          <p:cNvSpPr txBox="1"/>
          <p:nvPr/>
        </p:nvSpPr>
        <p:spPr>
          <a:xfrm>
            <a:off x="1188720" y="5349240"/>
            <a:ext cx="5760720" cy="548640"/>
          </a:xfrm>
          <a:prstGeom prst="rect">
            <a:avLst/>
          </a:prstGeom>
          <a:noFill/>
          <a:ln/>
        </p:spPr>
        <p:txBody>
          <a:bodyPr wrap="square" lIns="0" tIns="0" rIns="0" bIns="0" rtlCol="0" anchor="ctr"/>
          <a:lstStyle/>
          <a:p>
            <a:pPr indent="0" marL="0">
              <a:buNone/>
            </a:pPr>
            <a:r>
              <a:rPr lang="en-US" sz="1500" dirty="0">
                <a:solidFill>
                  <a:schemeClr val="tx1"/>
                </a:solidFill>
              </a:rPr>
              <a:t>One NAT gateway per AZ, and the Trivy gate on HIGH too</a:t>
            </a:r>
            <a:endParaRPr lang="en-US" sz="1500" dirty="0"/>
          </a:p>
        </p:txBody>
      </p:sp>
      <p:sp>
        <p:nvSpPr>
          <p:cNvPr id="22" name="card-451"/>
          <p:cNvSpPr/>
          <p:nvPr/>
        </p:nvSpPr>
        <p:spPr>
          <a:xfrm>
            <a:off x="7406640" y="1371600"/>
            <a:ext cx="4233672" cy="4754880"/>
          </a:xfrm>
          <a:prstGeom prst="roundRect">
            <a:avLst>
              <a:gd name="adj" fmla="val 2160"/>
            </a:avLst>
          </a:prstGeom>
          <a:solidFill>
            <a:schemeClr val="bg2"/>
          </a:solidFill>
          <a:ln w="9525">
            <a:solidFill>
              <a:schemeClr val="bg2"/>
            </a:solidFill>
            <a:prstDash val="solid"/>
          </a:ln>
        </p:spPr>
      </p:sp>
      <p:sp>
        <p:nvSpPr>
          <p:cNvPr id="23" name="icon-bg-452"/>
          <p:cNvSpPr/>
          <p:nvPr/>
        </p:nvSpPr>
        <p:spPr>
          <a:xfrm>
            <a:off x="7635240" y="1572768"/>
            <a:ext cx="502920" cy="502920"/>
          </a:xfrm>
          <a:prstGeom prst="ellipse">
            <a:avLst/>
          </a:prstGeom>
          <a:solidFill>
            <a:schemeClr val="accent3"/>
          </a:solidFill>
          <a:ln w="12700">
            <a:solidFill>
              <a:schemeClr val="accent3"/>
            </a:solidFill>
            <a:prstDash val="solid"/>
          </a:ln>
        </p:spPr>
      </p:sp>
      <p:pic>
        <p:nvPicPr>
          <p:cNvPr id="24" name="icon-453" descr="preencoded.png">    </p:cNvPr>
          <p:cNvPicPr>
            <a:picLocks noChangeAspect="1"/>
          </p:cNvPicPr>
          <p:nvPr/>
        </p:nvPicPr>
        <p:blipFill>
          <a:blip r:embed="rId7"/>
          <a:stretch>
            <a:fillRect/>
          </a:stretch>
        </p:blipFill>
        <p:spPr>
          <a:xfrm>
            <a:off x="7750912" y="1688440"/>
            <a:ext cx="271577" cy="271577"/>
          </a:xfrm>
          <a:prstGeom prst="rect">
            <a:avLst/>
          </a:prstGeom>
        </p:spPr>
      </p:pic>
      <p:sp>
        <p:nvSpPr>
          <p:cNvPr id="25" name="text-454"/>
          <p:cNvSpPr txBox="1"/>
          <p:nvPr/>
        </p:nvSpPr>
        <p:spPr>
          <a:xfrm>
            <a:off x="8275320" y="1572768"/>
            <a:ext cx="3200400" cy="502920"/>
          </a:xfrm>
          <a:prstGeom prst="rect">
            <a:avLst/>
          </a:prstGeom>
          <a:noFill/>
          <a:ln/>
        </p:spPr>
        <p:txBody>
          <a:bodyPr wrap="square" lIns="0" tIns="0" rIns="0" bIns="0" rtlCol="0" anchor="ctr"/>
          <a:lstStyle/>
          <a:p>
            <a:pPr indent="0" marL="0">
              <a:buNone/>
            </a:pPr>
            <a:r>
              <a:rPr lang="en-US" sz="1700" b="1" dirty="0">
                <a:solidFill>
                  <a:schemeClr val="tx1"/>
                </a:solidFill>
              </a:rPr>
              <a:t>Cost and teardown</a:t>
            </a:r>
            <a:endParaRPr lang="en-US" sz="1700" dirty="0"/>
          </a:p>
        </p:txBody>
      </p:sp>
      <p:sp>
        <p:nvSpPr>
          <p:cNvPr id="26" name="text-455"/>
          <p:cNvSpPr txBox="1"/>
          <p:nvPr/>
        </p:nvSpPr>
        <p:spPr>
          <a:xfrm>
            <a:off x="7635240" y="2240280"/>
            <a:ext cx="3840480" cy="594360"/>
          </a:xfrm>
          <a:prstGeom prst="rect">
            <a:avLst/>
          </a:prstGeom>
          <a:noFill/>
          <a:ln/>
        </p:spPr>
        <p:txBody>
          <a:bodyPr wrap="square" lIns="0" tIns="0" rIns="0" bIns="0" rtlCol="0" anchor="ctr"/>
          <a:lstStyle/>
          <a:p>
            <a:pPr indent="0" marL="0">
              <a:buNone/>
            </a:pPr>
            <a:r>
              <a:rPr lang="en-US" sz="3200" b="1" dirty="0">
                <a:solidFill>
                  <a:schemeClr val="accent3"/>
                </a:solidFill>
                <a:latin typeface="Arial" pitchFamily="34" charset="0"/>
                <a:ea typeface="Arial" pitchFamily="34" charset="-122"/>
                <a:cs typeface="Arial" pitchFamily="34" charset="-120"/>
              </a:rPr>
              <a:t>~$0.30/hr</a:t>
            </a:r>
            <a:endParaRPr lang="en-US" sz="3200" dirty="0"/>
          </a:p>
        </p:txBody>
      </p:sp>
      <p:sp>
        <p:nvSpPr>
          <p:cNvPr id="27" name="text-456"/>
          <p:cNvSpPr txBox="1"/>
          <p:nvPr/>
        </p:nvSpPr>
        <p:spPr>
          <a:xfrm>
            <a:off x="7635240" y="2834640"/>
            <a:ext cx="3840480" cy="502920"/>
          </a:xfrm>
          <a:prstGeom prst="rect">
            <a:avLst/>
          </a:prstGeom>
          <a:noFill/>
          <a:ln/>
        </p:spPr>
        <p:txBody>
          <a:bodyPr wrap="square" lIns="0" tIns="0" rIns="0" bIns="0" rtlCol="0" anchor="t"/>
          <a:lstStyle/>
          <a:p>
            <a:pPr indent="0" marL="0">
              <a:buNone/>
            </a:pPr>
            <a:r>
              <a:rPr lang="en-US" sz="1300" dirty="0">
                <a:solidFill>
                  <a:schemeClr val="tx2"/>
                </a:solidFill>
              </a:rPr>
              <a:t>EKS, NAT gateway, 3 nodes and the NLB while running</a:t>
            </a:r>
            <a:endParaRPr lang="en-US" sz="1300" dirty="0"/>
          </a:p>
        </p:txBody>
      </p:sp>
      <p:sp>
        <p:nvSpPr>
          <p:cNvPr id="28" name="text-457"/>
          <p:cNvSpPr txBox="1"/>
          <p:nvPr/>
        </p:nvSpPr>
        <p:spPr>
          <a:xfrm>
            <a:off x="7635240" y="3474720"/>
            <a:ext cx="3840480" cy="320040"/>
          </a:xfrm>
          <a:prstGeom prst="rect">
            <a:avLst/>
          </a:prstGeom>
          <a:noFill/>
          <a:ln/>
        </p:spPr>
        <p:txBody>
          <a:bodyPr wrap="square" lIns="0" tIns="0" rIns="0" bIns="0" rtlCol="0" anchor="t"/>
          <a:lstStyle/>
          <a:p>
            <a:pPr indent="0" marL="0">
              <a:buNone/>
            </a:pPr>
            <a:r>
              <a:rPr lang="en-US" sz="1500" b="1" dirty="0">
                <a:solidFill>
                  <a:schemeClr val="tx1"/>
                </a:solidFill>
              </a:rPr>
              <a:t>Teardown order matters</a:t>
            </a:r>
            <a:endParaRPr lang="en-US" sz="1500" dirty="0"/>
          </a:p>
        </p:txBody>
      </p:sp>
      <p:sp>
        <p:nvSpPr>
          <p:cNvPr id="29" name="num-458"/>
          <p:cNvSpPr/>
          <p:nvPr/>
        </p:nvSpPr>
        <p:spPr>
          <a:xfrm>
            <a:off x="7635240" y="3886200"/>
            <a:ext cx="384048" cy="384048"/>
          </a:xfrm>
          <a:prstGeom prst="ellipse">
            <a:avLst/>
          </a:prstGeom>
          <a:solidFill>
            <a:schemeClr val="accent1"/>
          </a:solidFill>
          <a:ln w="12700">
            <a:solidFill>
              <a:schemeClr val="accent1"/>
            </a:solidFill>
            <a:prstDash val="solid"/>
          </a:ln>
        </p:spPr>
      </p:sp>
      <p:sp>
        <p:nvSpPr>
          <p:cNvPr id="30" name="text-459"/>
          <p:cNvSpPr txBox="1"/>
          <p:nvPr/>
        </p:nvSpPr>
        <p:spPr>
          <a:xfrm>
            <a:off x="7635240" y="38862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1" name="text-460"/>
          <p:cNvSpPr txBox="1"/>
          <p:nvPr/>
        </p:nvSpPr>
        <p:spPr>
          <a:xfrm>
            <a:off x="8138160" y="3831336"/>
            <a:ext cx="3383280" cy="548640"/>
          </a:xfrm>
          <a:prstGeom prst="rect">
            <a:avLst/>
          </a:prstGeom>
          <a:noFill/>
          <a:ln/>
        </p:spPr>
        <p:txBody>
          <a:bodyPr wrap="square" lIns="0" tIns="0" rIns="0" bIns="0" rtlCol="0" anchor="ctr"/>
          <a:lstStyle/>
          <a:p>
            <a:pPr indent="0" marL="0">
              <a:buNone/>
            </a:pPr>
            <a:r>
              <a:rPr lang="en-US" sz="1300" dirty="0">
                <a:solidFill>
                  <a:schemeClr val="tx1"/>
                </a:solidFill>
              </a:rPr>
              <a:t>helm uninstall the app, delete the PVC (EBS volume)</a:t>
            </a:r>
            <a:endParaRPr lang="en-US" sz="1300" dirty="0"/>
          </a:p>
        </p:txBody>
      </p:sp>
      <p:sp>
        <p:nvSpPr>
          <p:cNvPr id="32" name="num-461"/>
          <p:cNvSpPr/>
          <p:nvPr/>
        </p:nvSpPr>
        <p:spPr>
          <a:xfrm>
            <a:off x="7635240" y="4572000"/>
            <a:ext cx="384048" cy="384048"/>
          </a:xfrm>
          <a:prstGeom prst="ellipse">
            <a:avLst/>
          </a:prstGeom>
          <a:solidFill>
            <a:schemeClr val="accent1"/>
          </a:solidFill>
          <a:ln w="12700">
            <a:solidFill>
              <a:schemeClr val="accent1"/>
            </a:solidFill>
            <a:prstDash val="solid"/>
          </a:ln>
        </p:spPr>
      </p:sp>
      <p:sp>
        <p:nvSpPr>
          <p:cNvPr id="33" name="text-462"/>
          <p:cNvSpPr txBox="1"/>
          <p:nvPr/>
        </p:nvSpPr>
        <p:spPr>
          <a:xfrm>
            <a:off x="7635240" y="45720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4" name="text-463"/>
          <p:cNvSpPr txBox="1"/>
          <p:nvPr/>
        </p:nvSpPr>
        <p:spPr>
          <a:xfrm>
            <a:off x="8138160" y="4517136"/>
            <a:ext cx="3383280" cy="548640"/>
          </a:xfrm>
          <a:prstGeom prst="rect">
            <a:avLst/>
          </a:prstGeom>
          <a:noFill/>
          <a:ln/>
        </p:spPr>
        <p:txBody>
          <a:bodyPr wrap="square" lIns="0" tIns="0" rIns="0" bIns="0" rtlCol="0" anchor="ctr"/>
          <a:lstStyle/>
          <a:p>
            <a:pPr indent="0" marL="0">
              <a:buNone/>
            </a:pPr>
            <a:r>
              <a:rPr lang="en-US" sz="1300" dirty="0">
                <a:solidFill>
                  <a:schemeClr val="tx1"/>
                </a:solidFill>
              </a:rPr>
              <a:t>uninstall ingress-nginx (deletes the NLB)</a:t>
            </a:r>
            <a:endParaRPr lang="en-US" sz="1300" dirty="0"/>
          </a:p>
        </p:txBody>
      </p:sp>
      <p:sp>
        <p:nvSpPr>
          <p:cNvPr id="35" name="num-464"/>
          <p:cNvSpPr/>
          <p:nvPr/>
        </p:nvSpPr>
        <p:spPr>
          <a:xfrm>
            <a:off x="7635240" y="5257800"/>
            <a:ext cx="384048" cy="384048"/>
          </a:xfrm>
          <a:prstGeom prst="ellipse">
            <a:avLst/>
          </a:prstGeom>
          <a:solidFill>
            <a:schemeClr val="accent1"/>
          </a:solidFill>
          <a:ln w="12700">
            <a:solidFill>
              <a:schemeClr val="accent1"/>
            </a:solidFill>
            <a:prstDash val="solid"/>
          </a:ln>
        </p:spPr>
      </p:sp>
      <p:sp>
        <p:nvSpPr>
          <p:cNvPr id="36" name="text-465"/>
          <p:cNvSpPr txBox="1"/>
          <p:nvPr/>
        </p:nvSpPr>
        <p:spPr>
          <a:xfrm>
            <a:off x="7635240" y="52578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7" name="text-466"/>
          <p:cNvSpPr txBox="1"/>
          <p:nvPr/>
        </p:nvSpPr>
        <p:spPr>
          <a:xfrm>
            <a:off x="8138160" y="5202936"/>
            <a:ext cx="3383280" cy="548640"/>
          </a:xfrm>
          <a:prstGeom prst="rect">
            <a:avLst/>
          </a:prstGeom>
          <a:noFill/>
          <a:ln/>
        </p:spPr>
        <p:txBody>
          <a:bodyPr wrap="square" lIns="0" tIns="0" rIns="0" bIns="0" rtlCol="0" anchor="ctr"/>
          <a:lstStyle/>
          <a:p>
            <a:pPr indent="0" marL="0">
              <a:buNone/>
            </a:pPr>
            <a:r>
              <a:rPr lang="en-US" sz="1300" dirty="0">
                <a:solidFill>
                  <a:schemeClr val="tx1"/>
                </a:solidFill>
              </a:rPr>
              <a:t>terraform destroy: 64 resources, verified empty</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731520" y="3200400"/>
            <a:ext cx="10698480" cy="640080"/>
          </a:xfrm>
          <a:prstGeom prst="rect">
            <a:avLst/>
          </a:prstGeom>
          <a:noFill/>
          <a:ln/>
        </p:spPr>
        <p:txBody>
          <a:bodyPr wrap="square" lIns="0" tIns="0" rIns="0" bIns="0" rtlCol="0" anchor="t"/>
          <a:lstStyle/>
          <a:p>
            <a:pPr indent="0" marL="0">
              <a:buNone/>
            </a:pPr>
            <a:r>
              <a:rPr lang="en-US" sz="2000" dirty="0">
                <a:solidFill>
                  <a:schemeClr val="bg2"/>
                </a:solidFill>
              </a:rPr>
              <a:t>Questions?</a:t>
            </a:r>
            <a:endParaRPr lang="en-US" sz="2000" dirty="0"/>
          </a:p>
        </p:txBody>
      </p:sp>
      <p:sp>
        <p:nvSpPr>
          <p:cNvPr id="4" name="Text 0"/>
          <p:cNvSpPr/>
          <p:nvPr>
            <p:ph idx="102" type="body" hasCustomPrompt="1"/>
          </p:nvPr>
        </p:nvSpPr>
        <p:spPr>
          <a:xfrm>
            <a:off x="731520" y="3886200"/>
            <a:ext cx="10698480" cy="457200"/>
          </a:xfrm>
          <a:prstGeom prst="rect">
            <a:avLst/>
          </a:prstGeom>
          <a:noFill/>
          <a:ln/>
        </p:spPr>
        <p:txBody>
          <a:bodyPr wrap="square" lIns="0" tIns="0" rIns="0" bIns="0" rtlCol="0" anchor="t"/>
          <a:lstStyle/>
          <a:p>
            <a:pPr indent="0" marL="0">
              <a:buNone/>
            </a:pPr>
            <a:r>
              <a:rPr lang="en-US" sz="1400" dirty="0">
                <a:solidFill>
                  <a:schemeClr val="bg2"/>
                </a:solidFill>
              </a:rPr>
              <a:t>github.com/PushkarDesai-06/taskboard-devops-capstone</a:t>
            </a:r>
            <a:endParaRPr lang="en-US" sz="1400" dirty="0"/>
          </a:p>
        </p:txBody>
      </p:sp>
      <p:sp>
        <p:nvSpPr>
          <p:cNvPr id="5" name="icon-bg-467"/>
          <p:cNvSpPr/>
          <p:nvPr/>
        </p:nvSpPr>
        <p:spPr>
          <a:xfrm>
            <a:off x="731520" y="4892040"/>
            <a:ext cx="566928" cy="566928"/>
          </a:xfrm>
          <a:prstGeom prst="ellipse">
            <a:avLst/>
          </a:prstGeom>
          <a:solidFill>
            <a:schemeClr val="accent1"/>
          </a:solidFill>
          <a:ln w="12700">
            <a:solidFill>
              <a:schemeClr val="accent1"/>
            </a:solidFill>
            <a:prstDash val="solid"/>
          </a:ln>
        </p:spPr>
      </p:sp>
      <p:pic>
        <p:nvPicPr>
          <p:cNvPr id="6" name="icon-468" descr="preencoded.png">    </p:cNvPr>
          <p:cNvPicPr>
            <a:picLocks noChangeAspect="1"/>
          </p:cNvPicPr>
          <p:nvPr/>
        </p:nvPicPr>
        <p:blipFill>
          <a:blip r:embed="rId1"/>
          <a:stretch>
            <a:fillRect/>
          </a:stretch>
        </p:blipFill>
        <p:spPr>
          <a:xfrm>
            <a:off x="861913" y="5022433"/>
            <a:ext cx="306141" cy="306141"/>
          </a:xfrm>
          <a:prstGeom prst="rect">
            <a:avLst/>
          </a:prstGeom>
        </p:spPr>
      </p:pic>
      <p:sp>
        <p:nvSpPr>
          <p:cNvPr id="7" name="text-469"/>
          <p:cNvSpPr txBox="1"/>
          <p:nvPr/>
        </p:nvSpPr>
        <p:spPr>
          <a:xfrm>
            <a:off x="1463040" y="4846320"/>
            <a:ext cx="2782824" cy="347472"/>
          </a:xfrm>
          <a:prstGeom prst="rect">
            <a:avLst/>
          </a:prstGeom>
          <a:noFill/>
          <a:ln/>
        </p:spPr>
        <p:txBody>
          <a:bodyPr wrap="square" lIns="0" tIns="0" rIns="0" bIns="0" rtlCol="0" anchor="t"/>
          <a:lstStyle/>
          <a:p>
            <a:pPr indent="0" marL="0">
              <a:buNone/>
            </a:pPr>
            <a:r>
              <a:rPr lang="en-US" sz="1800" b="1" dirty="0">
                <a:solidFill>
                  <a:schemeClr val="bg1"/>
                </a:solidFill>
              </a:rPr>
              <a:t>Automated</a:t>
            </a:r>
            <a:endParaRPr lang="en-US" sz="1800" dirty="0"/>
          </a:p>
        </p:txBody>
      </p:sp>
      <p:sp>
        <p:nvSpPr>
          <p:cNvPr id="8" name="text-470"/>
          <p:cNvSpPr txBox="1"/>
          <p:nvPr/>
        </p:nvSpPr>
        <p:spPr>
          <a:xfrm>
            <a:off x="1463040" y="5193792"/>
            <a:ext cx="2782824" cy="320040"/>
          </a:xfrm>
          <a:prstGeom prst="rect">
            <a:avLst/>
          </a:prstGeom>
          <a:noFill/>
          <a:ln/>
        </p:spPr>
        <p:txBody>
          <a:bodyPr wrap="square" lIns="0" tIns="0" rIns="0" bIns="0" rtlCol="0" anchor="t"/>
          <a:lstStyle/>
          <a:p>
            <a:pPr indent="0" marL="0">
              <a:buNone/>
            </a:pPr>
            <a:r>
              <a:rPr lang="en-US" sz="1400" dirty="0">
                <a:solidFill>
                  <a:schemeClr val="bg2"/>
                </a:solidFill>
              </a:rPr>
              <a:t>commit to running pod</a:t>
            </a:r>
            <a:endParaRPr lang="en-US" sz="1400" dirty="0"/>
          </a:p>
        </p:txBody>
      </p:sp>
      <p:sp>
        <p:nvSpPr>
          <p:cNvPr id="9" name="icon-bg-471"/>
          <p:cNvSpPr/>
          <p:nvPr/>
        </p:nvSpPr>
        <p:spPr>
          <a:xfrm>
            <a:off x="4428744" y="4892040"/>
            <a:ext cx="566928" cy="566928"/>
          </a:xfrm>
          <a:prstGeom prst="ellipse">
            <a:avLst/>
          </a:prstGeom>
          <a:solidFill>
            <a:schemeClr val="accent1"/>
          </a:solidFill>
          <a:ln w="12700">
            <a:solidFill>
              <a:schemeClr val="accent1"/>
            </a:solidFill>
            <a:prstDash val="solid"/>
          </a:ln>
        </p:spPr>
      </p:sp>
      <p:pic>
        <p:nvPicPr>
          <p:cNvPr id="10" name="icon-472" descr="preencoded.png">    </p:cNvPr>
          <p:cNvPicPr>
            <a:picLocks noChangeAspect="1"/>
          </p:cNvPicPr>
          <p:nvPr/>
        </p:nvPicPr>
        <p:blipFill>
          <a:blip r:embed="rId2"/>
          <a:stretch>
            <a:fillRect/>
          </a:stretch>
        </p:blipFill>
        <p:spPr>
          <a:xfrm>
            <a:off x="4559137" y="5022433"/>
            <a:ext cx="306141" cy="306141"/>
          </a:xfrm>
          <a:prstGeom prst="rect">
            <a:avLst/>
          </a:prstGeom>
        </p:spPr>
      </p:pic>
      <p:sp>
        <p:nvSpPr>
          <p:cNvPr id="11" name="text-473"/>
          <p:cNvSpPr txBox="1"/>
          <p:nvPr/>
        </p:nvSpPr>
        <p:spPr>
          <a:xfrm>
            <a:off x="5160264" y="4846320"/>
            <a:ext cx="2782824" cy="347472"/>
          </a:xfrm>
          <a:prstGeom prst="rect">
            <a:avLst/>
          </a:prstGeom>
          <a:noFill/>
          <a:ln/>
        </p:spPr>
        <p:txBody>
          <a:bodyPr wrap="square" lIns="0" tIns="0" rIns="0" bIns="0" rtlCol="0" anchor="t"/>
          <a:lstStyle/>
          <a:p>
            <a:pPr indent="0" marL="0">
              <a:buNone/>
            </a:pPr>
            <a:r>
              <a:rPr lang="en-US" sz="1800" b="1" dirty="0">
                <a:solidFill>
                  <a:schemeClr val="bg1"/>
                </a:solidFill>
              </a:rPr>
              <a:t>Proven</a:t>
            </a:r>
            <a:endParaRPr lang="en-US" sz="1800" dirty="0"/>
          </a:p>
        </p:txBody>
      </p:sp>
      <p:sp>
        <p:nvSpPr>
          <p:cNvPr id="12" name="text-474"/>
          <p:cNvSpPr txBox="1"/>
          <p:nvPr/>
        </p:nvSpPr>
        <p:spPr>
          <a:xfrm>
            <a:off x="5160264" y="5193792"/>
            <a:ext cx="2782824" cy="320040"/>
          </a:xfrm>
          <a:prstGeom prst="rect">
            <a:avLst/>
          </a:prstGeom>
          <a:noFill/>
          <a:ln/>
        </p:spPr>
        <p:txBody>
          <a:bodyPr wrap="square" lIns="0" tIns="0" rIns="0" bIns="0" rtlCol="0" anchor="t"/>
          <a:lstStyle/>
          <a:p>
            <a:pPr indent="0" marL="0">
              <a:buNone/>
            </a:pPr>
            <a:r>
              <a:rPr lang="en-US" sz="1400" dirty="0">
                <a:solidFill>
                  <a:schemeClr val="bg2"/>
                </a:solidFill>
              </a:rPr>
              <a:t>evidence for all 15 demo items</a:t>
            </a:r>
            <a:endParaRPr lang="en-US" sz="1400" dirty="0"/>
          </a:p>
        </p:txBody>
      </p:sp>
      <p:sp>
        <p:nvSpPr>
          <p:cNvPr id="13" name="icon-bg-475"/>
          <p:cNvSpPr/>
          <p:nvPr/>
        </p:nvSpPr>
        <p:spPr>
          <a:xfrm>
            <a:off x="8125968" y="4892040"/>
            <a:ext cx="566928" cy="566928"/>
          </a:xfrm>
          <a:prstGeom prst="ellipse">
            <a:avLst/>
          </a:prstGeom>
          <a:solidFill>
            <a:schemeClr val="accent1"/>
          </a:solidFill>
          <a:ln w="12700">
            <a:solidFill>
              <a:schemeClr val="accent1"/>
            </a:solidFill>
            <a:prstDash val="solid"/>
          </a:ln>
        </p:spPr>
      </p:sp>
      <p:pic>
        <p:nvPicPr>
          <p:cNvPr id="14" name="icon-476" descr="preencoded.png">    </p:cNvPr>
          <p:cNvPicPr>
            <a:picLocks noChangeAspect="1"/>
          </p:cNvPicPr>
          <p:nvPr/>
        </p:nvPicPr>
        <p:blipFill>
          <a:blip r:embed="rId3"/>
          <a:stretch>
            <a:fillRect/>
          </a:stretch>
        </p:blipFill>
        <p:spPr>
          <a:xfrm>
            <a:off x="8256361" y="5022433"/>
            <a:ext cx="306141" cy="306141"/>
          </a:xfrm>
          <a:prstGeom prst="rect">
            <a:avLst/>
          </a:prstGeom>
        </p:spPr>
      </p:pic>
      <p:sp>
        <p:nvSpPr>
          <p:cNvPr id="15" name="text-477"/>
          <p:cNvSpPr txBox="1"/>
          <p:nvPr/>
        </p:nvSpPr>
        <p:spPr>
          <a:xfrm>
            <a:off x="8857488" y="4846320"/>
            <a:ext cx="2782824" cy="347472"/>
          </a:xfrm>
          <a:prstGeom prst="rect">
            <a:avLst/>
          </a:prstGeom>
          <a:noFill/>
          <a:ln/>
        </p:spPr>
        <p:txBody>
          <a:bodyPr wrap="square" lIns="0" tIns="0" rIns="0" bIns="0" rtlCol="0" anchor="t"/>
          <a:lstStyle/>
          <a:p>
            <a:pPr indent="0" marL="0">
              <a:buNone/>
            </a:pPr>
            <a:r>
              <a:rPr lang="en-US" sz="1800" b="1" dirty="0">
                <a:solidFill>
                  <a:schemeClr val="bg1"/>
                </a:solidFill>
              </a:rPr>
              <a:t>Operable</a:t>
            </a:r>
            <a:endParaRPr lang="en-US" sz="1800" dirty="0"/>
          </a:p>
        </p:txBody>
      </p:sp>
      <p:sp>
        <p:nvSpPr>
          <p:cNvPr id="16" name="text-478"/>
          <p:cNvSpPr txBox="1"/>
          <p:nvPr/>
        </p:nvSpPr>
        <p:spPr>
          <a:xfrm>
            <a:off x="8857488" y="5193792"/>
            <a:ext cx="2782824" cy="320040"/>
          </a:xfrm>
          <a:prstGeom prst="rect">
            <a:avLst/>
          </a:prstGeom>
          <a:noFill/>
          <a:ln/>
        </p:spPr>
        <p:txBody>
          <a:bodyPr wrap="square" lIns="0" tIns="0" rIns="0" bIns="0" rtlCol="0" anchor="t"/>
          <a:lstStyle/>
          <a:p>
            <a:pPr indent="0" marL="0">
              <a:buNone/>
            </a:pPr>
            <a:r>
              <a:rPr lang="en-US" sz="1400" dirty="0">
                <a:solidFill>
                  <a:schemeClr val="bg2"/>
                </a:solidFill>
              </a:rPr>
              <a:t>probes, metrics, autoscaling</a:t>
            </a:r>
            <a:endParaRPr lang="en-US" sz="1400" dirty="0"/>
          </a:p>
        </p:txBody>
      </p:sp>
    </p:spTree>
  </p:cSld>
  <p:clrMapOvr>
    <a:masterClrMapping/>
  </p:clrMapOvr>
</p:sld>
</file>

<file path=ppt/theme/theme1.xml><?xml version="1.0" encoding="utf-8"?>
<a:theme xmlns:a="http://schemas.openxmlformats.org/drawingml/2006/main" name="TaskBoard Capstone">
  <a:themeElements>
    <a:clrScheme name="TaskBoard Capstone">
      <a:dk1>
        <a:srgbClr val="0F172A"/>
      </a:dk1>
      <a:lt1>
        <a:srgbClr val="FFFFFF"/>
      </a:lt1>
      <a:dk2>
        <a:srgbClr val="334155"/>
      </a:dk2>
      <a:lt2>
        <a:srgbClr val="EEF2FF"/>
      </a:lt2>
      <a:accent1>
        <a:srgbClr val="6366F1"/>
      </a:accent1>
      <a:accent2>
        <a:srgbClr val="10B981"/>
      </a:accent2>
      <a:accent3>
        <a:srgbClr val="F59E0B"/>
      </a:accent3>
      <a:accent4>
        <a:srgbClr val="F43F5E"/>
      </a:accent4>
      <a:accent5>
        <a:srgbClr val="0EA5E9"/>
      </a:accent5>
      <a:accent6>
        <a:srgbClr val="64748B"/>
      </a:accent6>
      <a:hlink>
        <a:srgbClr val="6366F1"/>
      </a:hlink>
      <a:folHlink>
        <a:srgbClr val="4F46E5"/>
      </a:folHlink>
    </a:clrScheme>
    <a:fontScheme name="TaskBoard Capsto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TaskBoard DevOps Capstone</dc:title>
  <dc:subject>Architecture and delivery workflow of the TaskBoard capstone</dc:subject>
  <dc:creator>Pushkar Desai</dc:creator>
  <cp:lastModifiedBy>Pushkar Desai</cp:lastModifiedBy>
  <cp:revision>1</cp:revision>
  <dcterms:created xsi:type="dcterms:W3CDTF">2026-10-19T10:40:31Z</dcterms:created>
  <dcterms:modified xsi:type="dcterms:W3CDTF">2026-10-19T10:40:31Z</dcterms:modified>
</cp:coreProperties>
</file>